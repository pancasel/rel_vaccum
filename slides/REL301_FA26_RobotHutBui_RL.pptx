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1.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1. Ứng dụng và động lực" id="{2e617284-4dbe-80b9-d680-32e84846e764}">
          <p14:sldIdLst>
            <p14:sldId id="256"/>
            <p14:sldId id="257"/>
            <p14:sldId id="258"/>
          </p14:sldIdLst>
        </p14:section>
        <p14:section name="2. Định hình bài toán RL" id="{38a616ce-703e-3c6d-fe34-c9a2de398ee9}">
          <p14:sldIdLst>
            <p14:sldId id="259"/>
            <p14:sldId id="260"/>
            <p14:sldId id="261"/>
          </p14:sldIdLst>
        </p14:section>
        <p14:section name="3. Phương án giải và lựa chọn" id="{5e7db69e-d28d-3c1f-fdc1-65e3a1797eea}">
          <p14:sldIdLst>
            <p14:sldId id="262"/>
            <p14:sldId id="263"/>
            <p14:sldId id="264"/>
          </p14:sldIdLst>
        </p14:section>
        <p14:section name="4. Kết quả" id="{79c08fe8-2c42-77ea-f809-88d0cd9c11a6}">
          <p14:sldIdLst>
            <p14:sldId id="265"/>
            <p14:sldId id="266"/>
            <p14:sldId id="267"/>
            <p14:sldId id="268"/>
            <p14:sldId id="269"/>
            <p14:sldId id="270"/>
          </p14:sldIdLst>
        </p14:section>
        <p14:section name="5. Thí nghiệm" id="{9c16d682-c77e-ce98-5ea7-ce4254bccb72}">
          <p14:sldIdLst>
            <p14:sldId id="271"/>
            <p14:sldId id="272"/>
          </p14:sldIdLst>
        </p14:section>
        <p14:section name="6. Đánh giá và kết luận" id="{6eee561b-d731-2463-c4b0-7f1c6cc039b5}">
          <p14:sldIdLst>
            <p14:sldId id="273"/>
            <p14:sldId id="274"/>
          </p14:sldIdLst>
        </p14:section>
        <p14:section name="Phụ lục" id="{31b302af-7f93-683c-ee79-ae38b6566161}">
          <p14:sldIdLst>
            <p14:sldId id="275"/>
            <p14:sldId id="276"/>
            <p14:sldId id="277"/>
            <p14:sldId id="278"/>
            <p14:sldId id="27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5B6878"/>
                </a:solidFill>
                <a:latin typeface="+mn-lt"/>
              </a:defRPr>
            </a:pPr>
            <a:r>
              <a:rPr sz="1400" b="0" i="0" u="none" strike="noStrike">
                <a:solidFill>
                  <a:srgbClr val="5B6878"/>
                </a:solidFill>
                <a:latin typeface="+mn-lt"/>
              </a:rPr>
              <a:t>50 phòng 8×8 chưa từng thấy, 5 seed</a:t>
            </a:r>
          </a:p>
        </c:rich>
      </c:tx>
      <c:layout/>
      <c:overlay val="0"/>
    </c:title>
    <c:autoTitleDeleted val="0"/>
    <c:plotArea>
      <c:layout/>
      <c:barChart>
        <c:barDir val="col"/>
        <c:grouping val="clustered"/>
        <c:varyColors val="0"/>
        <c:ser>
          <c:idx val="0"/>
          <c:order val="0"/>
          <c:tx>
            <c:strRef>
              <c:f>Sheet1!$B$1</c:f>
              <c:strCache>
                <c:ptCount val="1"/>
                <c:pt idx="0">
                  <c:v>Đã dọn (%)</c:v>
                </c:pt>
              </c:strCache>
            </c:strRef>
          </c:tx>
          <c:spPr>
            <a:solidFill>
              <a:srgbClr val="1F6FB2"/>
            </a:solidFill>
            <a:effectLst/>
          </c:spPr>
          <c:invertIfNegative val="0"/>
          <c:dLbls>
            <c:numFmt formatCode="#,##0" sourceLinked="0"/>
            <c:txPr>
              <a:bodyPr/>
              <a:lstStyle/>
              <a:p>
                <a:pPr>
                  <a:defRPr b="0" i="0" strike="noStrike" sz="1300" u="none">
                    <a:solidFill>
                      <a:srgbClr val="1D2733"/>
                    </a:solidFill>
                    <a:latin typeface="+mn-lt"/>
                  </a:defRPr>
                </a:pPr>
              </a:p>
            </c:txPr>
            <c:showLegendKey val="0"/>
            <c:showVal val="1"/>
            <c:showCatName val="0"/>
            <c:showSerName val="0"/>
            <c:showPercent val="0"/>
            <c:showBubbleSize val="0"/>
            <c:showLeaderLines val="0"/>
          </c:dLbls>
          <c:cat>
            <c:multiLvlStrRef>
              <c:f>Sheet1!$A$2:$A$4</c:f>
              <c:multiLvlStrCache>
                <c:ptCount val="3"/>
                <c:lvl>
                  <c:pt idx="0">
                    <c:v>v2 DQN gốc</c:v>
                  </c:pt>
                  <c:pt idx="1">
                    <c:v>v3 + action mask</c:v>
                  </c:pt>
                  <c:pt idx="2">
                    <c:v>v4 + 2 cải tiến</c:v>
                  </c:pt>
                </c:lvl>
              </c:multiLvlStrCache>
            </c:multiLvlStrRef>
          </c:cat>
          <c:val>
            <c:numRef>
              <c:f>Sheet1!$B$2:$B$4</c:f>
              <c:numCache>
                <c:formatCode>General</c:formatCode>
                <c:ptCount val="3"/>
                <c:pt idx="0">
                  <c:v>14</c:v>
                </c:pt>
                <c:pt idx="1">
                  <c:v>37</c:v>
                </c:pt>
                <c:pt idx="2">
                  <c:v>98</c:v>
                </c:pt>
              </c:numCache>
            </c:numRef>
          </c:val>
        </c:ser>
        <c:ser>
          <c:idx val="1"/>
          <c:order val="1"/>
          <c:tx>
            <c:strRef>
              <c:f>Sheet1!$C$1</c:f>
              <c:strCache>
                <c:ptCount val="1"/>
                <c:pt idx="0">
                  <c:v>Dọn xong (%)</c:v>
                </c:pt>
              </c:strCache>
            </c:strRef>
          </c:tx>
          <c:spPr>
            <a:solidFill>
              <a:srgbClr val="C8322F"/>
            </a:solidFill>
            <a:effectLst/>
          </c:spPr>
          <c:invertIfNegative val="0"/>
          <c:dLbls>
            <c:numFmt formatCode="#,##0" sourceLinked="0"/>
            <c:txPr>
              <a:bodyPr/>
              <a:lstStyle/>
              <a:p>
                <a:pPr>
                  <a:defRPr b="0" i="0" strike="noStrike" sz="1300" u="none">
                    <a:solidFill>
                      <a:srgbClr val="1D2733"/>
                    </a:solidFill>
                    <a:latin typeface="+mn-lt"/>
                  </a:defRPr>
                </a:pPr>
              </a:p>
            </c:txPr>
            <c:showLegendKey val="0"/>
            <c:showVal val="1"/>
            <c:showCatName val="0"/>
            <c:showSerName val="0"/>
            <c:showPercent val="0"/>
            <c:showBubbleSize val="0"/>
            <c:showLeaderLines val="0"/>
          </c:dLbls>
          <c:cat>
            <c:multiLvlStrRef>
              <c:f>Sheet1!$A$2:$A$4</c:f>
              <c:multiLvlStrCache>
                <c:ptCount val="3"/>
                <c:lvl>
                  <c:pt idx="0">
                    <c:v>v2 DQN gốc</c:v>
                  </c:pt>
                  <c:pt idx="1">
                    <c:v>v3 + action mask</c:v>
                  </c:pt>
                  <c:pt idx="2">
                    <c:v>v4 + 2 cải tiến</c:v>
                  </c:pt>
                </c:lvl>
              </c:multiLvlStrCache>
            </c:multiLvlStrRef>
          </c:cat>
          <c:val>
            <c:numRef>
              <c:f>Sheet1!$C$2:$C$4</c:f>
              <c:numCache>
                <c:formatCode>General</c:formatCode>
                <c:ptCount val="3"/>
                <c:pt idx="0">
                  <c:v>0</c:v>
                </c:pt>
                <c:pt idx="1">
                  <c:v>0</c:v>
                </c:pt>
                <c:pt idx="2">
                  <c:v>80</c:v>
                </c:pt>
              </c:numCache>
            </c:numRef>
          </c:val>
        </c:ser>
        <c:dLbls>
          <c:numFmt formatCode="#,##0" sourceLinked="0"/>
          <c:txPr>
            <a:bodyPr/>
            <a:lstStyle/>
            <a:p>
              <a:pPr>
                <a:defRPr b="0" i="0" strike="noStrike" sz="1300" u="none">
                  <a:solidFill>
                    <a:srgbClr val="1D2733"/>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5B6878"/>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9525" cap="flat">
              <a:solidFill>
                <a:srgbClr val="E6EB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6878"/>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1300">
              <a:solidFill>
                <a:srgbClr val="1D2733"/>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Chào thầy và các bạn. Nhóm em trình bày dự án dạy một robot hút bụi ảo tự học cách dọn hết căn phòng với ít bước nhất, bằng Q-learning cho phòng nhỏ và Deep Q-learning cho phòng lớn và phòng chưa từng thấy.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Robot hút bụi, máy cắt cỏ, drone khảo sát đều phải đi qua mọi điểm của một vùng với quãng đường ngắn nhất. Tìm đường đi qua mọi ô ngắn nhất gần với bài toán đường đi Hamilton, thuộc lớp NP-khó, nên không có công thức nhanh cho phòng lớn. Robot rẻ tiền thường đi zigzag hoặc đi tới chỗ bẩn gần nhất; cả hai lãng phí khi phòng có nhiều đồ đạc.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Câu hỏi xuyên suốt: robot có thể tự học một chiến lược dọn tốt hơn zigzag hay đi tới chỗ bẩn gần nhất không, kể cả ở căn phòng chưa từng thấy? Bài trình bày đi theo ba bước: phòng nhỏ với Q-learning, phòng lớn với DQN, rồi phòng chưa từng thấy.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Nhóm tự viết môi trường bằng Python theo chuẩn Gymnasium. Căn phòng là ma trận 0 là sàn, 1 là đồ đạc. Mỗi bước robot đi lên, xuống, trái hoặc phải một ô; ô đi qua thành đã dọn. Toàn bộ quy luật nằm trong một hàm transition thuần, dùng chung cho môi trường và cho Value Iteration nên hai bên không bao giờ tính phần thưởng khác nhau.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Trạng thái gồm vị trí robot, tập ô đã dọn và bản đồ vật cản. Phần thưởng cấu hình dense: ô mới cộng 1, ô cũ trừ 0,1, đụng tường trừ 0,5, mỗi bước trừ 0,01, dọn xong cộng 10. Gamma 0,99 vì robot cần nhìn trước nhiều bước. Điểm quan trọng: trạng thái phải chứa thông tin ô nào đã dọn, nếu không sẽ mất tính Markov.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Mạng nơ-ron nhận một tensor ba kênh giống một ảnh: kênh vị trí robot, kênh ô đã dọn, kênh vật cản. Q-learning dạng bảng thì mã hóa cùng thông tin thành khóa hàng, cột và một số nguyên mà mỗi bit là một ô đã dọn hay chưa.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Nhóm không dùng hết các thuật toán trong sách. Q-learning là mô hình chính. DQN là Q-learning dùng mạng nơ-ron cho phòng lớn. Value Iteration không học mà tính lời giải tối ưu tuyệt đối để chấm điểm. Ba baseline là cách làm thủ công để so sánh. Nhóm bỏ SARSA, Double Q, PPO để tập trung một mạch.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 của S, A là tổng phần thưởng kỳ vọng nếu ở trạng thái S làm hành động A rồi sau đó đi tốt nhất. Sau mỗi bước robot cộng thêm vào Q một phần sai số giữa mục tiêu và ước lượng cũ. Mục tiêu dùng max theo a của Q tại trạng thái sau, nên Q-learning là off-policy. Khi dọn xong thì không cộng giá trị tương lai; khi bị cắt do hết bước thì vẫn cộng.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DQN là đúng thuật toán Q-learning nhưng thay bảng bằng mạng CNN nhỏ. Hai thay đổi đi kèm: target network giữ mục tiêu ổn định vì mục tiêu thay đổi mỗi bước làm học bất ổn, và replay buffer lấy mẫu ngẫu nhiên để phá tương quan giữa các bước liên tiếp.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Trên phòng 3×3 và 4×4, Q-learning đạt đúng số bước tối thiểu ở cả 8 điểm xuất phát thử nghiệm, độ lệch chuẩn bằng 0 qua 5 seed. Giá trị max Q tại trạng thái xuất phát hội tụ về đúng V* mà Value Iteration tính; trên 3×3 đó là 16,969, khớp giá trị tính tay.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Số trạng thái tăng theo hàm mũ với số ô trống: lưới 4×5 đã có 1,4 triệu trạng thái đạt tới được, phòng 8×8 cận trên khoảng 10 mũ 21. Với phòng trống 6×6, Q-learning vẫn học được nhưng bảng tốn khoảng 746 MB và chỉ dùng được cho đúng một căn phòng, một điểm xuất phát. Đó là lý do cần mạng nơ-ron.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Bốn robot cùng dọn một phòng 8×8 có đồ đạc từ cùng điểm xuất phát. Qua 5 seed với điểm xuất phát ngẫu nhiên, DQN dọn xong trong 51,9 bước, so với greedy BFS 58,9 và zigzag 80,0. Phòng có 52 ô trống nên không thể dọn ít hơn 51 bước: DQN gần như tối ưu.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Học thuộc một căn phòng chưa đủ: robot thật gặp phòng mới. DQN bản đầu tiên, huấn luyện trên phòng ngẫu nhiên, chỉ dọn được 14% diện tích phòng 8×8 chưa từng thấy, và gần nửa số bước là đâm vào tường vì chính sách tất định cứ lặp lại hành động sai.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Mỗi cải tiến được đo bằng A/B. Action masking bỏ các hướng đâm tường, lên 37%. Quan sát lấy robot làm tâm là cải tiến quyết định: robot luôn ở giữa ảnh nên quy tắc dùng chung cho mọi vị trí, A/B tăng từ 60% lên 91%. Huấn luyện 16 môi trường song song nhanh gấp 4 lần và chọn mô hình theo tập kiểm định cho kết quả ổn định: 98% diện tích, 80% số phòng dọn xong.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Đo trên 50 phòng 8×8 mà mô hình chưa từng thấy, qua 5 seed. DQN v4 dọn 98% diện tích và dọn xong 80% số phòng. Khi dọn xong, DQN dùng 69,0 bước, ít hơn greedy BFS 71,4 ở cả 5 seed. Trên phòng lạ 6×6, DQN dọn xong 99% với 33,8 bước, so với greedy 38,8. Hai mươi phần trăm còn lại là robot lặp vòng ở vùng đã dọn.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E1: nếu trạng thái chỉ có vị trí, chính sách tất định chỉ có một hướng cho mỗi ô nên robot lặp vòng: không lần nào dọn xong, chỉ 45% diện tích. E2: với phần thưởng thưởng khi lại gần ô bẩn mà không phạt khi đi xa, robot học cách đi qua đi lại mãi để ăn điểm — reward hacking ở cả 5 seed. Shaping dạng thế năng không đổi lời giải tối ưu ở trạng thái nào, đúng định lý Ng và cộng sự 1999.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E4: huấn luyện DQN v4 trên một phòng thì mạng học thuộc phòng đó, chỉ dọn 61% phòng lạ; từ 100 phòng trở lên thì kết quả trên phòng lạ gần bằng trên phòng đã gặp, và huấn luyện vô hạn phòng thì dọn 100% phòng lạ. E3: phòng càng nhiều vật cản càng khó; ở mật độ 30% DQN chỉ dọn xong 34% số phòng trong khi greedy BFS luôn dọn xong.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Tóm lại: Q-learning đạt tối ưu tuyệt đối ở phòng nhỏ; DQN thắng cách làm thủ công ở phòng 8×8 và khái quát được sang phòng chưa từng thấy. Hạn chế: phòng lạ nhiều vật cản, mô phỏng đơn giản hóa, mỗi mô hình một kích thước. Hướng tiếp: chuyển sang greedy khi phát hiện lặp vòng, huấn luyện lâu hơn, thêm pin và vật cản động, thử trên robot thật.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Cảm ơn thầy và các bạn đã lắng nghe. Nhóm em sẵn sàng trả lời câu hỏi; các slide phụ lục phía sau dùng khi được hỏi chi tiết.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Q-learning dùng max theo a của Q tại trạng thái sau nên học giá trị của chính sách tối ưu dù đang khám phá, gọi là off-policy. SARSA dùng Q của hành động A phẩy mà agent sẽ làm thật, nên học giá trị của chính sách epsilon-greedy đang dùng, gọi là on-policy, và thường thận trọng hơn.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Terminated là kết thúc thật khi đã dọn hết: giá trị tương lai bằng 0 nên mục tiêu chỉ còn R. Truncated là bị cắt ngang khi hết số bước: trạng thái sau vẫn còn giá trị nên vẫn phải cộng gamma nhân max Q. Nhầm hai trường hợp này là lỗi phổ biến nhất khi tự viết RL; dự án có test riêng cho cả hai.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Bảng trái: DQN v2, so bốn cấu hình trên phòng 4×4; cấu hình cũ sụp giữa chừng, cấu hình chọn ổn định. Bảng phải: v4, so bốn cấu hình trên phòng lạ 8×8; quan sát lấy robot làm tâm là cải tiến quyết định, reward shaping không giúp thêm.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 nhóm phòng tách biệt hoàn toàn. Phòng huấn luyện sinh ngẫu nhiên mỗi episode và loại trừ tập test. Phòng kiểm định dùng để đánh giá định kỳ và giữ lại mô hình tốt nhất. Năm mươi phòng test chỉ dùng để báo cáo kết quả cuối, không dùng để chọn mô hình — nên cách chọn này không phải gian lận.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Số bước của từng phương pháp so với số bước tối thiểu tính bằng BFS trên đồ thị trạng thái. Q-learning và DQN đạt đúng tối ưu ở cả 8 điểm xuất phát; greedy BFS thừa tới 42%, zigzag thừa tới 50%.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1D2733"/>
        </a:solidFill>
      </p:bgPr>
    </p:bg>
    <p:spTree>
      <p:nvGrpSpPr>
        <p:cNvPr id="1" name=""/>
        <p:cNvGrpSpPr/>
        <p:nvPr/>
      </p:nvGrpSpPr>
      <p:grpSpPr>
        <a:xfrm>
          <a:off x="0" y="0"/>
          <a:ext cx="0" cy="0"/>
          <a:chOff x="0" y="0"/>
          <a:chExt cx="0" cy="0"/>
        </a:xfrm>
      </p:grpSpPr>
      <p:sp>
        <p:nvSpPr>
          <p:cNvPr id="2" name="Shape 0"/>
          <p:cNvSpPr/>
          <p:nvPr/>
        </p:nvSpPr>
        <p:spPr>
          <a:xfrm>
            <a:off x="731520" y="1261872"/>
            <a:ext cx="146304" cy="146304"/>
          </a:xfrm>
          <a:prstGeom prst="rect">
            <a:avLst/>
          </a:prstGeom>
          <a:solidFill>
            <a:srgbClr val="A0D2FF"/>
          </a:solidFill>
          <a:ln/>
        </p:spPr>
      </p:sp>
      <p:sp>
        <p:nvSpPr>
          <p:cNvPr id="3" name="Text 1"/>
          <p:cNvSpPr/>
          <p:nvPr>
            <p:ph idx="101" type="body" hasCustomPrompt="1"/>
          </p:nvPr>
        </p:nvSpPr>
        <p:spPr>
          <a:xfrm>
            <a:off x="960120" y="1143000"/>
            <a:ext cx="7315200" cy="365760"/>
          </a:xfrm>
          <a:prstGeom prst="rect">
            <a:avLst/>
          </a:prstGeom>
          <a:noFill/>
          <a:ln/>
        </p:spPr>
        <p:txBody>
          <a:bodyPr wrap="square" rtlCol="0"/>
          <a:lstStyle>
            <a:lvl1pPr indent="0" marL="0">
              <a:buNone/>
              <a:defRPr lang="en-US" sz="1400" spc="200" kern="0" dirty="0">
                <a:solidFill>
                  <a:srgbClr val="B8C7D9"/>
                </a:solidFill>
              </a:defRPr>
            </a:lvl1pPr>
          </a:lstStyle>
          <a:p>
            <a:pPr indent="0" marL="0">
              <a:buNone/>
            </a:pPr>
            <a:endParaRPr lang="en-US" sz="1400" dirty="0"/>
          </a:p>
        </p:txBody>
      </p:sp>
      <p:sp>
        <p:nvSpPr>
          <p:cNvPr id="4" name="Text 1"/>
          <p:cNvSpPr/>
          <p:nvPr>
            <p:ph idx="102" type="title" hasCustomPrompt="1"/>
          </p:nvPr>
        </p:nvSpPr>
        <p:spPr>
          <a:xfrm>
            <a:off x="731520" y="1645920"/>
            <a:ext cx="6949440" cy="1828800"/>
          </a:xfrm>
          <a:prstGeom prst="rect">
            <a:avLst/>
          </a:prstGeom>
          <a:noFill/>
          <a:ln/>
        </p:spPr>
        <p:txBody>
          <a:bodyPr wrap="square" rtlCol="0"/>
          <a:lstStyle>
            <a:lvl1pPr algn="l" indent="0" marL="0">
              <a:buNone/>
              <a:defRPr lang="en-US" sz="40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5" name="Text 1"/>
          <p:cNvSpPr/>
          <p:nvPr>
            <p:ph idx="103" type="body" hasCustomPrompt="1"/>
          </p:nvPr>
        </p:nvSpPr>
        <p:spPr>
          <a:xfrm>
            <a:off x="731520" y="3611880"/>
            <a:ext cx="6949440" cy="822960"/>
          </a:xfrm>
          <a:prstGeom prst="rect">
            <a:avLst/>
          </a:prstGeom>
          <a:noFill/>
          <a:ln/>
        </p:spPr>
        <p:txBody>
          <a:bodyPr wrap="square" rtlCol="0"/>
          <a:lstStyle>
            <a:lvl1pPr indent="0" marL="0">
              <a:buNone/>
              <a:defRPr lang="en-US" sz="2000" dirty="0">
                <a:solidFill>
                  <a:srgbClr val="B8C7D9"/>
                </a:solidFill>
              </a:defRPr>
            </a:lvl1pPr>
          </a:lstStyle>
          <a:p>
            <a:pPr indent="0" marL="0">
              <a:buNone/>
            </a:pPr>
            <a:endParaRPr lang="en-US" sz="2000" dirty="0"/>
          </a:p>
        </p:txBody>
      </p:sp>
      <p:sp>
        <p:nvSpPr>
          <p:cNvPr id="6" name="Text 1"/>
          <p:cNvSpPr/>
          <p:nvPr>
            <p:ph idx="104" type="body" hasCustomPrompt="1"/>
          </p:nvPr>
        </p:nvSpPr>
        <p:spPr>
          <a:xfrm>
            <a:off x="731520" y="5074920"/>
            <a:ext cx="6949440" cy="1005840"/>
          </a:xfrm>
          <a:prstGeom prst="rect">
            <a:avLst/>
          </a:prstGeom>
          <a:noFill/>
          <a:ln/>
        </p:spPr>
        <p:txBody>
          <a:bodyPr wrap="square" rtlCol="0"/>
          <a:lstStyle>
            <a:lvl1pPr indent="0" marL="0">
              <a:buNone/>
              <a:defRPr lang="en-US" sz="1400" dirty="0">
                <a:solidFill>
                  <a:srgbClr val="B8C7D9"/>
                </a:solidFill>
              </a:defRPr>
            </a:lvl1pPr>
          </a:lstStyle>
          <a:p>
            <a:pPr indent="0" marL="0">
              <a:buNone/>
            </a:pPr>
            <a:endParaRPr lang="en-US" sz="1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02336"/>
            <a:ext cx="118872" cy="118872"/>
          </a:xfrm>
          <a:prstGeom prst="rect">
            <a:avLst/>
          </a:prstGeom>
          <a:solidFill>
            <a:srgbClr val="A0D2FF"/>
          </a:solidFill>
          <a:ln/>
        </p:spPr>
      </p:sp>
      <p:sp>
        <p:nvSpPr>
          <p:cNvPr id="3" name="Text 1"/>
          <p:cNvSpPr/>
          <p:nvPr>
            <p:ph idx="101" type="body" hasCustomPrompt="1"/>
          </p:nvPr>
        </p:nvSpPr>
        <p:spPr>
          <a:xfrm>
            <a:off x="768096" y="301752"/>
            <a:ext cx="8229600" cy="310896"/>
          </a:xfrm>
          <a:prstGeom prst="rect">
            <a:avLst/>
          </a:prstGeom>
          <a:noFill/>
          <a:ln/>
        </p:spPr>
        <p:txBody>
          <a:bodyPr wrap="square" rtlCol="0"/>
          <a:lstStyle>
            <a:lvl1pPr indent="0" marL="0">
              <a:buNone/>
              <a:defRPr lang="en-US" sz="1200" spc="200" kern="0" dirty="0">
                <a:solidFill>
                  <a:srgbClr val="5B6878"/>
                </a:solidFill>
              </a:defRPr>
            </a:lvl1pPr>
          </a:lstStyle>
          <a:p>
            <a:pPr indent="0" marL="0">
              <a:buNone/>
            </a:pPr>
            <a:endParaRPr lang="en-US" sz="1200" dirty="0"/>
          </a:p>
        </p:txBody>
      </p:sp>
      <p:sp>
        <p:nvSpPr>
          <p:cNvPr id="4" name="Text 1"/>
          <p:cNvSpPr/>
          <p:nvPr>
            <p:ph idx="102" type="title" hasCustomPrompt="1"/>
          </p:nvPr>
        </p:nvSpPr>
        <p:spPr>
          <a:xfrm>
            <a:off x="548640" y="640080"/>
            <a:ext cx="11094415" cy="731520"/>
          </a:xfrm>
          <a:prstGeom prst="rect">
            <a:avLst/>
          </a:prstGeom>
          <a:noFill/>
          <a:ln/>
        </p:spPr>
        <p:txBody>
          <a:bodyPr wrap="square" rtlCol="0"/>
          <a:lstStyle>
            <a:lvl1pPr algn="l" indent="0" marL="0">
              <a:buNone/>
              <a:defRPr lang="en-US" sz="2800" b="1" dirty="0">
                <a:solidFill>
                  <a:srgbClr val="1D2733"/>
                </a:solidFill>
                <a:latin typeface="Cambria" pitchFamily="34" charset="0"/>
                <a:ea typeface="Cambria" pitchFamily="34" charset="-122"/>
                <a:cs typeface="Cambria" pitchFamily="34" charset="-120"/>
              </a:defRPr>
            </a:lvl1pPr>
          </a:lstStyle>
          <a:p>
            <a:pPr algn="l" indent="0" marL="0">
              <a:buNone/>
            </a:pPr>
            <a:endParaRPr lang="en-US" sz="2800" dirty="0"/>
          </a:p>
        </p:txBody>
      </p:sp>
      <p:sp>
        <p:nvSpPr>
          <p:cNvPr id="5" name="Text 1"/>
          <p:cNvSpPr/>
          <p:nvPr/>
        </p:nvSpPr>
        <p:spPr>
          <a:xfrm>
            <a:off x="548640" y="6400800"/>
            <a:ext cx="5486400" cy="274320"/>
          </a:xfrm>
          <a:prstGeom prst="rect">
            <a:avLst/>
          </a:prstGeom>
          <a:noFill/>
          <a:ln/>
        </p:spPr>
        <p:txBody>
          <a:bodyPr wrap="square" lIns="0" tIns="0" rIns="0" bIns="0" rtlCol="0" anchor="ctr"/>
          <a:lstStyle/>
          <a:p>
            <a:pPr indent="0" marL="0">
              <a:buNone/>
            </a:pPr>
            <a:r>
              <a:rPr lang="en-US" sz="1100" dirty="0">
                <a:solidFill>
                  <a:srgbClr val="5B6878"/>
                </a:solidFill>
              </a:rPr>
              <a:t>REL301 · Robot hút bụi học tăng cường</a:t>
            </a:r>
            <a:endParaRPr lang="en-US" sz="11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878"/>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END_DARK">
    <p:bg>
      <p:bgPr>
        <a:solidFill>
          <a:srgbClr val="1D2733"/>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103120"/>
            <a:ext cx="6035040" cy="1280160"/>
          </a:xfrm>
          <a:prstGeom prst="rect">
            <a:avLst/>
          </a:prstGeom>
          <a:noFill/>
          <a:ln/>
        </p:spPr>
        <p:txBody>
          <a:bodyPr wrap="square" rtlCol="0"/>
          <a:lstStyle>
            <a:lvl1pPr algn="l" indent="0" marL="0">
              <a:buNone/>
              <a:defRPr lang="en-US" sz="44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3" name="Text 0"/>
          <p:cNvSpPr/>
          <p:nvPr>
            <p:ph idx="101" type="body" hasCustomPrompt="1"/>
          </p:nvPr>
        </p:nvSpPr>
        <p:spPr>
          <a:xfrm>
            <a:off x="731520" y="3520440"/>
            <a:ext cx="6035040" cy="1463040"/>
          </a:xfrm>
          <a:prstGeom prst="rect">
            <a:avLst/>
          </a:prstGeom>
          <a:noFill/>
          <a:ln/>
        </p:spPr>
        <p:txBody>
          <a:bodyPr wrap="square" rtlCol="0"/>
          <a:lstStyle>
            <a:lvl1pPr indent="0" marL="0">
              <a:buNone/>
              <a:defRPr lang="en-US" sz="1800" dirty="0">
                <a:solidFill>
                  <a:srgbClr val="B8C7D9"/>
                </a:solidFill>
              </a:defRPr>
            </a:lvl1pPr>
          </a:lstStyle>
          <a:p>
            <a:pPr indent="0" marL="0">
              <a:buNone/>
            </a:pPr>
            <a:endParaRPr lang="en-US" sz="18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878"/>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gif"/><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gif"/><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gif"/><Relationship Id="rId3" Type="http://schemas.openxmlformats.org/officeDocument/2006/relationships/slideLayout" Target="../slideLayouts/slideLayout3.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3.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gif"/><Relationship Id="rId2" Type="http://schemas.openxmlformats.org/officeDocument/2006/relationships/slideLayout" Target="../slideLayouts/slideLayout4.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p:nvPr>
            <p:ph idx="101" type="body" hasCustomPrompt="1"/>
          </p:nvPr>
        </p:nvSpPr>
        <p:spPr>
          <a:xfrm>
            <a:off x="960120" y="1143000"/>
            <a:ext cx="7315200" cy="365760"/>
          </a:xfrm>
          <a:prstGeom prst="rect">
            <a:avLst/>
          </a:prstGeom>
          <a:noFill/>
          <a:ln/>
        </p:spPr>
        <p:txBody>
          <a:bodyPr wrap="square" lIns="0" tIns="0" rIns="0" bIns="0" rtlCol="0"/>
          <a:lstStyle/>
          <a:p>
            <a:pPr indent="0" marL="0">
              <a:buNone/>
            </a:pPr>
            <a:r>
              <a:rPr lang="en-US" sz="1400" spc="200" kern="0" dirty="0">
                <a:solidFill>
                  <a:srgbClr val="B8C7D9"/>
                </a:solidFill>
              </a:rPr>
              <a:t>REL301 · FA26 · HÌNH THỨC APPLICATIONS</a:t>
            </a:r>
            <a:endParaRPr lang="en-US" sz="1400" dirty="0"/>
          </a:p>
        </p:txBody>
      </p:sp>
      <p:sp>
        <p:nvSpPr>
          <p:cNvPr id="3" name="Text 1"/>
          <p:cNvSpPr/>
          <p:nvPr>
            <p:ph idx="102" type="title" hasCustomPrompt="1"/>
          </p:nvPr>
        </p:nvSpPr>
        <p:spPr>
          <a:xfrm>
            <a:off x="731520" y="1645920"/>
            <a:ext cx="6949440" cy="1828800"/>
          </a:xfrm>
          <a:prstGeom prst="rect">
            <a:avLst/>
          </a:prstGeom>
          <a:noFill/>
          <a:ln/>
        </p:spPr>
        <p:txBody>
          <a:bodyPr wrap="square" lIns="0" tIns="0" rIns="0" bIns="0" rtlCol="0" anchor="t"/>
          <a:lstStyle/>
          <a:p>
            <a:pPr algn="l" indent="0" marL="0">
              <a:buNone/>
            </a:pPr>
            <a:r>
              <a:rPr lang="en-US" sz="4000" b="1" dirty="0">
                <a:solidFill>
                  <a:srgbClr val="FFFFFF"/>
                </a:solidFill>
                <a:latin typeface="Cambria" pitchFamily="34" charset="0"/>
                <a:ea typeface="Cambria" pitchFamily="34" charset="-122"/>
                <a:cs typeface="Cambria" pitchFamily="34" charset="-120"/>
              </a:rPr>
              <a:t>Robot hút bụi tự học cách dọn kín căn phòng</a:t>
            </a:r>
            <a:endParaRPr lang="en-US" sz="4000" dirty="0"/>
          </a:p>
        </p:txBody>
      </p:sp>
      <p:sp>
        <p:nvSpPr>
          <p:cNvPr id="4" name="Text 1"/>
          <p:cNvSpPr/>
          <p:nvPr>
            <p:ph idx="103" type="body" hasCustomPrompt="1"/>
          </p:nvPr>
        </p:nvSpPr>
        <p:spPr>
          <a:xfrm>
            <a:off x="731520" y="3611880"/>
            <a:ext cx="6949440" cy="822960"/>
          </a:xfrm>
          <a:prstGeom prst="rect">
            <a:avLst/>
          </a:prstGeom>
          <a:noFill/>
          <a:ln/>
        </p:spPr>
        <p:txBody>
          <a:bodyPr wrap="square" lIns="0" tIns="0" rIns="0" bIns="0" rtlCol="0" anchor="t"/>
          <a:lstStyle/>
          <a:p>
            <a:pPr indent="0" marL="0">
              <a:buNone/>
            </a:pPr>
            <a:r>
              <a:rPr lang="en-US" sz="2000" dirty="0">
                <a:solidFill>
                  <a:srgbClr val="B8C7D9"/>
                </a:solidFill>
              </a:rPr>
              <a:t>Q-learning và Deep Q-learning cho bài toán phủ kín không gian</a:t>
            </a:r>
            <a:endParaRPr lang="en-US" sz="2000" dirty="0"/>
          </a:p>
        </p:txBody>
      </p:sp>
      <p:sp>
        <p:nvSpPr>
          <p:cNvPr id="5" name="Text 1"/>
          <p:cNvSpPr/>
          <p:nvPr>
            <p:ph idx="104" type="body" hasCustomPrompt="1"/>
          </p:nvPr>
        </p:nvSpPr>
        <p:spPr>
          <a:xfrm>
            <a:off x="731520" y="5074920"/>
            <a:ext cx="6949440" cy="1005840"/>
          </a:xfrm>
          <a:prstGeom prst="rect">
            <a:avLst/>
          </a:prstGeom>
          <a:noFill/>
          <a:ln/>
        </p:spPr>
        <p:txBody>
          <a:bodyPr wrap="square" lIns="0" tIns="0" rIns="0" bIns="0" rtlCol="0" anchor="t"/>
          <a:lstStyle/>
          <a:p>
            <a:pPr indent="0" marL="0">
              <a:buNone/>
            </a:pPr>
            <a:r>
              <a:rPr lang="en-US" sz="1400" dirty="0">
                <a:solidFill>
                  <a:srgbClr val="B8C7D9"/>
                </a:solidFill>
              </a:rPr>
              <a:t>Nhóm: (điền tên/số nhóm)</a:t>
            </a:r>
            <a:endParaRPr lang="en-US" sz="1400" dirty="0"/>
          </a:p>
          <a:p>
            <a:pPr indent="0" marL="0">
              <a:buNone/>
            </a:pPr>
            <a:r>
              <a:rPr lang="en-US" sz="1400" dirty="0">
                <a:solidFill>
                  <a:srgbClr val="B8C7D9"/>
                </a:solidFill>
              </a:rPr>
              <a:t>Thành viên: (điền họ tên – MSSV)</a:t>
            </a:r>
            <a:endParaRPr lang="en-US" sz="1400" dirty="0"/>
          </a:p>
          <a:p>
            <a:pPr indent="0" marL="0">
              <a:buNone/>
            </a:pPr>
            <a:r>
              <a:rPr lang="en-US" sz="1400" dirty="0">
                <a:solidFill>
                  <a:srgbClr val="B8C7D9"/>
                </a:solidFill>
              </a:rPr>
              <a:t>Giảng viên: (điền tên giảng viên)</a:t>
            </a:r>
            <a:endParaRPr lang="en-US" sz="1400" dirty="0"/>
          </a:p>
        </p:txBody>
      </p:sp>
      <p:sp>
        <p:nvSpPr>
          <p:cNvPr id="6" name="photo frame"/>
          <p:cNvSpPr/>
          <p:nvPr/>
        </p:nvSpPr>
        <p:spPr>
          <a:xfrm>
            <a:off x="8229600" y="1143000"/>
            <a:ext cx="3291840" cy="4526280"/>
          </a:xfrm>
          <a:prstGeom prst="roundRect">
            <a:avLst>
              <a:gd name="adj" fmla="val 2778"/>
            </a:avLst>
          </a:prstGeom>
          <a:solidFill>
            <a:srgbClr val="FFFFFF"/>
          </a:solidFill>
          <a:ln w="12700">
            <a:solidFill>
              <a:srgbClr val="FFFFFF"/>
            </a:solidFill>
            <a:prstDash val="solid"/>
          </a:ln>
        </p:spPr>
      </p:sp>
      <p:pic>
        <p:nvPicPr>
          <p:cNvPr id="7" name="room_8x8_dqn.png" descr="Robot DQN dọn xong phòng 8x8 có đồ đạc">    </p:cNvPr>
          <p:cNvPicPr>
            <a:picLocks noChangeAspect="1"/>
          </p:cNvPicPr>
          <p:nvPr/>
        </p:nvPicPr>
        <p:blipFill>
          <a:blip r:embed="rId1"/>
          <a:stretch>
            <a:fillRect/>
          </a:stretch>
        </p:blipFill>
        <p:spPr>
          <a:xfrm>
            <a:off x="8366760" y="1526084"/>
            <a:ext cx="3017520" cy="3760113"/>
          </a:xfrm>
          <a:prstGeom prst="rect">
            <a:avLst/>
          </a:prstGeom>
        </p:spPr>
      </p:pic>
      <p:sp>
        <p:nvSpPr>
          <p:cNvPr id="8" name="Text 5"/>
          <p:cNvSpPr txBox="1"/>
          <p:nvPr/>
        </p:nvSpPr>
        <p:spPr>
          <a:xfrm>
            <a:off x="8229600" y="5806440"/>
            <a:ext cx="3291840" cy="320040"/>
          </a:xfrm>
          <a:prstGeom prst="rect">
            <a:avLst/>
          </a:prstGeom>
          <a:noFill/>
          <a:ln/>
        </p:spPr>
        <p:txBody>
          <a:bodyPr wrap="square" lIns="0" tIns="0" rIns="0" bIns="0" rtlCol="0" anchor="t"/>
          <a:lstStyle/>
          <a:p>
            <a:pPr algn="ctr" indent="0" marL="0">
              <a:buNone/>
            </a:pPr>
            <a:r>
              <a:rPr lang="en-US" sz="1200" i="1" dirty="0">
                <a:solidFill>
                  <a:srgbClr val="B8C7D9"/>
                </a:solidFill>
              </a:rPr>
              <a:t>DQN dọn phòng 8×8 có đồ đạc</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body" hasCustomPrompt="1"/>
          </p:nvPr>
        </p:nvSpPr>
        <p:spPr>
          <a:xfrm>
            <a:off x="768096" y="301752"/>
            <a:ext cx="8229600" cy="310896"/>
          </a:xfrm>
          <a:prstGeom prst="rect">
            <a:avLst/>
          </a:prstGeom>
          <a:noFill/>
          <a:ln/>
        </p:spPr>
        <p:txBody>
          <a:bodyPr wrap="square" lIns="0" tIns="0" rIns="0" bIns="0" rtlCol="0"/>
          <a:lstStyle/>
          <a:p>
            <a:pPr indent="0" marL="0">
              <a:buNone/>
            </a:pPr>
            <a:r>
              <a:rPr lang="en-US" sz="1200" spc="200" kern="0" dirty="0">
                <a:solidFill>
                  <a:srgbClr val="5B6878"/>
                </a:solidFill>
              </a:rPr>
              <a:t>ỨNG DỤNG</a:t>
            </a:r>
            <a:endParaRPr lang="en-US" sz="1200" dirty="0"/>
          </a:p>
        </p:txBody>
      </p:sp>
      <p:sp>
        <p:nvSpPr>
          <p:cNvPr id="3" name="Text 1"/>
          <p:cNvSpPr/>
          <p:nvPr>
            <p:ph idx="102" type="title" hasCustomPrompt="1"/>
          </p:nvPr>
        </p:nvSpPr>
        <p:spPr>
          <a:xfrm>
            <a:off x="548640" y="640080"/>
            <a:ext cx="11094415" cy="731520"/>
          </a:xfrm>
          <a:prstGeom prst="rect">
            <a:avLst/>
          </a:prstGeom>
          <a:noFill/>
          <a:ln/>
        </p:spPr>
        <p:txBody>
          <a:bodyPr wrap="square" lIns="0" tIns="0" rIns="0" bIns="0" rtlCol="0" anchor="t"/>
          <a:lstStyle/>
          <a:p>
            <a:pPr algn="l" indent="0" marL="0">
              <a:buNone/>
            </a:pPr>
            <a:r>
              <a:rPr lang="en-US" sz="2800" b="1" dirty="0">
                <a:solidFill>
                  <a:srgbClr val="1D2733"/>
                </a:solidFill>
                <a:latin typeface="Cambria" pitchFamily="34" charset="0"/>
                <a:ea typeface="Cambria" pitchFamily="34" charset="-122"/>
                <a:cs typeface="Cambria" pitchFamily="34" charset="-120"/>
              </a:rPr>
              <a:t>Phủ kín không gian là bài toán thực tế và khó</a:t>
            </a:r>
            <a:endParaRPr lang="en-US" sz="2800" dirty="0"/>
          </a:p>
        </p:txBody>
      </p:sp>
      <p:sp>
        <p:nvSpPr>
          <p:cNvPr id="5" name="Shape 2"/>
          <p:cNvSpPr/>
          <p:nvPr/>
        </p:nvSpPr>
        <p:spPr>
          <a:xfrm>
            <a:off x="548640" y="1783080"/>
            <a:ext cx="384048" cy="384048"/>
          </a:xfrm>
          <a:prstGeom prst="roundRect">
            <a:avLst>
              <a:gd name="adj" fmla="val 14286"/>
            </a:avLst>
          </a:prstGeom>
          <a:solidFill>
            <a:srgbClr val="1F6FB2"/>
          </a:solidFill>
          <a:ln w="12700">
            <a:solidFill>
              <a:srgbClr val="1F6FB2"/>
            </a:solidFill>
            <a:prstDash val="solid"/>
          </a:ln>
        </p:spPr>
      </p:sp>
      <p:sp>
        <p:nvSpPr>
          <p:cNvPr id="6" name="Text 3"/>
          <p:cNvSpPr txBox="1"/>
          <p:nvPr/>
        </p:nvSpPr>
        <p:spPr>
          <a:xfrm>
            <a:off x="548640" y="178308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rPr>
              <a:t>1</a:t>
            </a:r>
            <a:endParaRPr lang="en-US" sz="1500" dirty="0"/>
          </a:p>
        </p:txBody>
      </p:sp>
      <p:sp>
        <p:nvSpPr>
          <p:cNvPr id="7" name="Text 4"/>
          <p:cNvSpPr txBox="1"/>
          <p:nvPr/>
        </p:nvSpPr>
        <p:spPr>
          <a:xfrm>
            <a:off x="1143000" y="1737360"/>
            <a:ext cx="5669280" cy="411480"/>
          </a:xfrm>
          <a:prstGeom prst="rect">
            <a:avLst/>
          </a:prstGeom>
          <a:noFill/>
          <a:ln/>
        </p:spPr>
        <p:txBody>
          <a:bodyPr wrap="square" lIns="0" tIns="0" rIns="0" bIns="0" rtlCol="0" anchor="t"/>
          <a:lstStyle/>
          <a:p>
            <a:pPr indent="0" marL="0">
              <a:buNone/>
            </a:pPr>
            <a:r>
              <a:rPr lang="en-US" sz="2000" b="1" dirty="0">
                <a:solidFill>
                  <a:srgbClr val="1D2733"/>
                </a:solidFill>
              </a:rPr>
              <a:t>Robot hút bụi, lau sàn</a:t>
            </a:r>
            <a:endParaRPr lang="en-US" sz="2000" dirty="0"/>
          </a:p>
        </p:txBody>
      </p:sp>
      <p:sp>
        <p:nvSpPr>
          <p:cNvPr id="8" name="Text 5"/>
          <p:cNvSpPr txBox="1"/>
          <p:nvPr/>
        </p:nvSpPr>
        <p:spPr>
          <a:xfrm>
            <a:off x="1143000" y="2167128"/>
            <a:ext cx="5669280" cy="365760"/>
          </a:xfrm>
          <a:prstGeom prst="rect">
            <a:avLst/>
          </a:prstGeom>
          <a:noFill/>
          <a:ln/>
        </p:spPr>
        <p:txBody>
          <a:bodyPr wrap="square" lIns="0" tIns="0" rIns="0" bIns="0" rtlCol="0" anchor="t"/>
          <a:lstStyle/>
          <a:p>
            <a:pPr indent="0" marL="0">
              <a:buNone/>
            </a:pPr>
            <a:r>
              <a:rPr lang="en-US" sz="1600" dirty="0">
                <a:solidFill>
                  <a:srgbClr val="5B6878"/>
                </a:solidFill>
              </a:rPr>
              <a:t>nhà ở, văn phòng, bệnh viện</a:t>
            </a:r>
            <a:endParaRPr lang="en-US" sz="1600" dirty="0"/>
          </a:p>
        </p:txBody>
      </p:sp>
      <p:sp>
        <p:nvSpPr>
          <p:cNvPr id="9" name="Shape 6"/>
          <p:cNvSpPr/>
          <p:nvPr/>
        </p:nvSpPr>
        <p:spPr>
          <a:xfrm>
            <a:off x="548640" y="3017520"/>
            <a:ext cx="384048" cy="384048"/>
          </a:xfrm>
          <a:prstGeom prst="roundRect">
            <a:avLst>
              <a:gd name="adj" fmla="val 14286"/>
            </a:avLst>
          </a:prstGeom>
          <a:solidFill>
            <a:srgbClr val="1F6FB2"/>
          </a:solidFill>
          <a:ln w="12700">
            <a:solidFill>
              <a:srgbClr val="1F6FB2"/>
            </a:solidFill>
            <a:prstDash val="solid"/>
          </a:ln>
        </p:spPr>
      </p:sp>
      <p:sp>
        <p:nvSpPr>
          <p:cNvPr id="10" name="Text 7"/>
          <p:cNvSpPr txBox="1"/>
          <p:nvPr/>
        </p:nvSpPr>
        <p:spPr>
          <a:xfrm>
            <a:off x="548640" y="301752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rPr>
              <a:t>2</a:t>
            </a:r>
            <a:endParaRPr lang="en-US" sz="1500" dirty="0"/>
          </a:p>
        </p:txBody>
      </p:sp>
      <p:sp>
        <p:nvSpPr>
          <p:cNvPr id="11" name="Text 8"/>
          <p:cNvSpPr txBox="1"/>
          <p:nvPr/>
        </p:nvSpPr>
        <p:spPr>
          <a:xfrm>
            <a:off x="1143000" y="2971800"/>
            <a:ext cx="5669280" cy="411480"/>
          </a:xfrm>
          <a:prstGeom prst="rect">
            <a:avLst/>
          </a:prstGeom>
          <a:noFill/>
          <a:ln/>
        </p:spPr>
        <p:txBody>
          <a:bodyPr wrap="square" lIns="0" tIns="0" rIns="0" bIns="0" rtlCol="0" anchor="t"/>
          <a:lstStyle/>
          <a:p>
            <a:pPr indent="0" marL="0">
              <a:buNone/>
            </a:pPr>
            <a:r>
              <a:rPr lang="en-US" sz="2000" b="1" dirty="0">
                <a:solidFill>
                  <a:srgbClr val="1D2733"/>
                </a:solidFill>
              </a:rPr>
              <a:t>Máy cắt cỏ, máy nông nghiệp</a:t>
            </a:r>
            <a:endParaRPr lang="en-US" sz="2000" dirty="0"/>
          </a:p>
        </p:txBody>
      </p:sp>
      <p:sp>
        <p:nvSpPr>
          <p:cNvPr id="12" name="Text 9"/>
          <p:cNvSpPr txBox="1"/>
          <p:nvPr/>
        </p:nvSpPr>
        <p:spPr>
          <a:xfrm>
            <a:off x="1143000" y="3401568"/>
            <a:ext cx="5669280" cy="365760"/>
          </a:xfrm>
          <a:prstGeom prst="rect">
            <a:avLst/>
          </a:prstGeom>
          <a:noFill/>
          <a:ln/>
        </p:spPr>
        <p:txBody>
          <a:bodyPr wrap="square" lIns="0" tIns="0" rIns="0" bIns="0" rtlCol="0" anchor="t"/>
          <a:lstStyle/>
          <a:p>
            <a:pPr indent="0" marL="0">
              <a:buNone/>
            </a:pPr>
            <a:r>
              <a:rPr lang="en-US" sz="1600" dirty="0">
                <a:solidFill>
                  <a:srgbClr val="5B6878"/>
                </a:solidFill>
              </a:rPr>
              <a:t>cắt cỏ, phun thuốc theo luống</a:t>
            </a:r>
            <a:endParaRPr lang="en-US" sz="1600" dirty="0"/>
          </a:p>
        </p:txBody>
      </p:sp>
      <p:sp>
        <p:nvSpPr>
          <p:cNvPr id="13" name="Shape 10"/>
          <p:cNvSpPr/>
          <p:nvPr/>
        </p:nvSpPr>
        <p:spPr>
          <a:xfrm>
            <a:off x="548640" y="4251960"/>
            <a:ext cx="384048" cy="384048"/>
          </a:xfrm>
          <a:prstGeom prst="roundRect">
            <a:avLst>
              <a:gd name="adj" fmla="val 14286"/>
            </a:avLst>
          </a:prstGeom>
          <a:solidFill>
            <a:srgbClr val="1F6FB2"/>
          </a:solidFill>
          <a:ln w="12700">
            <a:solidFill>
              <a:srgbClr val="1F6FB2"/>
            </a:solidFill>
            <a:prstDash val="solid"/>
          </a:ln>
        </p:spPr>
      </p:sp>
      <p:sp>
        <p:nvSpPr>
          <p:cNvPr id="14" name="Text 11"/>
          <p:cNvSpPr txBox="1"/>
          <p:nvPr/>
        </p:nvSpPr>
        <p:spPr>
          <a:xfrm>
            <a:off x="548640" y="425196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rPr>
              <a:t>3</a:t>
            </a:r>
            <a:endParaRPr lang="en-US" sz="1500" dirty="0"/>
          </a:p>
        </p:txBody>
      </p:sp>
      <p:sp>
        <p:nvSpPr>
          <p:cNvPr id="15" name="Text 12"/>
          <p:cNvSpPr txBox="1"/>
          <p:nvPr/>
        </p:nvSpPr>
        <p:spPr>
          <a:xfrm>
            <a:off x="1143000" y="4206240"/>
            <a:ext cx="5669280" cy="411480"/>
          </a:xfrm>
          <a:prstGeom prst="rect">
            <a:avLst/>
          </a:prstGeom>
          <a:noFill/>
          <a:ln/>
        </p:spPr>
        <p:txBody>
          <a:bodyPr wrap="square" lIns="0" tIns="0" rIns="0" bIns="0" rtlCol="0" anchor="t"/>
          <a:lstStyle/>
          <a:p>
            <a:pPr indent="0" marL="0">
              <a:buNone/>
            </a:pPr>
            <a:r>
              <a:rPr lang="en-US" sz="2000" b="1" dirty="0">
                <a:solidFill>
                  <a:srgbClr val="1D2733"/>
                </a:solidFill>
              </a:rPr>
              <a:t>Drone, robot kiểm tra</a:t>
            </a:r>
            <a:endParaRPr lang="en-US" sz="2000" dirty="0"/>
          </a:p>
        </p:txBody>
      </p:sp>
      <p:sp>
        <p:nvSpPr>
          <p:cNvPr id="16" name="Text 13"/>
          <p:cNvSpPr txBox="1"/>
          <p:nvPr/>
        </p:nvSpPr>
        <p:spPr>
          <a:xfrm>
            <a:off x="1143000" y="4636008"/>
            <a:ext cx="5669280" cy="365760"/>
          </a:xfrm>
          <a:prstGeom prst="rect">
            <a:avLst/>
          </a:prstGeom>
          <a:noFill/>
          <a:ln/>
        </p:spPr>
        <p:txBody>
          <a:bodyPr wrap="square" lIns="0" tIns="0" rIns="0" bIns="0" rtlCol="0" anchor="t"/>
          <a:lstStyle/>
          <a:p>
            <a:pPr indent="0" marL="0">
              <a:buNone/>
            </a:pPr>
            <a:r>
              <a:rPr lang="en-US" sz="1600" dirty="0">
                <a:solidFill>
                  <a:srgbClr val="5B6878"/>
                </a:solidFill>
              </a:rPr>
              <a:t>khảo sát bản đồ, tấm pin mặt trời</a:t>
            </a:r>
            <a:endParaRPr lang="en-US" sz="1600" dirty="0"/>
          </a:p>
        </p:txBody>
      </p:sp>
      <p:sp>
        <p:nvSpPr>
          <p:cNvPr id="17" name="stat card"/>
          <p:cNvSpPr/>
          <p:nvPr/>
        </p:nvSpPr>
        <p:spPr>
          <a:xfrm>
            <a:off x="7040880" y="1691640"/>
            <a:ext cx="4599432" cy="3977640"/>
          </a:xfrm>
          <a:prstGeom prst="roundRect">
            <a:avLst>
              <a:gd name="adj" fmla="val 1839"/>
            </a:avLst>
          </a:prstGeom>
          <a:solidFill>
            <a:srgbClr val="EEF4FA"/>
          </a:solidFill>
          <a:ln w="12700">
            <a:solidFill>
              <a:srgbClr val="EEF4FA"/>
            </a:solidFill>
            <a:prstDash val="solid"/>
          </a:ln>
        </p:spPr>
      </p:sp>
      <p:sp>
        <p:nvSpPr>
          <p:cNvPr id="18" name="Text 15"/>
          <p:cNvSpPr txBox="1"/>
          <p:nvPr/>
        </p:nvSpPr>
        <p:spPr>
          <a:xfrm>
            <a:off x="7406640" y="1965960"/>
            <a:ext cx="3931920" cy="1005840"/>
          </a:xfrm>
          <a:prstGeom prst="rect">
            <a:avLst/>
          </a:prstGeom>
          <a:noFill/>
          <a:ln/>
        </p:spPr>
        <p:txBody>
          <a:bodyPr wrap="square" lIns="0" tIns="0" rIns="0" bIns="0" rtlCol="0" anchor="t"/>
          <a:lstStyle/>
          <a:p>
            <a:pPr indent="0" marL="0">
              <a:buNone/>
            </a:pPr>
            <a:r>
              <a:rPr lang="en-US" sz="6000" b="1" dirty="0">
                <a:solidFill>
                  <a:srgbClr val="C8322F"/>
                </a:solidFill>
              </a:rPr>
              <a:t>NP-khó</a:t>
            </a:r>
            <a:endParaRPr lang="en-US" sz="6000" dirty="0"/>
          </a:p>
        </p:txBody>
      </p:sp>
      <p:sp>
        <p:nvSpPr>
          <p:cNvPr id="19" name="Text 16"/>
          <p:cNvSpPr txBox="1"/>
          <p:nvPr/>
        </p:nvSpPr>
        <p:spPr>
          <a:xfrm>
            <a:off x="7406640" y="3063240"/>
            <a:ext cx="3931920" cy="1097280"/>
          </a:xfrm>
          <a:prstGeom prst="rect">
            <a:avLst/>
          </a:prstGeom>
          <a:noFill/>
          <a:ln/>
        </p:spPr>
        <p:txBody>
          <a:bodyPr wrap="square" lIns="0" tIns="0" rIns="0" bIns="0" rtlCol="0" anchor="t"/>
          <a:lstStyle/>
          <a:p>
            <a:pPr indent="0" marL="0">
              <a:buNone/>
            </a:pPr>
            <a:r>
              <a:rPr lang="en-US" sz="1700" dirty="0">
                <a:solidFill>
                  <a:srgbClr val="1D2733"/>
                </a:solidFill>
              </a:rPr>
              <a:t>Đường đi qua mọi ô ngắn nhất gần với bài toán đường đi Hamilton: không có công thức nhanh cho phòng lớn.</a:t>
            </a:r>
            <a:endParaRPr lang="en-US" sz="1700" dirty="0"/>
          </a:p>
        </p:txBody>
      </p:sp>
      <p:sp>
        <p:nvSpPr>
          <p:cNvPr id="20" name="Text 17"/>
          <p:cNvSpPr txBox="1"/>
          <p:nvPr/>
        </p:nvSpPr>
        <p:spPr>
          <a:xfrm>
            <a:off x="7406640" y="4343400"/>
            <a:ext cx="3931920" cy="1005840"/>
          </a:xfrm>
          <a:prstGeom prst="rect">
            <a:avLst/>
          </a:prstGeom>
          <a:noFill/>
          <a:ln/>
        </p:spPr>
        <p:txBody>
          <a:bodyPr wrap="square" lIns="0" tIns="0" rIns="0" bIns="0" rtlCol="0" anchor="t"/>
          <a:lstStyle/>
          <a:p>
            <a:pPr indent="0" marL="0">
              <a:buNone/>
            </a:pPr>
            <a:r>
              <a:rPr lang="en-US" sz="1600" dirty="0">
                <a:solidFill>
                  <a:srgbClr val="5B6878"/>
                </a:solidFill>
              </a:rPr>
              <a:t>Robot rẻ tiền đi zigzag hoặc tới chỗ bẩn gần nhất, lãng phí khi phòng nhiều đồ đạc.</a:t>
            </a:r>
            <a:endParaRPr lang="en-US" sz="16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878"/>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body" hasCustomPrompt="1"/>
          </p:nvPr>
        </p:nvSpPr>
        <p:spPr>
          <a:xfrm>
            <a:off x="768096" y="301752"/>
            <a:ext cx="8229600" cy="310896"/>
          </a:xfrm>
          <a:prstGeom prst="rect">
            <a:avLst/>
          </a:prstGeom>
          <a:noFill/>
          <a:ln/>
        </p:spPr>
        <p:txBody>
          <a:bodyPr wrap="square" lIns="0" tIns="0" rIns="0" bIns="0" rtlCol="0"/>
          <a:lstStyle/>
          <a:p>
            <a:pPr indent="0" marL="0">
              <a:buNone/>
            </a:pPr>
            <a:r>
              <a:rPr lang="en-US" sz="1200" spc="200" kern="0" dirty="0">
                <a:solidFill>
                  <a:srgbClr val="5B6878"/>
                </a:solidFill>
              </a:rPr>
              <a:t>CÂU HỎI NGHIÊN CỨU</a:t>
            </a:r>
            <a:endParaRPr lang="en-US" sz="1200" dirty="0"/>
          </a:p>
        </p:txBody>
      </p:sp>
      <p:sp>
        <p:nvSpPr>
          <p:cNvPr id="3" name="Text 1"/>
          <p:cNvSpPr/>
          <p:nvPr>
            <p:ph idx="102" type="title" hasCustomPrompt="1"/>
          </p:nvPr>
        </p:nvSpPr>
        <p:spPr>
          <a:xfrm>
            <a:off x="548640" y="640080"/>
            <a:ext cx="11094415" cy="731520"/>
          </a:xfrm>
          <a:prstGeom prst="rect">
            <a:avLst/>
          </a:prstGeom>
          <a:noFill/>
          <a:ln/>
        </p:spPr>
        <p:txBody>
          <a:bodyPr wrap="square" lIns="0" tIns="0" rIns="0" bIns="0" rtlCol="0" anchor="t"/>
          <a:lstStyle/>
          <a:p>
            <a:pPr algn="l" indent="0" marL="0">
              <a:buNone/>
            </a:pPr>
            <a:r>
              <a:rPr lang="en-US" sz="2800" b="1" dirty="0">
                <a:solidFill>
                  <a:srgbClr val="1D2733"/>
                </a:solidFill>
                <a:latin typeface="Cambria" pitchFamily="34" charset="0"/>
                <a:ea typeface="Cambria" pitchFamily="34" charset="-122"/>
                <a:cs typeface="Cambria" pitchFamily="34" charset="-120"/>
              </a:rPr>
              <a:t>Robot có tự học được cách dọn tốt hơn cách làm thủ công</a:t>
            </a:r>
            <a:endParaRPr lang="en-US" sz="2800" dirty="0"/>
          </a:p>
        </p:txBody>
      </p:sp>
      <p:sp>
        <p:nvSpPr>
          <p:cNvPr id="5" name="Text 2"/>
          <p:cNvSpPr txBox="1"/>
          <p:nvPr/>
        </p:nvSpPr>
        <p:spPr>
          <a:xfrm>
            <a:off x="548640" y="1691640"/>
            <a:ext cx="11064240" cy="1280160"/>
          </a:xfrm>
          <a:prstGeom prst="rect">
            <a:avLst/>
          </a:prstGeom>
          <a:noFill/>
          <a:ln/>
        </p:spPr>
        <p:txBody>
          <a:bodyPr wrap="square" lIns="0" tIns="0" rIns="0" bIns="0" rtlCol="0" anchor="t"/>
          <a:lstStyle/>
          <a:p>
            <a:pPr indent="0" marL="0">
              <a:buNone/>
            </a:pPr>
            <a:r>
              <a:rPr lang="en-US" sz="2600" i="1" dirty="0">
                <a:solidFill>
                  <a:srgbClr val="1D2733"/>
                </a:solidFill>
                <a:latin typeface="Cambria" pitchFamily="34" charset="0"/>
                <a:ea typeface="Cambria" pitchFamily="34" charset="-122"/>
                <a:cs typeface="Cambria" pitchFamily="34" charset="-120"/>
              </a:rPr>
              <a:t>“Robot có thể tự học một chiến lược dọn kín căn phòng tốt hơn cách làm thủ công — kể cả ở căn phòng nó chưa từng thấy?”</a:t>
            </a:r>
            <a:endParaRPr lang="en-US" sz="2600" dirty="0"/>
          </a:p>
        </p:txBody>
      </p:sp>
      <p:sp>
        <p:nvSpPr>
          <p:cNvPr id="6" name="step 1"/>
          <p:cNvSpPr/>
          <p:nvPr/>
        </p:nvSpPr>
        <p:spPr>
          <a:xfrm>
            <a:off x="548640" y="3429000"/>
            <a:ext cx="3246120" cy="2148840"/>
          </a:xfrm>
          <a:prstGeom prst="roundRect">
            <a:avLst>
              <a:gd name="adj" fmla="val 3404"/>
            </a:avLst>
          </a:prstGeom>
          <a:solidFill>
            <a:srgbClr val="EEF4FA"/>
          </a:solidFill>
          <a:ln w="12700">
            <a:solidFill>
              <a:srgbClr val="EEF4FA"/>
            </a:solidFill>
            <a:prstDash val="solid"/>
          </a:ln>
        </p:spPr>
      </p:sp>
      <p:sp>
        <p:nvSpPr>
          <p:cNvPr id="7" name="Text 4"/>
          <p:cNvSpPr txBox="1"/>
          <p:nvPr/>
        </p:nvSpPr>
        <p:spPr>
          <a:xfrm>
            <a:off x="822960" y="3611880"/>
            <a:ext cx="2743200" cy="457200"/>
          </a:xfrm>
          <a:prstGeom prst="rect">
            <a:avLst/>
          </a:prstGeom>
          <a:noFill/>
          <a:ln/>
        </p:spPr>
        <p:txBody>
          <a:bodyPr wrap="square" lIns="0" tIns="0" rIns="0" bIns="0" rtlCol="0" anchor="t"/>
          <a:lstStyle/>
          <a:p>
            <a:pPr indent="0" marL="0">
              <a:buNone/>
            </a:pPr>
            <a:r>
              <a:rPr lang="en-US" sz="2200" b="1" dirty="0">
                <a:solidFill>
                  <a:srgbClr val="1F6FB2"/>
                </a:solidFill>
              </a:rPr>
              <a:t>Phòng nhỏ</a:t>
            </a:r>
            <a:endParaRPr lang="en-US" sz="2200" dirty="0"/>
          </a:p>
        </p:txBody>
      </p:sp>
      <p:sp>
        <p:nvSpPr>
          <p:cNvPr id="8" name="Text 5"/>
          <p:cNvSpPr txBox="1"/>
          <p:nvPr/>
        </p:nvSpPr>
        <p:spPr>
          <a:xfrm>
            <a:off x="822960" y="4114800"/>
            <a:ext cx="2743200" cy="365760"/>
          </a:xfrm>
          <a:prstGeom prst="rect">
            <a:avLst/>
          </a:prstGeom>
          <a:noFill/>
          <a:ln/>
        </p:spPr>
        <p:txBody>
          <a:bodyPr wrap="square" lIns="0" tIns="0" rIns="0" bIns="0" rtlCol="0" anchor="t"/>
          <a:lstStyle/>
          <a:p>
            <a:pPr indent="0" marL="0">
              <a:buNone/>
            </a:pPr>
            <a:r>
              <a:rPr lang="en-US" sz="1600" dirty="0">
                <a:solidFill>
                  <a:srgbClr val="5B6878"/>
                </a:solidFill>
              </a:rPr>
              <a:t>3×3, 4×4</a:t>
            </a:r>
            <a:endParaRPr lang="en-US" sz="1600" dirty="0"/>
          </a:p>
        </p:txBody>
      </p:sp>
      <p:sp>
        <p:nvSpPr>
          <p:cNvPr id="9" name="Text 6"/>
          <p:cNvSpPr txBox="1"/>
          <p:nvPr/>
        </p:nvSpPr>
        <p:spPr>
          <a:xfrm>
            <a:off x="822960" y="4709160"/>
            <a:ext cx="2743200" cy="640080"/>
          </a:xfrm>
          <a:prstGeom prst="rect">
            <a:avLst/>
          </a:prstGeom>
          <a:noFill/>
          <a:ln/>
        </p:spPr>
        <p:txBody>
          <a:bodyPr wrap="square" lIns="0" tIns="0" rIns="0" bIns="0" rtlCol="0" anchor="t"/>
          <a:lstStyle/>
          <a:p>
            <a:pPr indent="0" marL="0">
              <a:buNone/>
            </a:pPr>
            <a:r>
              <a:rPr lang="en-US" sz="1800" b="1" dirty="0">
                <a:solidFill>
                  <a:srgbClr val="1D2733"/>
                </a:solidFill>
              </a:rPr>
              <a:t>Q-learning dạng bảng</a:t>
            </a:r>
            <a:endParaRPr lang="en-US" sz="1800" dirty="0"/>
          </a:p>
        </p:txBody>
      </p:sp>
      <p:sp>
        <p:nvSpPr>
          <p:cNvPr id="10" name="Shape 7"/>
          <p:cNvSpPr/>
          <p:nvPr/>
        </p:nvSpPr>
        <p:spPr>
          <a:xfrm>
            <a:off x="3858768" y="4343400"/>
            <a:ext cx="438912" cy="329184"/>
          </a:xfrm>
          <a:prstGeom prst="rightArrow">
            <a:avLst/>
          </a:prstGeom>
          <a:solidFill>
            <a:srgbClr val="9E9E9E"/>
          </a:solidFill>
          <a:ln w="12700">
            <a:solidFill>
              <a:srgbClr val="9E9E9E"/>
            </a:solidFill>
            <a:prstDash val="solid"/>
          </a:ln>
        </p:spPr>
      </p:sp>
      <p:sp>
        <p:nvSpPr>
          <p:cNvPr id="11" name="step 2"/>
          <p:cNvSpPr/>
          <p:nvPr/>
        </p:nvSpPr>
        <p:spPr>
          <a:xfrm>
            <a:off x="4343400" y="3429000"/>
            <a:ext cx="3246120" cy="2148840"/>
          </a:xfrm>
          <a:prstGeom prst="roundRect">
            <a:avLst>
              <a:gd name="adj" fmla="val 3404"/>
            </a:avLst>
          </a:prstGeom>
          <a:solidFill>
            <a:srgbClr val="EEF4FA"/>
          </a:solidFill>
          <a:ln w="12700">
            <a:solidFill>
              <a:srgbClr val="EEF4FA"/>
            </a:solidFill>
            <a:prstDash val="solid"/>
          </a:ln>
        </p:spPr>
      </p:sp>
      <p:sp>
        <p:nvSpPr>
          <p:cNvPr id="12" name="Text 9"/>
          <p:cNvSpPr txBox="1"/>
          <p:nvPr/>
        </p:nvSpPr>
        <p:spPr>
          <a:xfrm>
            <a:off x="4617720" y="3611880"/>
            <a:ext cx="2743200" cy="457200"/>
          </a:xfrm>
          <a:prstGeom prst="rect">
            <a:avLst/>
          </a:prstGeom>
          <a:noFill/>
          <a:ln/>
        </p:spPr>
        <p:txBody>
          <a:bodyPr wrap="square" lIns="0" tIns="0" rIns="0" bIns="0" rtlCol="0" anchor="t"/>
          <a:lstStyle/>
          <a:p>
            <a:pPr indent="0" marL="0">
              <a:buNone/>
            </a:pPr>
            <a:r>
              <a:rPr lang="en-US" sz="2200" b="1" dirty="0">
                <a:solidFill>
                  <a:srgbClr val="1F6FB2"/>
                </a:solidFill>
              </a:rPr>
              <a:t>Phòng lớn</a:t>
            </a:r>
            <a:endParaRPr lang="en-US" sz="2200" dirty="0"/>
          </a:p>
        </p:txBody>
      </p:sp>
      <p:sp>
        <p:nvSpPr>
          <p:cNvPr id="13" name="Text 10"/>
          <p:cNvSpPr txBox="1"/>
          <p:nvPr/>
        </p:nvSpPr>
        <p:spPr>
          <a:xfrm>
            <a:off x="4617720" y="4114800"/>
            <a:ext cx="2743200" cy="365760"/>
          </a:xfrm>
          <a:prstGeom prst="rect">
            <a:avLst/>
          </a:prstGeom>
          <a:noFill/>
          <a:ln/>
        </p:spPr>
        <p:txBody>
          <a:bodyPr wrap="square" lIns="0" tIns="0" rIns="0" bIns="0" rtlCol="0" anchor="t"/>
          <a:lstStyle/>
          <a:p>
            <a:pPr indent="0" marL="0">
              <a:buNone/>
            </a:pPr>
            <a:r>
              <a:rPr lang="en-US" sz="1600" dirty="0">
                <a:solidFill>
                  <a:srgbClr val="5B6878"/>
                </a:solidFill>
              </a:rPr>
              <a:t>8×8 có đồ đạc</a:t>
            </a:r>
            <a:endParaRPr lang="en-US" sz="1600" dirty="0"/>
          </a:p>
        </p:txBody>
      </p:sp>
      <p:sp>
        <p:nvSpPr>
          <p:cNvPr id="14" name="Text 11"/>
          <p:cNvSpPr txBox="1"/>
          <p:nvPr/>
        </p:nvSpPr>
        <p:spPr>
          <a:xfrm>
            <a:off x="4617720" y="4709160"/>
            <a:ext cx="2743200" cy="640080"/>
          </a:xfrm>
          <a:prstGeom prst="rect">
            <a:avLst/>
          </a:prstGeom>
          <a:noFill/>
          <a:ln/>
        </p:spPr>
        <p:txBody>
          <a:bodyPr wrap="square" lIns="0" tIns="0" rIns="0" bIns="0" rtlCol="0" anchor="t"/>
          <a:lstStyle/>
          <a:p>
            <a:pPr indent="0" marL="0">
              <a:buNone/>
            </a:pPr>
            <a:r>
              <a:rPr lang="en-US" sz="1800" b="1" dirty="0">
                <a:solidFill>
                  <a:srgbClr val="1D2733"/>
                </a:solidFill>
              </a:rPr>
              <a:t>DQN (Deep Q-learning)</a:t>
            </a:r>
            <a:endParaRPr lang="en-US" sz="1800" dirty="0"/>
          </a:p>
        </p:txBody>
      </p:sp>
      <p:sp>
        <p:nvSpPr>
          <p:cNvPr id="15" name="Shape 12"/>
          <p:cNvSpPr/>
          <p:nvPr/>
        </p:nvSpPr>
        <p:spPr>
          <a:xfrm>
            <a:off x="7653528" y="4343400"/>
            <a:ext cx="438912" cy="329184"/>
          </a:xfrm>
          <a:prstGeom prst="rightArrow">
            <a:avLst/>
          </a:prstGeom>
          <a:solidFill>
            <a:srgbClr val="9E9E9E"/>
          </a:solidFill>
          <a:ln w="12700">
            <a:solidFill>
              <a:srgbClr val="9E9E9E"/>
            </a:solidFill>
            <a:prstDash val="solid"/>
          </a:ln>
        </p:spPr>
      </p:sp>
      <p:sp>
        <p:nvSpPr>
          <p:cNvPr id="16" name="step 3"/>
          <p:cNvSpPr/>
          <p:nvPr/>
        </p:nvSpPr>
        <p:spPr>
          <a:xfrm>
            <a:off x="8138160" y="3429000"/>
            <a:ext cx="3246120" cy="2148840"/>
          </a:xfrm>
          <a:prstGeom prst="roundRect">
            <a:avLst>
              <a:gd name="adj" fmla="val 3404"/>
            </a:avLst>
          </a:prstGeom>
          <a:solidFill>
            <a:srgbClr val="EEF4FA"/>
          </a:solidFill>
          <a:ln w="12700">
            <a:solidFill>
              <a:srgbClr val="EEF4FA"/>
            </a:solidFill>
            <a:prstDash val="solid"/>
          </a:ln>
        </p:spPr>
      </p:sp>
      <p:sp>
        <p:nvSpPr>
          <p:cNvPr id="17" name="Text 14"/>
          <p:cNvSpPr txBox="1"/>
          <p:nvPr/>
        </p:nvSpPr>
        <p:spPr>
          <a:xfrm>
            <a:off x="8412480" y="3611880"/>
            <a:ext cx="2743200" cy="457200"/>
          </a:xfrm>
          <a:prstGeom prst="rect">
            <a:avLst/>
          </a:prstGeom>
          <a:noFill/>
          <a:ln/>
        </p:spPr>
        <p:txBody>
          <a:bodyPr wrap="square" lIns="0" tIns="0" rIns="0" bIns="0" rtlCol="0" anchor="t"/>
          <a:lstStyle/>
          <a:p>
            <a:pPr indent="0" marL="0">
              <a:buNone/>
            </a:pPr>
            <a:r>
              <a:rPr lang="en-US" sz="2200" b="1" dirty="0">
                <a:solidFill>
                  <a:srgbClr val="1F6FB2"/>
                </a:solidFill>
              </a:rPr>
              <a:t>Phòng lạ</a:t>
            </a:r>
            <a:endParaRPr lang="en-US" sz="2200" dirty="0"/>
          </a:p>
        </p:txBody>
      </p:sp>
      <p:sp>
        <p:nvSpPr>
          <p:cNvPr id="18" name="Text 15"/>
          <p:cNvSpPr txBox="1"/>
          <p:nvPr/>
        </p:nvSpPr>
        <p:spPr>
          <a:xfrm>
            <a:off x="8412480" y="4114800"/>
            <a:ext cx="2743200" cy="365760"/>
          </a:xfrm>
          <a:prstGeom prst="rect">
            <a:avLst/>
          </a:prstGeom>
          <a:noFill/>
          <a:ln/>
        </p:spPr>
        <p:txBody>
          <a:bodyPr wrap="square" lIns="0" tIns="0" rIns="0" bIns="0" rtlCol="0" anchor="t"/>
          <a:lstStyle/>
          <a:p>
            <a:pPr indent="0" marL="0">
              <a:buNone/>
            </a:pPr>
            <a:r>
              <a:rPr lang="en-US" sz="1600" dirty="0">
                <a:solidFill>
                  <a:srgbClr val="5B6878"/>
                </a:solidFill>
              </a:rPr>
              <a:t>chưa từng thấy</a:t>
            </a:r>
            <a:endParaRPr lang="en-US" sz="1600" dirty="0"/>
          </a:p>
        </p:txBody>
      </p:sp>
      <p:sp>
        <p:nvSpPr>
          <p:cNvPr id="19" name="Text 16"/>
          <p:cNvSpPr txBox="1"/>
          <p:nvPr/>
        </p:nvSpPr>
        <p:spPr>
          <a:xfrm>
            <a:off x="8412480" y="4709160"/>
            <a:ext cx="2743200" cy="640080"/>
          </a:xfrm>
          <a:prstGeom prst="rect">
            <a:avLst/>
          </a:prstGeom>
          <a:noFill/>
          <a:ln/>
        </p:spPr>
        <p:txBody>
          <a:bodyPr wrap="square" lIns="0" tIns="0" rIns="0" bIns="0" rtlCol="0" anchor="t"/>
          <a:lstStyle/>
          <a:p>
            <a:pPr indent="0" marL="0">
              <a:buNone/>
            </a:pPr>
            <a:r>
              <a:rPr lang="en-US" sz="1800" b="1" dirty="0">
                <a:solidFill>
                  <a:srgbClr val="1D2733"/>
                </a:solidFill>
              </a:rPr>
              <a:t>DQN v4 + 3 cải tiến</a:t>
            </a:r>
            <a:endParaRPr lang="en-US" sz="18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878"/>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body" hasCustomPrompt="1"/>
          </p:nvPr>
        </p:nvSpPr>
        <p:spPr>
          <a:xfrm>
            <a:off x="768096" y="301752"/>
            <a:ext cx="8229600" cy="310896"/>
          </a:xfrm>
          <a:prstGeom prst="rect">
            <a:avLst/>
          </a:prstGeom>
          <a:noFill/>
          <a:ln/>
        </p:spPr>
        <p:txBody>
          <a:bodyPr wrap="square" lIns="0" tIns="0" rIns="0" bIns="0" rtlCol="0"/>
          <a:lstStyle/>
          <a:p>
            <a:pPr indent="0" marL="0">
              <a:buNone/>
            </a:pPr>
            <a:r>
              <a:rPr lang="en-US" sz="1200" spc="200" kern="0" dirty="0">
                <a:solidFill>
                  <a:srgbClr val="5B6878"/>
                </a:solidFill>
              </a:rPr>
              <a:t>MÔI TRƯỜNG MÔ PHỎNG</a:t>
            </a:r>
            <a:endParaRPr lang="en-US" sz="1200" dirty="0"/>
          </a:p>
        </p:txBody>
      </p:sp>
      <p:sp>
        <p:nvSpPr>
          <p:cNvPr id="3" name="Text 1"/>
          <p:cNvSpPr/>
          <p:nvPr>
            <p:ph idx="102" type="title" hasCustomPrompt="1"/>
          </p:nvPr>
        </p:nvSpPr>
        <p:spPr>
          <a:xfrm>
            <a:off x="548640" y="640080"/>
            <a:ext cx="11094415" cy="731520"/>
          </a:xfrm>
          <a:prstGeom prst="rect">
            <a:avLst/>
          </a:prstGeom>
          <a:noFill/>
          <a:ln/>
        </p:spPr>
        <p:txBody>
          <a:bodyPr wrap="square" lIns="0" tIns="0" rIns="0" bIns="0" rtlCol="0" anchor="t"/>
          <a:lstStyle/>
          <a:p>
            <a:pPr algn="l" indent="0" marL="0">
              <a:buNone/>
            </a:pPr>
            <a:r>
              <a:rPr lang="en-US" sz="2800" b="1" dirty="0">
                <a:solidFill>
                  <a:srgbClr val="1D2733"/>
                </a:solidFill>
                <a:latin typeface="Cambria" pitchFamily="34" charset="0"/>
                <a:ea typeface="Cambria" pitchFamily="34" charset="-122"/>
                <a:cs typeface="Cambria" pitchFamily="34" charset="-120"/>
              </a:rPr>
              <a:t>Căn phòng là một lưới ô, robot đi từng bước</a:t>
            </a:r>
            <a:endParaRPr lang="en-US" sz="2800" dirty="0"/>
          </a:p>
        </p:txBody>
      </p:sp>
      <p:sp>
        <p:nvSpPr>
          <p:cNvPr id="5" name="image card"/>
          <p:cNvSpPr/>
          <p:nvPr/>
        </p:nvSpPr>
        <p:spPr>
          <a:xfrm>
            <a:off x="548640" y="1600200"/>
            <a:ext cx="3840480" cy="4526280"/>
          </a:xfrm>
          <a:prstGeom prst="roundRect">
            <a:avLst>
              <a:gd name="adj" fmla="val 1905"/>
            </a:avLst>
          </a:prstGeom>
          <a:solidFill>
            <a:srgbClr val="EEF4FA"/>
          </a:solidFill>
          <a:ln w="12700">
            <a:solidFill>
              <a:srgbClr val="EEF4FA"/>
            </a:solidFill>
            <a:prstDash val="solid"/>
          </a:ln>
        </p:spPr>
      </p:sp>
      <p:pic>
        <p:nvPicPr>
          <p:cNvPr id="6" name="room_4x4_optimal.png" descr="Đường đi tối ưu trên phòng 4x4 có vật cản">    </p:cNvPr>
          <p:cNvPicPr>
            <a:picLocks noChangeAspect="1"/>
          </p:cNvPicPr>
          <p:nvPr/>
        </p:nvPicPr>
        <p:blipFill>
          <a:blip r:embed="rId1"/>
          <a:stretch>
            <a:fillRect/>
          </a:stretch>
        </p:blipFill>
        <p:spPr>
          <a:xfrm>
            <a:off x="989584" y="1783080"/>
            <a:ext cx="2958592" cy="4160520"/>
          </a:xfrm>
          <a:prstGeom prst="rect">
            <a:avLst/>
          </a:prstGeom>
        </p:spPr>
      </p:pic>
      <p:sp>
        <p:nvSpPr>
          <p:cNvPr id="7" name="Shape 3"/>
          <p:cNvSpPr/>
          <p:nvPr/>
        </p:nvSpPr>
        <p:spPr>
          <a:xfrm>
            <a:off x="4892040" y="1837944"/>
            <a:ext cx="256032" cy="256032"/>
          </a:xfrm>
          <a:prstGeom prst="rect">
            <a:avLst/>
          </a:prstGeom>
          <a:solidFill>
            <a:srgbClr val="F0F0F0"/>
          </a:solidFill>
          <a:ln w="9525">
            <a:solidFill>
              <a:srgbClr val="D5DEE8"/>
            </a:solidFill>
            <a:prstDash val="solid"/>
          </a:ln>
        </p:spPr>
      </p:sp>
      <p:sp>
        <p:nvSpPr>
          <p:cNvPr id="8" name="Text 4"/>
          <p:cNvSpPr txBox="1"/>
          <p:nvPr/>
        </p:nvSpPr>
        <p:spPr>
          <a:xfrm>
            <a:off x="5303520" y="1783080"/>
            <a:ext cx="2743200" cy="365760"/>
          </a:xfrm>
          <a:prstGeom prst="rect">
            <a:avLst/>
          </a:prstGeom>
          <a:noFill/>
          <a:ln/>
        </p:spPr>
        <p:txBody>
          <a:bodyPr wrap="square" lIns="0" tIns="0" rIns="0" bIns="0" rtlCol="0" anchor="t"/>
          <a:lstStyle/>
          <a:p>
            <a:pPr indent="0" marL="0">
              <a:buNone/>
            </a:pPr>
            <a:r>
              <a:rPr lang="en-US" sz="1700" dirty="0">
                <a:solidFill>
                  <a:srgbClr val="1D2733"/>
                </a:solidFill>
              </a:rPr>
              <a:t>Sàn chưa dọn</a:t>
            </a:r>
            <a:endParaRPr lang="en-US" sz="1700" dirty="0"/>
          </a:p>
        </p:txBody>
      </p:sp>
      <p:sp>
        <p:nvSpPr>
          <p:cNvPr id="9" name="Shape 5"/>
          <p:cNvSpPr/>
          <p:nvPr/>
        </p:nvSpPr>
        <p:spPr>
          <a:xfrm>
            <a:off x="4892040" y="2295144"/>
            <a:ext cx="256032" cy="256032"/>
          </a:xfrm>
          <a:prstGeom prst="rect">
            <a:avLst/>
          </a:prstGeom>
          <a:solidFill>
            <a:srgbClr val="A0D2FF"/>
          </a:solidFill>
          <a:ln w="9525">
            <a:solidFill>
              <a:srgbClr val="D5DEE8"/>
            </a:solidFill>
            <a:prstDash val="solid"/>
          </a:ln>
        </p:spPr>
      </p:sp>
      <p:sp>
        <p:nvSpPr>
          <p:cNvPr id="10" name="Text 6"/>
          <p:cNvSpPr txBox="1"/>
          <p:nvPr/>
        </p:nvSpPr>
        <p:spPr>
          <a:xfrm>
            <a:off x="5303520" y="2240280"/>
            <a:ext cx="2743200" cy="365760"/>
          </a:xfrm>
          <a:prstGeom prst="rect">
            <a:avLst/>
          </a:prstGeom>
          <a:noFill/>
          <a:ln/>
        </p:spPr>
        <p:txBody>
          <a:bodyPr wrap="square" lIns="0" tIns="0" rIns="0" bIns="0" rtlCol="0" anchor="t"/>
          <a:lstStyle/>
          <a:p>
            <a:pPr indent="0" marL="0">
              <a:buNone/>
            </a:pPr>
            <a:r>
              <a:rPr lang="en-US" sz="1700" dirty="0">
                <a:solidFill>
                  <a:srgbClr val="1D2733"/>
                </a:solidFill>
              </a:rPr>
              <a:t>Đã dọn</a:t>
            </a:r>
            <a:endParaRPr lang="en-US" sz="1700" dirty="0"/>
          </a:p>
        </p:txBody>
      </p:sp>
      <p:sp>
        <p:nvSpPr>
          <p:cNvPr id="11" name="Shape 7"/>
          <p:cNvSpPr/>
          <p:nvPr/>
        </p:nvSpPr>
        <p:spPr>
          <a:xfrm>
            <a:off x="4892040" y="2752344"/>
            <a:ext cx="256032" cy="256032"/>
          </a:xfrm>
          <a:prstGeom prst="rect">
            <a:avLst/>
          </a:prstGeom>
          <a:solidFill>
            <a:srgbClr val="1D2733"/>
          </a:solidFill>
          <a:ln w="9525">
            <a:solidFill>
              <a:srgbClr val="D5DEE8"/>
            </a:solidFill>
            <a:prstDash val="solid"/>
          </a:ln>
        </p:spPr>
      </p:sp>
      <p:sp>
        <p:nvSpPr>
          <p:cNvPr id="12" name="Text 8"/>
          <p:cNvSpPr txBox="1"/>
          <p:nvPr/>
        </p:nvSpPr>
        <p:spPr>
          <a:xfrm>
            <a:off x="5303520" y="2697480"/>
            <a:ext cx="2743200" cy="365760"/>
          </a:xfrm>
          <a:prstGeom prst="rect">
            <a:avLst/>
          </a:prstGeom>
          <a:noFill/>
          <a:ln/>
        </p:spPr>
        <p:txBody>
          <a:bodyPr wrap="square" lIns="0" tIns="0" rIns="0" bIns="0" rtlCol="0" anchor="t"/>
          <a:lstStyle/>
          <a:p>
            <a:pPr indent="0" marL="0">
              <a:buNone/>
            </a:pPr>
            <a:r>
              <a:rPr lang="en-US" sz="1700" dirty="0">
                <a:solidFill>
                  <a:srgbClr val="1D2733"/>
                </a:solidFill>
              </a:rPr>
              <a:t>Đồ đạc, tường</a:t>
            </a:r>
            <a:endParaRPr lang="en-US" sz="1700" dirty="0"/>
          </a:p>
        </p:txBody>
      </p:sp>
      <p:sp>
        <p:nvSpPr>
          <p:cNvPr id="13" name="Shape 9"/>
          <p:cNvSpPr/>
          <p:nvPr/>
        </p:nvSpPr>
        <p:spPr>
          <a:xfrm>
            <a:off x="4892040" y="3209544"/>
            <a:ext cx="256032" cy="256032"/>
          </a:xfrm>
          <a:prstGeom prst="rect">
            <a:avLst/>
          </a:prstGeom>
          <a:solidFill>
            <a:srgbClr val="C8322F"/>
          </a:solidFill>
          <a:ln w="9525">
            <a:solidFill>
              <a:srgbClr val="D5DEE8"/>
            </a:solidFill>
            <a:prstDash val="solid"/>
          </a:ln>
        </p:spPr>
      </p:sp>
      <p:sp>
        <p:nvSpPr>
          <p:cNvPr id="14" name="Text 10"/>
          <p:cNvSpPr txBox="1"/>
          <p:nvPr/>
        </p:nvSpPr>
        <p:spPr>
          <a:xfrm>
            <a:off x="5303520" y="3154680"/>
            <a:ext cx="2743200" cy="365760"/>
          </a:xfrm>
          <a:prstGeom prst="rect">
            <a:avLst/>
          </a:prstGeom>
          <a:noFill/>
          <a:ln/>
        </p:spPr>
        <p:txBody>
          <a:bodyPr wrap="square" lIns="0" tIns="0" rIns="0" bIns="0" rtlCol="0" anchor="t"/>
          <a:lstStyle/>
          <a:p>
            <a:pPr indent="0" marL="0">
              <a:buNone/>
            </a:pPr>
            <a:r>
              <a:rPr lang="en-US" sz="1700" dirty="0">
                <a:solidFill>
                  <a:srgbClr val="1D2733"/>
                </a:solidFill>
              </a:rPr>
              <a:t>Robot</a:t>
            </a:r>
            <a:endParaRPr lang="en-US" sz="1700" dirty="0"/>
          </a:p>
        </p:txBody>
      </p:sp>
      <p:sp>
        <p:nvSpPr>
          <p:cNvPr id="15" name="Text 11"/>
          <p:cNvSpPr txBox="1"/>
          <p:nvPr/>
        </p:nvSpPr>
        <p:spPr>
          <a:xfrm>
            <a:off x="4892040" y="3794760"/>
            <a:ext cx="6675120" cy="2377440"/>
          </a:xfrm>
          <a:prstGeom prst="rect">
            <a:avLst/>
          </a:prstGeom>
          <a:noFill/>
          <a:ln/>
        </p:spPr>
        <p:txBody>
          <a:bodyPr wrap="square" lIns="0" tIns="0" rIns="0" bIns="0" rtlCol="0" anchor="t"/>
          <a:lstStyle/>
          <a:p>
            <a:pPr marL="228600" indent="-228600">
              <a:spcAft>
                <a:spcPts val="1000"/>
              </a:spcAft>
              <a:buSzPct val="100000"/>
              <a:buChar char="•"/>
            </a:pPr>
            <a:r>
              <a:rPr lang="en-US" sz="1700" dirty="0">
                <a:solidFill>
                  <a:srgbClr val="1D2733"/>
                </a:solidFill>
              </a:rPr>
              <a:t>Lưới H×W: 0 = sàn, 1 = đồ đạc; bản đồ ngẫu nhiên luôn dọn hết được</a:t>
            </a:r>
            <a:endParaRPr lang="en-US" sz="1700" dirty="0"/>
          </a:p>
          <a:p>
            <a:pPr marL="228600" indent="-228600">
              <a:spcAft>
                <a:spcPts val="1000"/>
              </a:spcAft>
              <a:buSzPct val="100000"/>
              <a:buChar char="•"/>
            </a:pPr>
            <a:r>
              <a:rPr lang="en-US" sz="1700" dirty="0">
                <a:solidFill>
                  <a:srgbClr val="1D2733"/>
                </a:solidFill>
              </a:rPr>
              <a:t>Mỗi bước: lên, xuống, trái, phải một ô; đụng tường thì đứng yên</a:t>
            </a:r>
            <a:endParaRPr lang="en-US" sz="1700" dirty="0"/>
          </a:p>
          <a:p>
            <a:pPr marL="228600" indent="-228600">
              <a:spcAft>
                <a:spcPts val="1000"/>
              </a:spcAft>
              <a:buSzPct val="100000"/>
              <a:buChar char="•"/>
            </a:pPr>
            <a:r>
              <a:rPr lang="en-US" sz="1700" dirty="0">
                <a:solidFill>
                  <a:srgbClr val="1D2733"/>
                </a:solidFill>
              </a:rPr>
              <a:t>Tự viết theo chuẩn Gymnasium, qua bộ kiểm tra check_env</a:t>
            </a:r>
            <a:endParaRPr lang="en-US" sz="1700" dirty="0"/>
          </a:p>
          <a:p>
            <a:pPr marL="228600" indent="-228600">
              <a:spcAft>
                <a:spcPts val="1000"/>
              </a:spcAft>
              <a:buSzPct val="100000"/>
              <a:buChar char="•"/>
            </a:pPr>
            <a:r>
              <a:rPr lang="en-US" sz="1700" dirty="0">
                <a:solidFill>
                  <a:srgbClr val="1D2733"/>
                </a:solidFill>
              </a:rPr>
              <a:t>Một hàm transition() dùng chung cho môi trường và đáp án tối ưu</a:t>
            </a:r>
            <a:endParaRPr lang="en-US" sz="1700" dirty="0"/>
          </a:p>
        </p:txBody>
      </p:sp>
      <p:sp>
        <p:nvSpPr>
          <p:cNvPr id="16" name="Text 12"/>
          <p:cNvSpPr txBox="1"/>
          <p:nvPr/>
        </p:nvSpPr>
        <p:spPr>
          <a:xfrm>
            <a:off x="548640" y="6144768"/>
            <a:ext cx="5486400" cy="274320"/>
          </a:xfrm>
          <a:prstGeom prst="rect">
            <a:avLst/>
          </a:prstGeom>
          <a:noFill/>
          <a:ln/>
        </p:spPr>
        <p:txBody>
          <a:bodyPr wrap="square" lIns="0" tIns="0" rIns="0" bIns="0" rtlCol="0" anchor="t"/>
          <a:lstStyle/>
          <a:p>
            <a:pPr indent="0" marL="0">
              <a:buNone/>
            </a:pPr>
            <a:r>
              <a:rPr lang="en-US" sz="1200" i="1" dirty="0">
                <a:solidFill>
                  <a:srgbClr val="5B6878"/>
                </a:solidFill>
              </a:rPr>
              <a:t>Hình: đường đi tối ưu (Value Iteration) trên phòng 4×4 có vật cản — 13 bước</a:t>
            </a:r>
            <a:endParaRPr lang="en-US" sz="12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878"/>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body" hasCustomPrompt="1"/>
          </p:nvPr>
        </p:nvSpPr>
        <p:spPr>
          <a:xfrm>
            <a:off x="768096" y="301752"/>
            <a:ext cx="8229600" cy="310896"/>
          </a:xfrm>
          <a:prstGeom prst="rect">
            <a:avLst/>
          </a:prstGeom>
          <a:noFill/>
          <a:ln/>
        </p:spPr>
        <p:txBody>
          <a:bodyPr wrap="square" lIns="0" tIns="0" rIns="0" bIns="0" rtlCol="0"/>
          <a:lstStyle/>
          <a:p>
            <a:pPr indent="0" marL="0">
              <a:buNone/>
            </a:pPr>
            <a:r>
              <a:rPr lang="en-US" sz="1200" spc="200" kern="0" dirty="0">
                <a:solidFill>
                  <a:srgbClr val="5B6878"/>
                </a:solidFill>
              </a:rPr>
              <a:t>QUÁ TRÌNH QUYẾT ĐỊNH MARKOV</a:t>
            </a:r>
            <a:endParaRPr lang="en-US" sz="1200" dirty="0"/>
          </a:p>
        </p:txBody>
      </p:sp>
      <p:sp>
        <p:nvSpPr>
          <p:cNvPr id="3" name="Text 1"/>
          <p:cNvSpPr/>
          <p:nvPr>
            <p:ph idx="102" type="title" hasCustomPrompt="1"/>
          </p:nvPr>
        </p:nvSpPr>
        <p:spPr>
          <a:xfrm>
            <a:off x="548640" y="640080"/>
            <a:ext cx="11094415" cy="731520"/>
          </a:xfrm>
          <a:prstGeom prst="rect">
            <a:avLst/>
          </a:prstGeom>
          <a:noFill/>
          <a:ln/>
        </p:spPr>
        <p:txBody>
          <a:bodyPr wrap="square" lIns="0" tIns="0" rIns="0" bIns="0" rtlCol="0" anchor="t"/>
          <a:lstStyle/>
          <a:p>
            <a:pPr algn="l" indent="0" marL="0">
              <a:buNone/>
            </a:pPr>
            <a:r>
              <a:rPr lang="en-US" sz="2800" b="1" dirty="0">
                <a:solidFill>
                  <a:srgbClr val="1D2733"/>
                </a:solidFill>
                <a:latin typeface="Cambria" pitchFamily="34" charset="0"/>
                <a:ea typeface="Cambria" pitchFamily="34" charset="-122"/>
                <a:cs typeface="Cambria" pitchFamily="34" charset="-120"/>
              </a:rPr>
              <a:t>Bài toán được định hình thành một MDP rõ ràng</a:t>
            </a:r>
            <a:endParaRPr lang="en-US" sz="28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7589520" cy="914400"/>
        </p:xfrm>
        <a:graphic>
          <a:graphicData uri="http://schemas.openxmlformats.org/drawingml/2006/table">
            <a:tbl>
              <a:tblPr/>
              <a:tblGrid>
                <a:gridCol w="1920240"/>
                <a:gridCol w="5669280"/>
              </a:tblGrid>
              <a:tr h="566928">
                <a:tc>
                  <a:txBody>
                    <a:bodyPr/>
                    <a:lstStyle/>
                    <a:p>
                      <a:pPr indent="0" marL="0">
                        <a:buNone/>
                      </a:pPr>
                      <a:r>
                        <a:rPr lang="en-US" sz="1500" b="1" dirty="0">
                          <a:solidFill>
                            <a:srgbClr val="1D2733"/>
                          </a:solidFill>
                          <a:latin typeface="Calibri" pitchFamily="34" charset="0"/>
                          <a:ea typeface="Calibri" pitchFamily="34" charset="-122"/>
                          <a:cs typeface="Calibri" pitchFamily="34" charset="-120"/>
                        </a:rPr>
                        <a:t>Thành phần</a:t>
                      </a:r>
                      <a:endParaRPr lang="en-US" sz="1500" dirty="0">
                        <a:latin typeface="Calibri" charset="0"/>
                        <a:ea typeface="Calibri" charset="0"/>
                        <a:cs typeface="Calibri" charset="0"/>
                      </a:endParaRPr>
                    </a:p>
                  </a:txBody>
                  <a:tcPr marL="101600" marR="101600" marT="50800" marB="508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rgbClr val="EEF4FA"/>
                    </a:solidFill>
                  </a:tcPr>
                </a:tc>
                <a:tc>
                  <a:txBody>
                    <a:bodyPr/>
                    <a:lstStyle/>
                    <a:p>
                      <a:pPr indent="0" marL="0">
                        <a:buNone/>
                      </a:pPr>
                      <a:r>
                        <a:rPr lang="en-US" sz="1500" b="1" dirty="0">
                          <a:solidFill>
                            <a:srgbClr val="1D2733"/>
                          </a:solidFill>
                          <a:latin typeface="Calibri" pitchFamily="34" charset="0"/>
                          <a:ea typeface="Calibri" pitchFamily="34" charset="-122"/>
                          <a:cs typeface="Calibri" pitchFamily="34" charset="-120"/>
                        </a:rPr>
                        <a:t>Định nghĩa trong dự án</a:t>
                      </a:r>
                      <a:endParaRPr lang="en-US" sz="1500" dirty="0">
                        <a:latin typeface="Calibri" charset="0"/>
                        <a:ea typeface="Calibri" charset="0"/>
                        <a:cs typeface="Calibri" charset="0"/>
                      </a:endParaRPr>
                    </a:p>
                  </a:txBody>
                  <a:tcPr marL="101600" marR="101600" marT="50800" marB="508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rgbClr val="EEF4FA"/>
                    </a:solidFill>
                  </a:tcPr>
                </a:tc>
              </a:tr>
              <a:tr h="566928">
                <a:tc>
                  <a:txBody>
                    <a:bodyPr/>
                    <a:lstStyle/>
                    <a:p>
                      <a:pPr indent="0" marL="0">
                        <a:buNone/>
                      </a:pPr>
                      <a:r>
                        <a:rPr lang="en-US" sz="1500" dirty="0">
                          <a:solidFill>
                            <a:srgbClr val="1D2733"/>
                          </a:solidFill>
                          <a:latin typeface="Calibri" pitchFamily="34" charset="0"/>
                          <a:ea typeface="Calibri" pitchFamily="34" charset="-122"/>
                          <a:cs typeface="Calibri" pitchFamily="34" charset="-120"/>
                        </a:rPr>
                        <a:t>Trạng thái</a:t>
                      </a:r>
                      <a:endParaRPr lang="en-US" sz="1500" dirty="0">
                        <a:latin typeface="Calibri" charset="0"/>
                        <a:ea typeface="Calibri" charset="0"/>
                        <a:cs typeface="Calibri" charset="0"/>
                      </a:endParaRPr>
                    </a:p>
                  </a:txBody>
                  <a:tcPr marL="101600" marR="101600" marT="50800" marB="508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indent="0" marL="0">
                        <a:buNone/>
                      </a:pPr>
                      <a:r>
                        <a:rPr lang="en-US" sz="1500" dirty="0">
                          <a:solidFill>
                            <a:srgbClr val="1D2733"/>
                          </a:solidFill>
                          <a:latin typeface="Calibri" pitchFamily="34" charset="0"/>
                          <a:ea typeface="Calibri" pitchFamily="34" charset="-122"/>
                          <a:cs typeface="Calibri" pitchFamily="34" charset="-120"/>
                        </a:rPr>
                        <a:t>vị trí robot + tập ô đã dọn + bản đồ vật cản</a:t>
                      </a:r>
                      <a:endParaRPr lang="en-US" sz="1500" dirty="0">
                        <a:latin typeface="Calibri" charset="0"/>
                        <a:ea typeface="Calibri" charset="0"/>
                        <a:cs typeface="Calibri" charset="0"/>
                      </a:endParaRPr>
                    </a:p>
                  </a:txBody>
                  <a:tcPr marL="101600" marR="101600" marT="50800" marB="508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r>
              <a:tr h="566928">
                <a:tc>
                  <a:txBody>
                    <a:bodyPr/>
                    <a:lstStyle/>
                    <a:p>
                      <a:pPr indent="0" marL="0">
                        <a:buNone/>
                      </a:pPr>
                      <a:r>
                        <a:rPr lang="en-US" sz="1500" dirty="0">
                          <a:solidFill>
                            <a:srgbClr val="1D2733"/>
                          </a:solidFill>
                          <a:latin typeface="Calibri" pitchFamily="34" charset="0"/>
                          <a:ea typeface="Calibri" pitchFamily="34" charset="-122"/>
                          <a:cs typeface="Calibri" pitchFamily="34" charset="-120"/>
                        </a:rPr>
                        <a:t>Hành động</a:t>
                      </a:r>
                      <a:endParaRPr lang="en-US" sz="1500" dirty="0">
                        <a:latin typeface="Calibri" charset="0"/>
                        <a:ea typeface="Calibri" charset="0"/>
                        <a:cs typeface="Calibri" charset="0"/>
                      </a:endParaRPr>
                    </a:p>
                  </a:txBody>
                  <a:tcPr marL="101600" marR="101600" marT="50800" marB="508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indent="0" marL="0">
                        <a:buNone/>
                      </a:pPr>
                      <a:r>
                        <a:rPr lang="en-US" sz="1500" dirty="0">
                          <a:solidFill>
                            <a:srgbClr val="1D2733"/>
                          </a:solidFill>
                          <a:latin typeface="Calibri" pitchFamily="34" charset="0"/>
                          <a:ea typeface="Calibri" pitchFamily="34" charset="-122"/>
                          <a:cs typeface="Calibri" pitchFamily="34" charset="-120"/>
                        </a:rPr>
                        <a:t>lên, xuống, trái, phải</a:t>
                      </a:r>
                      <a:endParaRPr lang="en-US" sz="1500" dirty="0">
                        <a:latin typeface="Calibri" charset="0"/>
                        <a:ea typeface="Calibri" charset="0"/>
                        <a:cs typeface="Calibri" charset="0"/>
                      </a:endParaRPr>
                    </a:p>
                  </a:txBody>
                  <a:tcPr marL="101600" marR="101600" marT="50800" marB="508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r>
              <a:tr h="566928">
                <a:tc>
                  <a:txBody>
                    <a:bodyPr/>
                    <a:lstStyle/>
                    <a:p>
                      <a:pPr indent="0" marL="0">
                        <a:buNone/>
                      </a:pPr>
                      <a:r>
                        <a:rPr lang="en-US" sz="1500" dirty="0">
                          <a:solidFill>
                            <a:srgbClr val="1D2733"/>
                          </a:solidFill>
                          <a:latin typeface="Calibri" pitchFamily="34" charset="0"/>
                          <a:ea typeface="Calibri" pitchFamily="34" charset="-122"/>
                          <a:cs typeface="Calibri" pitchFamily="34" charset="-120"/>
                        </a:rPr>
                        <a:t>Phần thưởng</a:t>
                      </a:r>
                      <a:endParaRPr lang="en-US" sz="1500" dirty="0">
                        <a:latin typeface="Calibri" charset="0"/>
                        <a:ea typeface="Calibri" charset="0"/>
                        <a:cs typeface="Calibri" charset="0"/>
                      </a:endParaRPr>
                    </a:p>
                  </a:txBody>
                  <a:tcPr marL="101600" marR="101600" marT="50800" marB="508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indent="0" marL="0">
                        <a:buNone/>
                      </a:pPr>
                      <a:r>
                        <a:rPr lang="en-US" sz="1500" dirty="0">
                          <a:solidFill>
                            <a:srgbClr val="1D2733"/>
                          </a:solidFill>
                          <a:latin typeface="Calibri" pitchFamily="34" charset="0"/>
                          <a:ea typeface="Calibri" pitchFamily="34" charset="-122"/>
                          <a:cs typeface="Calibri" pitchFamily="34" charset="-120"/>
                        </a:rPr>
                        <a:t>ô mới +1 · ô cũ −0,1 · đụng tường −0,5 · mỗi bước −0,01 · dọn xong +10</a:t>
                      </a:r>
                      <a:endParaRPr lang="en-US" sz="1500" dirty="0">
                        <a:latin typeface="Calibri" charset="0"/>
                        <a:ea typeface="Calibri" charset="0"/>
                        <a:cs typeface="Calibri" charset="0"/>
                      </a:endParaRPr>
                    </a:p>
                  </a:txBody>
                  <a:tcPr marL="101600" marR="101600" marT="50800" marB="508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r>
              <a:tr h="566928">
                <a:tc>
                  <a:txBody>
                    <a:bodyPr/>
                    <a:lstStyle/>
                    <a:p>
                      <a:pPr indent="0" marL="0">
                        <a:buNone/>
                      </a:pPr>
                      <a:r>
                        <a:rPr lang="en-US" sz="1500" dirty="0">
                          <a:solidFill>
                            <a:srgbClr val="1D2733"/>
                          </a:solidFill>
                          <a:latin typeface="Calibri" pitchFamily="34" charset="0"/>
                          <a:ea typeface="Calibri" pitchFamily="34" charset="-122"/>
                          <a:cs typeface="Calibri" pitchFamily="34" charset="-120"/>
                        </a:rPr>
                        <a:t>Kết thúc</a:t>
                      </a:r>
                      <a:endParaRPr lang="en-US" sz="1500" dirty="0">
                        <a:latin typeface="Calibri" charset="0"/>
                        <a:ea typeface="Calibri" charset="0"/>
                        <a:cs typeface="Calibri" charset="0"/>
                      </a:endParaRPr>
                    </a:p>
                  </a:txBody>
                  <a:tcPr marL="101600" marR="101600" marT="50800" marB="508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indent="0" marL="0">
                        <a:buNone/>
                      </a:pPr>
                      <a:r>
                        <a:rPr lang="en-US" sz="1500" dirty="0">
                          <a:solidFill>
                            <a:srgbClr val="1D2733"/>
                          </a:solidFill>
                          <a:latin typeface="Calibri" pitchFamily="34" charset="0"/>
                          <a:ea typeface="Calibri" pitchFamily="34" charset="-122"/>
                          <a:cs typeface="Calibri" pitchFamily="34" charset="-120"/>
                        </a:rPr>
                        <a:t>terminated: dọn hết · truncated: quá 4·|F| bước (hết pin)</a:t>
                      </a:r>
                      <a:endParaRPr lang="en-US" sz="1500" dirty="0">
                        <a:latin typeface="Calibri" charset="0"/>
                        <a:ea typeface="Calibri" charset="0"/>
                        <a:cs typeface="Calibri" charset="0"/>
                      </a:endParaRPr>
                    </a:p>
                  </a:txBody>
                  <a:tcPr marL="101600" marR="101600" marT="50800" marB="508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r>
              <a:tr h="566928">
                <a:tc>
                  <a:txBody>
                    <a:bodyPr/>
                    <a:lstStyle/>
                    <a:p>
                      <a:pPr indent="0" marL="0">
                        <a:buNone/>
                      </a:pPr>
                      <a:r>
                        <a:rPr lang="en-US" sz="1500" dirty="0">
                          <a:solidFill>
                            <a:srgbClr val="1D2733"/>
                          </a:solidFill>
                          <a:latin typeface="Calibri" pitchFamily="34" charset="0"/>
                          <a:ea typeface="Calibri" pitchFamily="34" charset="-122"/>
                          <a:cs typeface="Calibri" pitchFamily="34" charset="-120"/>
                        </a:rPr>
                        <a:t>Chiết khấu γ</a:t>
                      </a:r>
                      <a:endParaRPr lang="en-US" sz="1500" dirty="0">
                        <a:latin typeface="Calibri" charset="0"/>
                        <a:ea typeface="Calibri" charset="0"/>
                        <a:cs typeface="Calibri" charset="0"/>
                      </a:endParaRPr>
                    </a:p>
                  </a:txBody>
                  <a:tcPr marL="101600" marR="101600" marT="50800" marB="508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indent="0" marL="0">
                        <a:buNone/>
                      </a:pPr>
                      <a:r>
                        <a:rPr lang="en-US" sz="1500" dirty="0">
                          <a:solidFill>
                            <a:srgbClr val="1D2733"/>
                          </a:solidFill>
                          <a:latin typeface="Calibri" pitchFamily="34" charset="0"/>
                          <a:ea typeface="Calibri" pitchFamily="34" charset="-122"/>
                          <a:cs typeface="Calibri" pitchFamily="34" charset="-120"/>
                        </a:rPr>
                        <a:t>0,99 — cần nhìn trước hàng chục bước để dọn hết</a:t>
                      </a:r>
                      <a:endParaRPr lang="en-US" sz="1500" dirty="0">
                        <a:latin typeface="Calibri" charset="0"/>
                        <a:ea typeface="Calibri" charset="0"/>
                        <a:cs typeface="Calibri" charset="0"/>
                      </a:endParaRPr>
                    </a:p>
                  </a:txBody>
                  <a:tcPr marL="101600" marR="101600" marT="50800" marB="508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r>
            </a:tbl>
          </a:graphicData>
        </a:graphic>
      </p:graphicFrame>
      <p:sp>
        <p:nvSpPr>
          <p:cNvPr id="6" name="markov card"/>
          <p:cNvSpPr/>
          <p:nvPr/>
        </p:nvSpPr>
        <p:spPr>
          <a:xfrm>
            <a:off x="8503920" y="1691640"/>
            <a:ext cx="3136392" cy="3401568"/>
          </a:xfrm>
          <a:prstGeom prst="roundRect">
            <a:avLst>
              <a:gd name="adj" fmla="val 2332"/>
            </a:avLst>
          </a:prstGeom>
          <a:solidFill>
            <a:srgbClr val="EEF4FA"/>
          </a:solidFill>
          <a:ln w="12700">
            <a:solidFill>
              <a:srgbClr val="EEF4FA"/>
            </a:solidFill>
            <a:prstDash val="solid"/>
          </a:ln>
        </p:spPr>
      </p:sp>
      <p:sp>
        <p:nvSpPr>
          <p:cNvPr id="7" name="Text 3"/>
          <p:cNvSpPr txBox="1"/>
          <p:nvPr/>
        </p:nvSpPr>
        <p:spPr>
          <a:xfrm>
            <a:off x="8778240" y="1920240"/>
            <a:ext cx="2651760" cy="457200"/>
          </a:xfrm>
          <a:prstGeom prst="rect">
            <a:avLst/>
          </a:prstGeom>
          <a:noFill/>
          <a:ln/>
        </p:spPr>
        <p:txBody>
          <a:bodyPr wrap="square" lIns="0" tIns="0" rIns="0" bIns="0" rtlCol="0" anchor="t"/>
          <a:lstStyle/>
          <a:p>
            <a:pPr indent="0" marL="0">
              <a:buNone/>
            </a:pPr>
            <a:r>
              <a:rPr lang="en-US" sz="2000" b="1" dirty="0">
                <a:solidFill>
                  <a:srgbClr val="C8322F"/>
                </a:solidFill>
              </a:rPr>
              <a:t>Vì sao?</a:t>
            </a:r>
            <a:endParaRPr lang="en-US" sz="2000" dirty="0"/>
          </a:p>
        </p:txBody>
      </p:sp>
      <p:sp>
        <p:nvSpPr>
          <p:cNvPr id="8" name="Text 4"/>
          <p:cNvSpPr txBox="1"/>
          <p:nvPr/>
        </p:nvSpPr>
        <p:spPr>
          <a:xfrm>
            <a:off x="8778240" y="2468880"/>
            <a:ext cx="2606040" cy="2468880"/>
          </a:xfrm>
          <a:prstGeom prst="rect">
            <a:avLst/>
          </a:prstGeom>
          <a:noFill/>
          <a:ln/>
        </p:spPr>
        <p:txBody>
          <a:bodyPr wrap="square" lIns="0" tIns="0" rIns="0" bIns="0" rtlCol="0" anchor="t"/>
          <a:lstStyle/>
          <a:p>
            <a:pPr indent="0" marL="0">
              <a:buNone/>
            </a:pPr>
            <a:r>
              <a:rPr lang="en-US" sz="1700" dirty="0">
                <a:solidFill>
                  <a:srgbClr val="1D2733"/>
                </a:solidFill>
              </a:rPr>
              <a:t>Trạng thái phải chứa ô nào đã dọn. Cùng vị trí nhưng khác tiến độ thì phần thưởng tương lai khác nhau — thiếu nó là mất tính Markov (S&amp;B 3.1).</a:t>
            </a:r>
            <a:endParaRPr lang="en-US" sz="17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878"/>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body" hasCustomPrompt="1"/>
          </p:nvPr>
        </p:nvSpPr>
        <p:spPr>
          <a:xfrm>
            <a:off x="768096" y="301752"/>
            <a:ext cx="8229600" cy="310896"/>
          </a:xfrm>
          <a:prstGeom prst="rect">
            <a:avLst/>
          </a:prstGeom>
          <a:noFill/>
          <a:ln/>
        </p:spPr>
        <p:txBody>
          <a:bodyPr wrap="square" lIns="0" tIns="0" rIns="0" bIns="0" rtlCol="0"/>
          <a:lstStyle/>
          <a:p>
            <a:pPr indent="0" marL="0">
              <a:buNone/>
            </a:pPr>
            <a:r>
              <a:rPr lang="en-US" sz="1200" spc="200" kern="0" dirty="0">
                <a:solidFill>
                  <a:srgbClr val="5B6878"/>
                </a:solidFill>
              </a:rPr>
              <a:t>QUAN SÁT</a:t>
            </a:r>
            <a:endParaRPr lang="en-US" sz="1200" dirty="0"/>
          </a:p>
        </p:txBody>
      </p:sp>
      <p:sp>
        <p:nvSpPr>
          <p:cNvPr id="3" name="Text 1"/>
          <p:cNvSpPr/>
          <p:nvPr>
            <p:ph idx="102" type="title" hasCustomPrompt="1"/>
          </p:nvPr>
        </p:nvSpPr>
        <p:spPr>
          <a:xfrm>
            <a:off x="548640" y="640080"/>
            <a:ext cx="11094415" cy="731520"/>
          </a:xfrm>
          <a:prstGeom prst="rect">
            <a:avLst/>
          </a:prstGeom>
          <a:noFill/>
          <a:ln/>
        </p:spPr>
        <p:txBody>
          <a:bodyPr wrap="square" lIns="0" tIns="0" rIns="0" bIns="0" rtlCol="0" anchor="t"/>
          <a:lstStyle/>
          <a:p>
            <a:pPr algn="l" indent="0" marL="0">
              <a:buNone/>
            </a:pPr>
            <a:r>
              <a:rPr lang="en-US" sz="2800" b="1" dirty="0">
                <a:solidFill>
                  <a:srgbClr val="1D2733"/>
                </a:solidFill>
                <a:latin typeface="Cambria" pitchFamily="34" charset="0"/>
                <a:ea typeface="Cambria" pitchFamily="34" charset="-122"/>
                <a:cs typeface="Cambria" pitchFamily="34" charset="-120"/>
              </a:rPr>
              <a:t>Robot nhìn căn phòng như một ảnh ba lớp</a:t>
            </a:r>
            <a:endParaRPr lang="en-US" sz="2800" dirty="0"/>
          </a:p>
        </p:txBody>
      </p:sp>
      <p:sp>
        <p:nvSpPr>
          <p:cNvPr id="5" name="Shape 2"/>
          <p:cNvSpPr/>
          <p:nvPr/>
        </p:nvSpPr>
        <p:spPr>
          <a:xfrm>
            <a:off x="548640" y="1783080"/>
            <a:ext cx="566928" cy="566928"/>
          </a:xfrm>
          <a:prstGeom prst="rect">
            <a:avLst/>
          </a:prstGeom>
          <a:solidFill>
            <a:srgbClr val="F4F6F8"/>
          </a:solidFill>
          <a:ln w="19050">
            <a:solidFill>
              <a:srgbClr val="FFFFFF"/>
            </a:solidFill>
            <a:prstDash val="solid"/>
          </a:ln>
        </p:spPr>
      </p:sp>
      <p:sp>
        <p:nvSpPr>
          <p:cNvPr id="6" name="Shape 3"/>
          <p:cNvSpPr/>
          <p:nvPr/>
        </p:nvSpPr>
        <p:spPr>
          <a:xfrm>
            <a:off x="1115568" y="1783080"/>
            <a:ext cx="566928" cy="566928"/>
          </a:xfrm>
          <a:prstGeom prst="rect">
            <a:avLst/>
          </a:prstGeom>
          <a:solidFill>
            <a:srgbClr val="F4F6F8"/>
          </a:solidFill>
          <a:ln w="19050">
            <a:solidFill>
              <a:srgbClr val="FFFFFF"/>
            </a:solidFill>
            <a:prstDash val="solid"/>
          </a:ln>
        </p:spPr>
      </p:sp>
      <p:sp>
        <p:nvSpPr>
          <p:cNvPr id="7" name="Shape 4"/>
          <p:cNvSpPr/>
          <p:nvPr/>
        </p:nvSpPr>
        <p:spPr>
          <a:xfrm>
            <a:off x="1682496" y="1783080"/>
            <a:ext cx="566928" cy="566928"/>
          </a:xfrm>
          <a:prstGeom prst="rect">
            <a:avLst/>
          </a:prstGeom>
          <a:solidFill>
            <a:srgbClr val="F4F6F8"/>
          </a:solidFill>
          <a:ln w="19050">
            <a:solidFill>
              <a:srgbClr val="FFFFFF"/>
            </a:solidFill>
            <a:prstDash val="solid"/>
          </a:ln>
        </p:spPr>
      </p:sp>
      <p:sp>
        <p:nvSpPr>
          <p:cNvPr id="8" name="Shape 5"/>
          <p:cNvSpPr/>
          <p:nvPr/>
        </p:nvSpPr>
        <p:spPr>
          <a:xfrm>
            <a:off x="2249424" y="1783080"/>
            <a:ext cx="566928" cy="566928"/>
          </a:xfrm>
          <a:prstGeom prst="rect">
            <a:avLst/>
          </a:prstGeom>
          <a:solidFill>
            <a:srgbClr val="F4F6F8"/>
          </a:solidFill>
          <a:ln w="19050">
            <a:solidFill>
              <a:srgbClr val="FFFFFF"/>
            </a:solidFill>
            <a:prstDash val="solid"/>
          </a:ln>
        </p:spPr>
      </p:sp>
      <p:sp>
        <p:nvSpPr>
          <p:cNvPr id="9" name="Shape 6"/>
          <p:cNvSpPr/>
          <p:nvPr/>
        </p:nvSpPr>
        <p:spPr>
          <a:xfrm>
            <a:off x="548640" y="2350008"/>
            <a:ext cx="566928" cy="566928"/>
          </a:xfrm>
          <a:prstGeom prst="rect">
            <a:avLst/>
          </a:prstGeom>
          <a:solidFill>
            <a:srgbClr val="F4F6F8"/>
          </a:solidFill>
          <a:ln w="19050">
            <a:solidFill>
              <a:srgbClr val="FFFFFF"/>
            </a:solidFill>
            <a:prstDash val="solid"/>
          </a:ln>
        </p:spPr>
      </p:sp>
      <p:sp>
        <p:nvSpPr>
          <p:cNvPr id="10" name="Shape 7"/>
          <p:cNvSpPr/>
          <p:nvPr/>
        </p:nvSpPr>
        <p:spPr>
          <a:xfrm>
            <a:off x="1115568" y="2350008"/>
            <a:ext cx="566928" cy="566928"/>
          </a:xfrm>
          <a:prstGeom prst="rect">
            <a:avLst/>
          </a:prstGeom>
          <a:solidFill>
            <a:srgbClr val="F4F6F8"/>
          </a:solidFill>
          <a:ln w="19050">
            <a:solidFill>
              <a:srgbClr val="FFFFFF"/>
            </a:solidFill>
            <a:prstDash val="solid"/>
          </a:ln>
        </p:spPr>
      </p:sp>
      <p:sp>
        <p:nvSpPr>
          <p:cNvPr id="11" name="Shape 8"/>
          <p:cNvSpPr/>
          <p:nvPr/>
        </p:nvSpPr>
        <p:spPr>
          <a:xfrm>
            <a:off x="1682496" y="2350008"/>
            <a:ext cx="566928" cy="566928"/>
          </a:xfrm>
          <a:prstGeom prst="rect">
            <a:avLst/>
          </a:prstGeom>
          <a:solidFill>
            <a:srgbClr val="F4F6F8"/>
          </a:solidFill>
          <a:ln w="19050">
            <a:solidFill>
              <a:srgbClr val="FFFFFF"/>
            </a:solidFill>
            <a:prstDash val="solid"/>
          </a:ln>
        </p:spPr>
      </p:sp>
      <p:sp>
        <p:nvSpPr>
          <p:cNvPr id="12" name="Shape 9"/>
          <p:cNvSpPr/>
          <p:nvPr/>
        </p:nvSpPr>
        <p:spPr>
          <a:xfrm>
            <a:off x="2249424" y="2350008"/>
            <a:ext cx="566928" cy="566928"/>
          </a:xfrm>
          <a:prstGeom prst="rect">
            <a:avLst/>
          </a:prstGeom>
          <a:solidFill>
            <a:srgbClr val="F4F6F8"/>
          </a:solidFill>
          <a:ln w="19050">
            <a:solidFill>
              <a:srgbClr val="FFFFFF"/>
            </a:solidFill>
            <a:prstDash val="solid"/>
          </a:ln>
        </p:spPr>
      </p:sp>
      <p:sp>
        <p:nvSpPr>
          <p:cNvPr id="13" name="Shape 10"/>
          <p:cNvSpPr/>
          <p:nvPr/>
        </p:nvSpPr>
        <p:spPr>
          <a:xfrm>
            <a:off x="548640" y="2916936"/>
            <a:ext cx="566928" cy="566928"/>
          </a:xfrm>
          <a:prstGeom prst="rect">
            <a:avLst/>
          </a:prstGeom>
          <a:solidFill>
            <a:srgbClr val="F4F6F8"/>
          </a:solidFill>
          <a:ln w="19050">
            <a:solidFill>
              <a:srgbClr val="FFFFFF"/>
            </a:solidFill>
            <a:prstDash val="solid"/>
          </a:ln>
        </p:spPr>
      </p:sp>
      <p:sp>
        <p:nvSpPr>
          <p:cNvPr id="14" name="Shape 11"/>
          <p:cNvSpPr/>
          <p:nvPr/>
        </p:nvSpPr>
        <p:spPr>
          <a:xfrm>
            <a:off x="1115568" y="2916936"/>
            <a:ext cx="566928" cy="566928"/>
          </a:xfrm>
          <a:prstGeom prst="rect">
            <a:avLst/>
          </a:prstGeom>
          <a:solidFill>
            <a:srgbClr val="C8322F"/>
          </a:solidFill>
          <a:ln w="19050">
            <a:solidFill>
              <a:srgbClr val="FFFFFF"/>
            </a:solidFill>
            <a:prstDash val="solid"/>
          </a:ln>
        </p:spPr>
      </p:sp>
      <p:sp>
        <p:nvSpPr>
          <p:cNvPr id="15" name="Shape 12"/>
          <p:cNvSpPr/>
          <p:nvPr/>
        </p:nvSpPr>
        <p:spPr>
          <a:xfrm>
            <a:off x="1682496" y="2916936"/>
            <a:ext cx="566928" cy="566928"/>
          </a:xfrm>
          <a:prstGeom prst="rect">
            <a:avLst/>
          </a:prstGeom>
          <a:solidFill>
            <a:srgbClr val="F4F6F8"/>
          </a:solidFill>
          <a:ln w="19050">
            <a:solidFill>
              <a:srgbClr val="FFFFFF"/>
            </a:solidFill>
            <a:prstDash val="solid"/>
          </a:ln>
        </p:spPr>
      </p:sp>
      <p:sp>
        <p:nvSpPr>
          <p:cNvPr id="16" name="Shape 13"/>
          <p:cNvSpPr/>
          <p:nvPr/>
        </p:nvSpPr>
        <p:spPr>
          <a:xfrm>
            <a:off x="2249424" y="2916936"/>
            <a:ext cx="566928" cy="566928"/>
          </a:xfrm>
          <a:prstGeom prst="rect">
            <a:avLst/>
          </a:prstGeom>
          <a:solidFill>
            <a:srgbClr val="F4F6F8"/>
          </a:solidFill>
          <a:ln w="19050">
            <a:solidFill>
              <a:srgbClr val="FFFFFF"/>
            </a:solidFill>
            <a:prstDash val="solid"/>
          </a:ln>
        </p:spPr>
      </p:sp>
      <p:sp>
        <p:nvSpPr>
          <p:cNvPr id="17" name="Shape 14"/>
          <p:cNvSpPr/>
          <p:nvPr/>
        </p:nvSpPr>
        <p:spPr>
          <a:xfrm>
            <a:off x="548640" y="3483864"/>
            <a:ext cx="566928" cy="566928"/>
          </a:xfrm>
          <a:prstGeom prst="rect">
            <a:avLst/>
          </a:prstGeom>
          <a:solidFill>
            <a:srgbClr val="F4F6F8"/>
          </a:solidFill>
          <a:ln w="19050">
            <a:solidFill>
              <a:srgbClr val="FFFFFF"/>
            </a:solidFill>
            <a:prstDash val="solid"/>
          </a:ln>
        </p:spPr>
      </p:sp>
      <p:sp>
        <p:nvSpPr>
          <p:cNvPr id="18" name="Shape 15"/>
          <p:cNvSpPr/>
          <p:nvPr/>
        </p:nvSpPr>
        <p:spPr>
          <a:xfrm>
            <a:off x="1115568" y="3483864"/>
            <a:ext cx="566928" cy="566928"/>
          </a:xfrm>
          <a:prstGeom prst="rect">
            <a:avLst/>
          </a:prstGeom>
          <a:solidFill>
            <a:srgbClr val="F4F6F8"/>
          </a:solidFill>
          <a:ln w="19050">
            <a:solidFill>
              <a:srgbClr val="FFFFFF"/>
            </a:solidFill>
            <a:prstDash val="solid"/>
          </a:ln>
        </p:spPr>
      </p:sp>
      <p:sp>
        <p:nvSpPr>
          <p:cNvPr id="19" name="Shape 16"/>
          <p:cNvSpPr/>
          <p:nvPr/>
        </p:nvSpPr>
        <p:spPr>
          <a:xfrm>
            <a:off x="1682496" y="3483864"/>
            <a:ext cx="566928" cy="566928"/>
          </a:xfrm>
          <a:prstGeom prst="rect">
            <a:avLst/>
          </a:prstGeom>
          <a:solidFill>
            <a:srgbClr val="F4F6F8"/>
          </a:solidFill>
          <a:ln w="19050">
            <a:solidFill>
              <a:srgbClr val="FFFFFF"/>
            </a:solidFill>
            <a:prstDash val="solid"/>
          </a:ln>
        </p:spPr>
      </p:sp>
      <p:sp>
        <p:nvSpPr>
          <p:cNvPr id="20" name="Shape 17"/>
          <p:cNvSpPr/>
          <p:nvPr/>
        </p:nvSpPr>
        <p:spPr>
          <a:xfrm>
            <a:off x="2249424" y="3483864"/>
            <a:ext cx="566928" cy="566928"/>
          </a:xfrm>
          <a:prstGeom prst="rect">
            <a:avLst/>
          </a:prstGeom>
          <a:solidFill>
            <a:srgbClr val="F4F6F8"/>
          </a:solidFill>
          <a:ln w="19050">
            <a:solidFill>
              <a:srgbClr val="FFFFFF"/>
            </a:solidFill>
            <a:prstDash val="solid"/>
          </a:ln>
        </p:spPr>
      </p:sp>
      <p:sp>
        <p:nvSpPr>
          <p:cNvPr id="21" name="Text 18"/>
          <p:cNvSpPr txBox="1"/>
          <p:nvPr/>
        </p:nvSpPr>
        <p:spPr>
          <a:xfrm>
            <a:off x="548640" y="4206240"/>
            <a:ext cx="2267712" cy="365760"/>
          </a:xfrm>
          <a:prstGeom prst="rect">
            <a:avLst/>
          </a:prstGeom>
          <a:noFill/>
          <a:ln/>
        </p:spPr>
        <p:txBody>
          <a:bodyPr wrap="square" lIns="0" tIns="0" rIns="0" bIns="0" rtlCol="0" anchor="t"/>
          <a:lstStyle/>
          <a:p>
            <a:pPr algn="ctr" indent="0" marL="0">
              <a:buNone/>
            </a:pPr>
            <a:r>
              <a:rPr lang="en-US" sz="1600" dirty="0">
                <a:solidFill>
                  <a:srgbClr val="5B6878"/>
                </a:solidFill>
              </a:rPr>
              <a:t>Kênh 0: vị trí robot</a:t>
            </a:r>
            <a:endParaRPr lang="en-US" sz="1600" dirty="0"/>
          </a:p>
        </p:txBody>
      </p:sp>
      <p:sp>
        <p:nvSpPr>
          <p:cNvPr id="22" name="Shape 19"/>
          <p:cNvSpPr/>
          <p:nvPr/>
        </p:nvSpPr>
        <p:spPr>
          <a:xfrm>
            <a:off x="3154680" y="1783080"/>
            <a:ext cx="566928" cy="566928"/>
          </a:xfrm>
          <a:prstGeom prst="rect">
            <a:avLst/>
          </a:prstGeom>
          <a:solidFill>
            <a:srgbClr val="A0D2FF"/>
          </a:solidFill>
          <a:ln w="19050">
            <a:solidFill>
              <a:srgbClr val="FFFFFF"/>
            </a:solidFill>
            <a:prstDash val="solid"/>
          </a:ln>
        </p:spPr>
      </p:sp>
      <p:sp>
        <p:nvSpPr>
          <p:cNvPr id="23" name="Shape 20"/>
          <p:cNvSpPr/>
          <p:nvPr/>
        </p:nvSpPr>
        <p:spPr>
          <a:xfrm>
            <a:off x="3721608" y="1783080"/>
            <a:ext cx="566928" cy="566928"/>
          </a:xfrm>
          <a:prstGeom prst="rect">
            <a:avLst/>
          </a:prstGeom>
          <a:solidFill>
            <a:srgbClr val="A0D2FF"/>
          </a:solidFill>
          <a:ln w="19050">
            <a:solidFill>
              <a:srgbClr val="FFFFFF"/>
            </a:solidFill>
            <a:prstDash val="solid"/>
          </a:ln>
        </p:spPr>
      </p:sp>
      <p:sp>
        <p:nvSpPr>
          <p:cNvPr id="24" name="Shape 21"/>
          <p:cNvSpPr/>
          <p:nvPr/>
        </p:nvSpPr>
        <p:spPr>
          <a:xfrm>
            <a:off x="4288536" y="1783080"/>
            <a:ext cx="566928" cy="566928"/>
          </a:xfrm>
          <a:prstGeom prst="rect">
            <a:avLst/>
          </a:prstGeom>
          <a:solidFill>
            <a:srgbClr val="A0D2FF"/>
          </a:solidFill>
          <a:ln w="19050">
            <a:solidFill>
              <a:srgbClr val="FFFFFF"/>
            </a:solidFill>
            <a:prstDash val="solid"/>
          </a:ln>
        </p:spPr>
      </p:sp>
      <p:sp>
        <p:nvSpPr>
          <p:cNvPr id="25" name="Shape 22"/>
          <p:cNvSpPr/>
          <p:nvPr/>
        </p:nvSpPr>
        <p:spPr>
          <a:xfrm>
            <a:off x="4855464" y="1783080"/>
            <a:ext cx="566928" cy="566928"/>
          </a:xfrm>
          <a:prstGeom prst="rect">
            <a:avLst/>
          </a:prstGeom>
          <a:solidFill>
            <a:srgbClr val="F4F6F8"/>
          </a:solidFill>
          <a:ln w="19050">
            <a:solidFill>
              <a:srgbClr val="FFFFFF"/>
            </a:solidFill>
            <a:prstDash val="solid"/>
          </a:ln>
        </p:spPr>
      </p:sp>
      <p:sp>
        <p:nvSpPr>
          <p:cNvPr id="26" name="Shape 23"/>
          <p:cNvSpPr/>
          <p:nvPr/>
        </p:nvSpPr>
        <p:spPr>
          <a:xfrm>
            <a:off x="3154680" y="2350008"/>
            <a:ext cx="566928" cy="566928"/>
          </a:xfrm>
          <a:prstGeom prst="rect">
            <a:avLst/>
          </a:prstGeom>
          <a:solidFill>
            <a:srgbClr val="A0D2FF"/>
          </a:solidFill>
          <a:ln w="19050">
            <a:solidFill>
              <a:srgbClr val="FFFFFF"/>
            </a:solidFill>
            <a:prstDash val="solid"/>
          </a:ln>
        </p:spPr>
      </p:sp>
      <p:sp>
        <p:nvSpPr>
          <p:cNvPr id="27" name="Shape 24"/>
          <p:cNvSpPr/>
          <p:nvPr/>
        </p:nvSpPr>
        <p:spPr>
          <a:xfrm>
            <a:off x="3721608" y="2350008"/>
            <a:ext cx="566928" cy="566928"/>
          </a:xfrm>
          <a:prstGeom prst="rect">
            <a:avLst/>
          </a:prstGeom>
          <a:solidFill>
            <a:srgbClr val="F4F6F8"/>
          </a:solidFill>
          <a:ln w="19050">
            <a:solidFill>
              <a:srgbClr val="FFFFFF"/>
            </a:solidFill>
            <a:prstDash val="solid"/>
          </a:ln>
        </p:spPr>
      </p:sp>
      <p:sp>
        <p:nvSpPr>
          <p:cNvPr id="28" name="Shape 25"/>
          <p:cNvSpPr/>
          <p:nvPr/>
        </p:nvSpPr>
        <p:spPr>
          <a:xfrm>
            <a:off x="4288536" y="2350008"/>
            <a:ext cx="566928" cy="566928"/>
          </a:xfrm>
          <a:prstGeom prst="rect">
            <a:avLst/>
          </a:prstGeom>
          <a:solidFill>
            <a:srgbClr val="F4F6F8"/>
          </a:solidFill>
          <a:ln w="19050">
            <a:solidFill>
              <a:srgbClr val="FFFFFF"/>
            </a:solidFill>
            <a:prstDash val="solid"/>
          </a:ln>
        </p:spPr>
      </p:sp>
      <p:sp>
        <p:nvSpPr>
          <p:cNvPr id="29" name="Shape 26"/>
          <p:cNvSpPr/>
          <p:nvPr/>
        </p:nvSpPr>
        <p:spPr>
          <a:xfrm>
            <a:off x="4855464" y="2350008"/>
            <a:ext cx="566928" cy="566928"/>
          </a:xfrm>
          <a:prstGeom prst="rect">
            <a:avLst/>
          </a:prstGeom>
          <a:solidFill>
            <a:srgbClr val="F4F6F8"/>
          </a:solidFill>
          <a:ln w="19050">
            <a:solidFill>
              <a:srgbClr val="FFFFFF"/>
            </a:solidFill>
            <a:prstDash val="solid"/>
          </a:ln>
        </p:spPr>
      </p:sp>
      <p:sp>
        <p:nvSpPr>
          <p:cNvPr id="30" name="Shape 27"/>
          <p:cNvSpPr/>
          <p:nvPr/>
        </p:nvSpPr>
        <p:spPr>
          <a:xfrm>
            <a:off x="3154680" y="2916936"/>
            <a:ext cx="566928" cy="566928"/>
          </a:xfrm>
          <a:prstGeom prst="rect">
            <a:avLst/>
          </a:prstGeom>
          <a:solidFill>
            <a:srgbClr val="A0D2FF"/>
          </a:solidFill>
          <a:ln w="19050">
            <a:solidFill>
              <a:srgbClr val="FFFFFF"/>
            </a:solidFill>
            <a:prstDash val="solid"/>
          </a:ln>
        </p:spPr>
      </p:sp>
      <p:sp>
        <p:nvSpPr>
          <p:cNvPr id="31" name="Shape 28"/>
          <p:cNvSpPr/>
          <p:nvPr/>
        </p:nvSpPr>
        <p:spPr>
          <a:xfrm>
            <a:off x="3721608" y="2916936"/>
            <a:ext cx="566928" cy="566928"/>
          </a:xfrm>
          <a:prstGeom prst="rect">
            <a:avLst/>
          </a:prstGeom>
          <a:solidFill>
            <a:srgbClr val="A0D2FF"/>
          </a:solidFill>
          <a:ln w="19050">
            <a:solidFill>
              <a:srgbClr val="FFFFFF"/>
            </a:solidFill>
            <a:prstDash val="solid"/>
          </a:ln>
        </p:spPr>
      </p:sp>
      <p:sp>
        <p:nvSpPr>
          <p:cNvPr id="32" name="Shape 29"/>
          <p:cNvSpPr/>
          <p:nvPr/>
        </p:nvSpPr>
        <p:spPr>
          <a:xfrm>
            <a:off x="4288536" y="2916936"/>
            <a:ext cx="566928" cy="566928"/>
          </a:xfrm>
          <a:prstGeom prst="rect">
            <a:avLst/>
          </a:prstGeom>
          <a:solidFill>
            <a:srgbClr val="F4F6F8"/>
          </a:solidFill>
          <a:ln w="19050">
            <a:solidFill>
              <a:srgbClr val="FFFFFF"/>
            </a:solidFill>
            <a:prstDash val="solid"/>
          </a:ln>
        </p:spPr>
      </p:sp>
      <p:sp>
        <p:nvSpPr>
          <p:cNvPr id="33" name="Shape 30"/>
          <p:cNvSpPr/>
          <p:nvPr/>
        </p:nvSpPr>
        <p:spPr>
          <a:xfrm>
            <a:off x="4855464" y="2916936"/>
            <a:ext cx="566928" cy="566928"/>
          </a:xfrm>
          <a:prstGeom prst="rect">
            <a:avLst/>
          </a:prstGeom>
          <a:solidFill>
            <a:srgbClr val="F4F6F8"/>
          </a:solidFill>
          <a:ln w="19050">
            <a:solidFill>
              <a:srgbClr val="FFFFFF"/>
            </a:solidFill>
            <a:prstDash val="solid"/>
          </a:ln>
        </p:spPr>
      </p:sp>
      <p:sp>
        <p:nvSpPr>
          <p:cNvPr id="34" name="Shape 31"/>
          <p:cNvSpPr/>
          <p:nvPr/>
        </p:nvSpPr>
        <p:spPr>
          <a:xfrm>
            <a:off x="3154680" y="3483864"/>
            <a:ext cx="566928" cy="566928"/>
          </a:xfrm>
          <a:prstGeom prst="rect">
            <a:avLst/>
          </a:prstGeom>
          <a:solidFill>
            <a:srgbClr val="F4F6F8"/>
          </a:solidFill>
          <a:ln w="19050">
            <a:solidFill>
              <a:srgbClr val="FFFFFF"/>
            </a:solidFill>
            <a:prstDash val="solid"/>
          </a:ln>
        </p:spPr>
      </p:sp>
      <p:sp>
        <p:nvSpPr>
          <p:cNvPr id="35" name="Shape 32"/>
          <p:cNvSpPr/>
          <p:nvPr/>
        </p:nvSpPr>
        <p:spPr>
          <a:xfrm>
            <a:off x="3721608" y="3483864"/>
            <a:ext cx="566928" cy="566928"/>
          </a:xfrm>
          <a:prstGeom prst="rect">
            <a:avLst/>
          </a:prstGeom>
          <a:solidFill>
            <a:srgbClr val="F4F6F8"/>
          </a:solidFill>
          <a:ln w="19050">
            <a:solidFill>
              <a:srgbClr val="FFFFFF"/>
            </a:solidFill>
            <a:prstDash val="solid"/>
          </a:ln>
        </p:spPr>
      </p:sp>
      <p:sp>
        <p:nvSpPr>
          <p:cNvPr id="36" name="Shape 33"/>
          <p:cNvSpPr/>
          <p:nvPr/>
        </p:nvSpPr>
        <p:spPr>
          <a:xfrm>
            <a:off x="4288536" y="3483864"/>
            <a:ext cx="566928" cy="566928"/>
          </a:xfrm>
          <a:prstGeom prst="rect">
            <a:avLst/>
          </a:prstGeom>
          <a:solidFill>
            <a:srgbClr val="F4F6F8"/>
          </a:solidFill>
          <a:ln w="19050">
            <a:solidFill>
              <a:srgbClr val="FFFFFF"/>
            </a:solidFill>
            <a:prstDash val="solid"/>
          </a:ln>
        </p:spPr>
      </p:sp>
      <p:sp>
        <p:nvSpPr>
          <p:cNvPr id="37" name="Shape 34"/>
          <p:cNvSpPr/>
          <p:nvPr/>
        </p:nvSpPr>
        <p:spPr>
          <a:xfrm>
            <a:off x="4855464" y="3483864"/>
            <a:ext cx="566928" cy="566928"/>
          </a:xfrm>
          <a:prstGeom prst="rect">
            <a:avLst/>
          </a:prstGeom>
          <a:solidFill>
            <a:srgbClr val="F4F6F8"/>
          </a:solidFill>
          <a:ln w="19050">
            <a:solidFill>
              <a:srgbClr val="FFFFFF"/>
            </a:solidFill>
            <a:prstDash val="solid"/>
          </a:ln>
        </p:spPr>
      </p:sp>
      <p:sp>
        <p:nvSpPr>
          <p:cNvPr id="38" name="Text 35"/>
          <p:cNvSpPr txBox="1"/>
          <p:nvPr/>
        </p:nvSpPr>
        <p:spPr>
          <a:xfrm>
            <a:off x="3154680" y="4206240"/>
            <a:ext cx="2267712" cy="365760"/>
          </a:xfrm>
          <a:prstGeom prst="rect">
            <a:avLst/>
          </a:prstGeom>
          <a:noFill/>
          <a:ln/>
        </p:spPr>
        <p:txBody>
          <a:bodyPr wrap="square" lIns="0" tIns="0" rIns="0" bIns="0" rtlCol="0" anchor="t"/>
          <a:lstStyle/>
          <a:p>
            <a:pPr algn="ctr" indent="0" marL="0">
              <a:buNone/>
            </a:pPr>
            <a:r>
              <a:rPr lang="en-US" sz="1600" dirty="0">
                <a:solidFill>
                  <a:srgbClr val="5B6878"/>
                </a:solidFill>
              </a:rPr>
              <a:t>Kênh 1: ô đã dọn</a:t>
            </a:r>
            <a:endParaRPr lang="en-US" sz="1600" dirty="0"/>
          </a:p>
        </p:txBody>
      </p:sp>
      <p:sp>
        <p:nvSpPr>
          <p:cNvPr id="39" name="Shape 36"/>
          <p:cNvSpPr/>
          <p:nvPr/>
        </p:nvSpPr>
        <p:spPr>
          <a:xfrm>
            <a:off x="5760720" y="1783080"/>
            <a:ext cx="566928" cy="566928"/>
          </a:xfrm>
          <a:prstGeom prst="rect">
            <a:avLst/>
          </a:prstGeom>
          <a:solidFill>
            <a:srgbClr val="F4F6F8"/>
          </a:solidFill>
          <a:ln w="19050">
            <a:solidFill>
              <a:srgbClr val="FFFFFF"/>
            </a:solidFill>
            <a:prstDash val="solid"/>
          </a:ln>
        </p:spPr>
      </p:sp>
      <p:sp>
        <p:nvSpPr>
          <p:cNvPr id="40" name="Shape 37"/>
          <p:cNvSpPr/>
          <p:nvPr/>
        </p:nvSpPr>
        <p:spPr>
          <a:xfrm>
            <a:off x="6327648" y="1783080"/>
            <a:ext cx="566928" cy="566928"/>
          </a:xfrm>
          <a:prstGeom prst="rect">
            <a:avLst/>
          </a:prstGeom>
          <a:solidFill>
            <a:srgbClr val="F4F6F8"/>
          </a:solidFill>
          <a:ln w="19050">
            <a:solidFill>
              <a:srgbClr val="FFFFFF"/>
            </a:solidFill>
            <a:prstDash val="solid"/>
          </a:ln>
        </p:spPr>
      </p:sp>
      <p:sp>
        <p:nvSpPr>
          <p:cNvPr id="41" name="Shape 38"/>
          <p:cNvSpPr/>
          <p:nvPr/>
        </p:nvSpPr>
        <p:spPr>
          <a:xfrm>
            <a:off x="6894576" y="1783080"/>
            <a:ext cx="566928" cy="566928"/>
          </a:xfrm>
          <a:prstGeom prst="rect">
            <a:avLst/>
          </a:prstGeom>
          <a:solidFill>
            <a:srgbClr val="F4F6F8"/>
          </a:solidFill>
          <a:ln w="19050">
            <a:solidFill>
              <a:srgbClr val="FFFFFF"/>
            </a:solidFill>
            <a:prstDash val="solid"/>
          </a:ln>
        </p:spPr>
      </p:sp>
      <p:sp>
        <p:nvSpPr>
          <p:cNvPr id="42" name="Shape 39"/>
          <p:cNvSpPr/>
          <p:nvPr/>
        </p:nvSpPr>
        <p:spPr>
          <a:xfrm>
            <a:off x="7461504" y="1783080"/>
            <a:ext cx="566928" cy="566928"/>
          </a:xfrm>
          <a:prstGeom prst="rect">
            <a:avLst/>
          </a:prstGeom>
          <a:solidFill>
            <a:srgbClr val="F4F6F8"/>
          </a:solidFill>
          <a:ln w="19050">
            <a:solidFill>
              <a:srgbClr val="FFFFFF"/>
            </a:solidFill>
            <a:prstDash val="solid"/>
          </a:ln>
        </p:spPr>
      </p:sp>
      <p:sp>
        <p:nvSpPr>
          <p:cNvPr id="43" name="Shape 40"/>
          <p:cNvSpPr/>
          <p:nvPr/>
        </p:nvSpPr>
        <p:spPr>
          <a:xfrm>
            <a:off x="5760720" y="2350008"/>
            <a:ext cx="566928" cy="566928"/>
          </a:xfrm>
          <a:prstGeom prst="rect">
            <a:avLst/>
          </a:prstGeom>
          <a:solidFill>
            <a:srgbClr val="F4F6F8"/>
          </a:solidFill>
          <a:ln w="19050">
            <a:solidFill>
              <a:srgbClr val="FFFFFF"/>
            </a:solidFill>
            <a:prstDash val="solid"/>
          </a:ln>
        </p:spPr>
      </p:sp>
      <p:sp>
        <p:nvSpPr>
          <p:cNvPr id="44" name="Shape 41"/>
          <p:cNvSpPr/>
          <p:nvPr/>
        </p:nvSpPr>
        <p:spPr>
          <a:xfrm>
            <a:off x="6327648" y="2350008"/>
            <a:ext cx="566928" cy="566928"/>
          </a:xfrm>
          <a:prstGeom prst="rect">
            <a:avLst/>
          </a:prstGeom>
          <a:solidFill>
            <a:srgbClr val="1D2733"/>
          </a:solidFill>
          <a:ln w="19050">
            <a:solidFill>
              <a:srgbClr val="FFFFFF"/>
            </a:solidFill>
            <a:prstDash val="solid"/>
          </a:ln>
        </p:spPr>
      </p:sp>
      <p:sp>
        <p:nvSpPr>
          <p:cNvPr id="45" name="Shape 42"/>
          <p:cNvSpPr/>
          <p:nvPr/>
        </p:nvSpPr>
        <p:spPr>
          <a:xfrm>
            <a:off x="6894576" y="2350008"/>
            <a:ext cx="566928" cy="566928"/>
          </a:xfrm>
          <a:prstGeom prst="rect">
            <a:avLst/>
          </a:prstGeom>
          <a:solidFill>
            <a:srgbClr val="F4F6F8"/>
          </a:solidFill>
          <a:ln w="19050">
            <a:solidFill>
              <a:srgbClr val="FFFFFF"/>
            </a:solidFill>
            <a:prstDash val="solid"/>
          </a:ln>
        </p:spPr>
      </p:sp>
      <p:sp>
        <p:nvSpPr>
          <p:cNvPr id="46" name="Shape 43"/>
          <p:cNvSpPr/>
          <p:nvPr/>
        </p:nvSpPr>
        <p:spPr>
          <a:xfrm>
            <a:off x="7461504" y="2350008"/>
            <a:ext cx="566928" cy="566928"/>
          </a:xfrm>
          <a:prstGeom prst="rect">
            <a:avLst/>
          </a:prstGeom>
          <a:solidFill>
            <a:srgbClr val="F4F6F8"/>
          </a:solidFill>
          <a:ln w="19050">
            <a:solidFill>
              <a:srgbClr val="FFFFFF"/>
            </a:solidFill>
            <a:prstDash val="solid"/>
          </a:ln>
        </p:spPr>
      </p:sp>
      <p:sp>
        <p:nvSpPr>
          <p:cNvPr id="47" name="Shape 44"/>
          <p:cNvSpPr/>
          <p:nvPr/>
        </p:nvSpPr>
        <p:spPr>
          <a:xfrm>
            <a:off x="5760720" y="2916936"/>
            <a:ext cx="566928" cy="566928"/>
          </a:xfrm>
          <a:prstGeom prst="rect">
            <a:avLst/>
          </a:prstGeom>
          <a:solidFill>
            <a:srgbClr val="F4F6F8"/>
          </a:solidFill>
          <a:ln w="19050">
            <a:solidFill>
              <a:srgbClr val="FFFFFF"/>
            </a:solidFill>
            <a:prstDash val="solid"/>
          </a:ln>
        </p:spPr>
      </p:sp>
      <p:sp>
        <p:nvSpPr>
          <p:cNvPr id="48" name="Shape 45"/>
          <p:cNvSpPr/>
          <p:nvPr/>
        </p:nvSpPr>
        <p:spPr>
          <a:xfrm>
            <a:off x="6327648" y="2916936"/>
            <a:ext cx="566928" cy="566928"/>
          </a:xfrm>
          <a:prstGeom prst="rect">
            <a:avLst/>
          </a:prstGeom>
          <a:solidFill>
            <a:srgbClr val="F4F6F8"/>
          </a:solidFill>
          <a:ln w="19050">
            <a:solidFill>
              <a:srgbClr val="FFFFFF"/>
            </a:solidFill>
            <a:prstDash val="solid"/>
          </a:ln>
        </p:spPr>
      </p:sp>
      <p:sp>
        <p:nvSpPr>
          <p:cNvPr id="49" name="Shape 46"/>
          <p:cNvSpPr/>
          <p:nvPr/>
        </p:nvSpPr>
        <p:spPr>
          <a:xfrm>
            <a:off x="6894576" y="2916936"/>
            <a:ext cx="566928" cy="566928"/>
          </a:xfrm>
          <a:prstGeom prst="rect">
            <a:avLst/>
          </a:prstGeom>
          <a:solidFill>
            <a:srgbClr val="F4F6F8"/>
          </a:solidFill>
          <a:ln w="19050">
            <a:solidFill>
              <a:srgbClr val="FFFFFF"/>
            </a:solidFill>
            <a:prstDash val="solid"/>
          </a:ln>
        </p:spPr>
      </p:sp>
      <p:sp>
        <p:nvSpPr>
          <p:cNvPr id="50" name="Shape 47"/>
          <p:cNvSpPr/>
          <p:nvPr/>
        </p:nvSpPr>
        <p:spPr>
          <a:xfrm>
            <a:off x="7461504" y="2916936"/>
            <a:ext cx="566928" cy="566928"/>
          </a:xfrm>
          <a:prstGeom prst="rect">
            <a:avLst/>
          </a:prstGeom>
          <a:solidFill>
            <a:srgbClr val="1D2733"/>
          </a:solidFill>
          <a:ln w="19050">
            <a:solidFill>
              <a:srgbClr val="FFFFFF"/>
            </a:solidFill>
            <a:prstDash val="solid"/>
          </a:ln>
        </p:spPr>
      </p:sp>
      <p:sp>
        <p:nvSpPr>
          <p:cNvPr id="51" name="Shape 48"/>
          <p:cNvSpPr/>
          <p:nvPr/>
        </p:nvSpPr>
        <p:spPr>
          <a:xfrm>
            <a:off x="5760720" y="3483864"/>
            <a:ext cx="566928" cy="566928"/>
          </a:xfrm>
          <a:prstGeom prst="rect">
            <a:avLst/>
          </a:prstGeom>
          <a:solidFill>
            <a:srgbClr val="1D2733"/>
          </a:solidFill>
          <a:ln w="19050">
            <a:solidFill>
              <a:srgbClr val="FFFFFF"/>
            </a:solidFill>
            <a:prstDash val="solid"/>
          </a:ln>
        </p:spPr>
      </p:sp>
      <p:sp>
        <p:nvSpPr>
          <p:cNvPr id="52" name="Shape 49"/>
          <p:cNvSpPr/>
          <p:nvPr/>
        </p:nvSpPr>
        <p:spPr>
          <a:xfrm>
            <a:off x="6327648" y="3483864"/>
            <a:ext cx="566928" cy="566928"/>
          </a:xfrm>
          <a:prstGeom prst="rect">
            <a:avLst/>
          </a:prstGeom>
          <a:solidFill>
            <a:srgbClr val="F4F6F8"/>
          </a:solidFill>
          <a:ln w="19050">
            <a:solidFill>
              <a:srgbClr val="FFFFFF"/>
            </a:solidFill>
            <a:prstDash val="solid"/>
          </a:ln>
        </p:spPr>
      </p:sp>
      <p:sp>
        <p:nvSpPr>
          <p:cNvPr id="53" name="Shape 50"/>
          <p:cNvSpPr/>
          <p:nvPr/>
        </p:nvSpPr>
        <p:spPr>
          <a:xfrm>
            <a:off x="6894576" y="3483864"/>
            <a:ext cx="566928" cy="566928"/>
          </a:xfrm>
          <a:prstGeom prst="rect">
            <a:avLst/>
          </a:prstGeom>
          <a:solidFill>
            <a:srgbClr val="F4F6F8"/>
          </a:solidFill>
          <a:ln w="19050">
            <a:solidFill>
              <a:srgbClr val="FFFFFF"/>
            </a:solidFill>
            <a:prstDash val="solid"/>
          </a:ln>
        </p:spPr>
      </p:sp>
      <p:sp>
        <p:nvSpPr>
          <p:cNvPr id="54" name="Shape 51"/>
          <p:cNvSpPr/>
          <p:nvPr/>
        </p:nvSpPr>
        <p:spPr>
          <a:xfrm>
            <a:off x="7461504" y="3483864"/>
            <a:ext cx="566928" cy="566928"/>
          </a:xfrm>
          <a:prstGeom prst="rect">
            <a:avLst/>
          </a:prstGeom>
          <a:solidFill>
            <a:srgbClr val="F4F6F8"/>
          </a:solidFill>
          <a:ln w="19050">
            <a:solidFill>
              <a:srgbClr val="FFFFFF"/>
            </a:solidFill>
            <a:prstDash val="solid"/>
          </a:ln>
        </p:spPr>
      </p:sp>
      <p:sp>
        <p:nvSpPr>
          <p:cNvPr id="55" name="Text 52"/>
          <p:cNvSpPr txBox="1"/>
          <p:nvPr/>
        </p:nvSpPr>
        <p:spPr>
          <a:xfrm>
            <a:off x="5760720" y="4206240"/>
            <a:ext cx="2267712" cy="365760"/>
          </a:xfrm>
          <a:prstGeom prst="rect">
            <a:avLst/>
          </a:prstGeom>
          <a:noFill/>
          <a:ln/>
        </p:spPr>
        <p:txBody>
          <a:bodyPr wrap="square" lIns="0" tIns="0" rIns="0" bIns="0" rtlCol="0" anchor="t"/>
          <a:lstStyle/>
          <a:p>
            <a:pPr algn="ctr" indent="0" marL="0">
              <a:buNone/>
            </a:pPr>
            <a:r>
              <a:rPr lang="en-US" sz="1600" dirty="0">
                <a:solidFill>
                  <a:srgbClr val="5B6878"/>
                </a:solidFill>
              </a:rPr>
              <a:t>Kênh 2: vật cản</a:t>
            </a:r>
            <a:endParaRPr lang="en-US" sz="1600" dirty="0"/>
          </a:p>
        </p:txBody>
      </p:sp>
      <p:sp>
        <p:nvSpPr>
          <p:cNvPr id="56" name="Shape 53"/>
          <p:cNvSpPr/>
          <p:nvPr/>
        </p:nvSpPr>
        <p:spPr>
          <a:xfrm>
            <a:off x="8229600" y="2743200"/>
            <a:ext cx="502920" cy="384048"/>
          </a:xfrm>
          <a:prstGeom prst="rightArrow">
            <a:avLst/>
          </a:prstGeom>
          <a:solidFill>
            <a:srgbClr val="9E9E9E"/>
          </a:solidFill>
          <a:ln w="12700">
            <a:solidFill>
              <a:srgbClr val="9E9E9E"/>
            </a:solidFill>
            <a:prstDash val="solid"/>
          </a:ln>
        </p:spPr>
      </p:sp>
      <p:sp>
        <p:nvSpPr>
          <p:cNvPr id="57" name="table card"/>
          <p:cNvSpPr/>
          <p:nvPr/>
        </p:nvSpPr>
        <p:spPr>
          <a:xfrm>
            <a:off x="8915400" y="1783080"/>
            <a:ext cx="2724912" cy="1600200"/>
          </a:xfrm>
          <a:prstGeom prst="roundRect">
            <a:avLst>
              <a:gd name="adj" fmla="val 4571"/>
            </a:avLst>
          </a:prstGeom>
          <a:solidFill>
            <a:srgbClr val="EEF4FA"/>
          </a:solidFill>
          <a:ln w="12700">
            <a:solidFill>
              <a:srgbClr val="EEF4FA"/>
            </a:solidFill>
            <a:prstDash val="solid"/>
          </a:ln>
        </p:spPr>
      </p:sp>
      <p:sp>
        <p:nvSpPr>
          <p:cNvPr id="58" name="Text 55"/>
          <p:cNvSpPr txBox="1"/>
          <p:nvPr/>
        </p:nvSpPr>
        <p:spPr>
          <a:xfrm>
            <a:off x="9144000" y="1938528"/>
            <a:ext cx="2377440" cy="365760"/>
          </a:xfrm>
          <a:prstGeom prst="rect">
            <a:avLst/>
          </a:prstGeom>
          <a:noFill/>
          <a:ln/>
        </p:spPr>
        <p:txBody>
          <a:bodyPr wrap="square" lIns="0" tIns="0" rIns="0" bIns="0" rtlCol="0" anchor="t"/>
          <a:lstStyle/>
          <a:p>
            <a:pPr indent="0" marL="0">
              <a:buNone/>
            </a:pPr>
            <a:r>
              <a:rPr lang="en-US" sz="1800" b="1" dirty="0">
                <a:solidFill>
                  <a:srgbClr val="1F6FB2"/>
                </a:solidFill>
              </a:rPr>
              <a:t>Bảng Q — phòng nhỏ</a:t>
            </a:r>
            <a:endParaRPr lang="en-US" sz="1800" dirty="0"/>
          </a:p>
        </p:txBody>
      </p:sp>
      <p:sp>
        <p:nvSpPr>
          <p:cNvPr id="59" name="Text 56"/>
          <p:cNvSpPr txBox="1"/>
          <p:nvPr/>
        </p:nvSpPr>
        <p:spPr>
          <a:xfrm>
            <a:off x="9144000" y="2377440"/>
            <a:ext cx="2377440" cy="914400"/>
          </a:xfrm>
          <a:prstGeom prst="rect">
            <a:avLst/>
          </a:prstGeom>
          <a:noFill/>
          <a:ln/>
        </p:spPr>
        <p:txBody>
          <a:bodyPr wrap="square" lIns="0" tIns="0" rIns="0" bIns="0" rtlCol="0" anchor="t"/>
          <a:lstStyle/>
          <a:p>
            <a:pPr indent="0" marL="0">
              <a:buNone/>
            </a:pPr>
            <a:r>
              <a:rPr lang="en-US" sz="1500" dirty="0">
                <a:solidFill>
                  <a:srgbClr val="1D2733"/>
                </a:solidFill>
              </a:rPr>
              <a:t>khóa (hàng, cột, mask), mỗi bit của mask là một ô đã dọn</a:t>
            </a:r>
            <a:endParaRPr lang="en-US" sz="1500" dirty="0"/>
          </a:p>
        </p:txBody>
      </p:sp>
      <p:sp>
        <p:nvSpPr>
          <p:cNvPr id="60" name="cnn card"/>
          <p:cNvSpPr/>
          <p:nvPr/>
        </p:nvSpPr>
        <p:spPr>
          <a:xfrm>
            <a:off x="8915400" y="3566160"/>
            <a:ext cx="2724912" cy="1600200"/>
          </a:xfrm>
          <a:prstGeom prst="roundRect">
            <a:avLst>
              <a:gd name="adj" fmla="val 4571"/>
            </a:avLst>
          </a:prstGeom>
          <a:solidFill>
            <a:srgbClr val="EEF4FA"/>
          </a:solidFill>
          <a:ln w="12700">
            <a:solidFill>
              <a:srgbClr val="EEF4FA"/>
            </a:solidFill>
            <a:prstDash val="solid"/>
          </a:ln>
        </p:spPr>
      </p:sp>
      <p:sp>
        <p:nvSpPr>
          <p:cNvPr id="61" name="Text 58"/>
          <p:cNvSpPr txBox="1"/>
          <p:nvPr/>
        </p:nvSpPr>
        <p:spPr>
          <a:xfrm>
            <a:off x="9144000" y="3721608"/>
            <a:ext cx="2377440" cy="365760"/>
          </a:xfrm>
          <a:prstGeom prst="rect">
            <a:avLst/>
          </a:prstGeom>
          <a:noFill/>
          <a:ln/>
        </p:spPr>
        <p:txBody>
          <a:bodyPr wrap="square" lIns="0" tIns="0" rIns="0" bIns="0" rtlCol="0" anchor="t"/>
          <a:lstStyle/>
          <a:p>
            <a:pPr indent="0" marL="0">
              <a:buNone/>
            </a:pPr>
            <a:r>
              <a:rPr lang="en-US" sz="1800" b="1" dirty="0">
                <a:solidFill>
                  <a:srgbClr val="1F6FB2"/>
                </a:solidFill>
              </a:rPr>
              <a:t>Mạng CNN — phòng lớn</a:t>
            </a:r>
            <a:endParaRPr lang="en-US" sz="1800" dirty="0"/>
          </a:p>
        </p:txBody>
      </p:sp>
      <p:sp>
        <p:nvSpPr>
          <p:cNvPr id="62" name="Text 59"/>
          <p:cNvSpPr txBox="1"/>
          <p:nvPr/>
        </p:nvSpPr>
        <p:spPr>
          <a:xfrm>
            <a:off x="9144000" y="4160520"/>
            <a:ext cx="2377440" cy="914400"/>
          </a:xfrm>
          <a:prstGeom prst="rect">
            <a:avLst/>
          </a:prstGeom>
          <a:noFill/>
          <a:ln/>
        </p:spPr>
        <p:txBody>
          <a:bodyPr wrap="square" lIns="0" tIns="0" rIns="0" bIns="0" rtlCol="0" anchor="t"/>
          <a:lstStyle/>
          <a:p>
            <a:pPr indent="0" marL="0">
              <a:buNone/>
            </a:pPr>
            <a:r>
              <a:rPr lang="en-US" sz="1500" dirty="0">
                <a:solidFill>
                  <a:srgbClr val="1D2733"/>
                </a:solidFill>
              </a:rPr>
              <a:t>tensor 3×H×W, đọc như một ảnh nhỏ</a:t>
            </a:r>
            <a:endParaRPr lang="en-US" sz="1500" dirty="0"/>
          </a:p>
        </p:txBody>
      </p:sp>
      <p:sp>
        <p:nvSpPr>
          <p:cNvPr id="63" name="Text 60"/>
          <p:cNvSpPr txBox="1"/>
          <p:nvPr/>
        </p:nvSpPr>
        <p:spPr>
          <a:xfrm>
            <a:off x="548640" y="5074920"/>
            <a:ext cx="7680960" cy="457200"/>
          </a:xfrm>
          <a:prstGeom prst="rect">
            <a:avLst/>
          </a:prstGeom>
          <a:noFill/>
          <a:ln/>
        </p:spPr>
        <p:txBody>
          <a:bodyPr wrap="square" lIns="0" tIns="0" rIns="0" bIns="0" rtlCol="0" anchor="t"/>
          <a:lstStyle/>
          <a:p>
            <a:pPr indent="0" marL="0">
              <a:buNone/>
            </a:pPr>
            <a:r>
              <a:rPr lang="en-US" sz="1600" dirty="0">
                <a:solidFill>
                  <a:srgbClr val="5B6878"/>
                </a:solidFill>
              </a:rPr>
              <a:t>Ví dụ: phòng 4×4 sau 5 bước — robot ở hàng 3, cột 2; đã dọn 6 ô; 3 ô là đồ đạc.</a:t>
            </a:r>
            <a:endParaRPr lang="en-US" sz="16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878"/>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body" hasCustomPrompt="1"/>
          </p:nvPr>
        </p:nvSpPr>
        <p:spPr>
          <a:xfrm>
            <a:off x="768096" y="301752"/>
            <a:ext cx="8229600" cy="310896"/>
          </a:xfrm>
          <a:prstGeom prst="rect">
            <a:avLst/>
          </a:prstGeom>
          <a:noFill/>
          <a:ln/>
        </p:spPr>
        <p:txBody>
          <a:bodyPr wrap="square" lIns="0" tIns="0" rIns="0" bIns="0" rtlCol="0"/>
          <a:lstStyle/>
          <a:p>
            <a:pPr indent="0" marL="0">
              <a:buNone/>
            </a:pPr>
            <a:r>
              <a:rPr lang="en-US" sz="1200" spc="200" kern="0" dirty="0">
                <a:solidFill>
                  <a:srgbClr val="5B6878"/>
                </a:solidFill>
              </a:rPr>
              <a:t>PHƯƠNG PHÁP</a:t>
            </a:r>
            <a:endParaRPr lang="en-US" sz="1200" dirty="0"/>
          </a:p>
        </p:txBody>
      </p:sp>
      <p:sp>
        <p:nvSpPr>
          <p:cNvPr id="3" name="Text 1"/>
          <p:cNvSpPr/>
          <p:nvPr>
            <p:ph idx="102" type="title" hasCustomPrompt="1"/>
          </p:nvPr>
        </p:nvSpPr>
        <p:spPr>
          <a:xfrm>
            <a:off x="548640" y="640080"/>
            <a:ext cx="11094415" cy="731520"/>
          </a:xfrm>
          <a:prstGeom prst="rect">
            <a:avLst/>
          </a:prstGeom>
          <a:noFill/>
          <a:ln/>
        </p:spPr>
        <p:txBody>
          <a:bodyPr wrap="square" lIns="0" tIns="0" rIns="0" bIns="0" rtlCol="0" anchor="t"/>
          <a:lstStyle/>
          <a:p>
            <a:pPr algn="l" indent="0" marL="0">
              <a:buNone/>
            </a:pPr>
            <a:r>
              <a:rPr lang="en-US" sz="2800" b="1" dirty="0">
                <a:solidFill>
                  <a:srgbClr val="1D2733"/>
                </a:solidFill>
                <a:latin typeface="Cambria" pitchFamily="34" charset="0"/>
                <a:ea typeface="Cambria" pitchFamily="34" charset="-122"/>
                <a:cs typeface="Cambria" pitchFamily="34" charset="-120"/>
              </a:rPr>
              <a:t>Bốn nhóm phương pháp, mỗi nhóm một vai trò</a:t>
            </a:r>
            <a:endParaRPr lang="en-US" sz="28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11064240" cy="914400"/>
        </p:xfrm>
        <a:graphic>
          <a:graphicData uri="http://schemas.openxmlformats.org/drawingml/2006/table">
            <a:tbl>
              <a:tblPr/>
              <a:tblGrid>
                <a:gridCol w="2011680"/>
                <a:gridCol w="3840480"/>
                <a:gridCol w="5212080"/>
              </a:tblGrid>
              <a:tr h="640080">
                <a:tc>
                  <a:txBody>
                    <a:bodyPr/>
                    <a:lstStyle/>
                    <a:p>
                      <a:pPr indent="0" marL="0">
                        <a:buNone/>
                      </a:pPr>
                      <a:r>
                        <a:rPr lang="en-US" sz="1500" b="1" dirty="0">
                          <a:solidFill>
                            <a:srgbClr val="1D2733"/>
                          </a:solidFill>
                          <a:latin typeface="Calibri" pitchFamily="34" charset="0"/>
                          <a:ea typeface="Calibri" pitchFamily="34" charset="-122"/>
                          <a:cs typeface="Calibri" pitchFamily="34" charset="-120"/>
                        </a:rPr>
                        <a:t>Vai trò</a:t>
                      </a:r>
                      <a:endParaRPr lang="en-US" sz="1500" dirty="0">
                        <a:latin typeface="Calibri" charset="0"/>
                        <a:ea typeface="Calibri" charset="0"/>
                        <a:cs typeface="Calibri" charset="0"/>
                      </a:endParaRPr>
                    </a:p>
                  </a:txBody>
                  <a:tcPr marL="101600" marR="101600" marT="50800" marB="508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rgbClr val="EEF4FA"/>
                    </a:solidFill>
                  </a:tcPr>
                </a:tc>
                <a:tc>
                  <a:txBody>
                    <a:bodyPr/>
                    <a:lstStyle/>
                    <a:p>
                      <a:pPr indent="0" marL="0">
                        <a:buNone/>
                      </a:pPr>
                      <a:r>
                        <a:rPr lang="en-US" sz="1500" b="1" dirty="0">
                          <a:solidFill>
                            <a:srgbClr val="1D2733"/>
                          </a:solidFill>
                          <a:latin typeface="Calibri" pitchFamily="34" charset="0"/>
                          <a:ea typeface="Calibri" pitchFamily="34" charset="-122"/>
                          <a:cs typeface="Calibri" pitchFamily="34" charset="-120"/>
                        </a:rPr>
                        <a:t>Phương pháp</a:t>
                      </a:r>
                      <a:endParaRPr lang="en-US" sz="1500" dirty="0">
                        <a:latin typeface="Calibri" charset="0"/>
                        <a:ea typeface="Calibri" charset="0"/>
                        <a:cs typeface="Calibri" charset="0"/>
                      </a:endParaRPr>
                    </a:p>
                  </a:txBody>
                  <a:tcPr marL="101600" marR="101600" marT="50800" marB="508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rgbClr val="EEF4FA"/>
                    </a:solidFill>
                  </a:tcPr>
                </a:tc>
                <a:tc>
                  <a:txBody>
                    <a:bodyPr/>
                    <a:lstStyle/>
                    <a:p>
                      <a:pPr indent="0" marL="0">
                        <a:buNone/>
                      </a:pPr>
                      <a:r>
                        <a:rPr lang="en-US" sz="1500" b="1" dirty="0">
                          <a:solidFill>
                            <a:srgbClr val="1D2733"/>
                          </a:solidFill>
                          <a:latin typeface="Calibri" pitchFamily="34" charset="0"/>
                          <a:ea typeface="Calibri" pitchFamily="34" charset="-122"/>
                          <a:cs typeface="Calibri" pitchFamily="34" charset="-120"/>
                        </a:rPr>
                        <a:t>Vì sao chọn</a:t>
                      </a:r>
                      <a:endParaRPr lang="en-US" sz="1500" dirty="0">
                        <a:latin typeface="Calibri" charset="0"/>
                        <a:ea typeface="Calibri" charset="0"/>
                        <a:cs typeface="Calibri" charset="0"/>
                      </a:endParaRPr>
                    </a:p>
                  </a:txBody>
                  <a:tcPr marL="101600" marR="101600" marT="50800" marB="508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rgbClr val="EEF4FA"/>
                    </a:solidFill>
                  </a:tcPr>
                </a:tc>
              </a:tr>
              <a:tr h="640080">
                <a:tc>
                  <a:txBody>
                    <a:bodyPr/>
                    <a:lstStyle/>
                    <a:p>
                      <a:pPr indent="0" marL="0">
                        <a:buNone/>
                      </a:pPr>
                      <a:r>
                        <a:rPr lang="en-US" sz="1500" b="1" dirty="0">
                          <a:solidFill>
                            <a:srgbClr val="1D2733"/>
                          </a:solidFill>
                          <a:latin typeface="Calibri" pitchFamily="34" charset="0"/>
                          <a:ea typeface="Calibri" pitchFamily="34" charset="-122"/>
                          <a:cs typeface="Calibri" pitchFamily="34" charset="-120"/>
                        </a:rPr>
                        <a:t>Mô hình chính</a:t>
                      </a:r>
                      <a:endParaRPr lang="en-US" sz="1500" dirty="0">
                        <a:latin typeface="Calibri" charset="0"/>
                        <a:ea typeface="Calibri" charset="0"/>
                        <a:cs typeface="Calibri" charset="0"/>
                      </a:endParaRPr>
                    </a:p>
                  </a:txBody>
                  <a:tcPr marL="101600" marR="101600" marT="50800" marB="508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indent="0" marL="0">
                        <a:buNone/>
                      </a:pPr>
                      <a:r>
                        <a:rPr lang="en-US" sz="1500" dirty="0">
                          <a:solidFill>
                            <a:srgbClr val="1D2733"/>
                          </a:solidFill>
                          <a:latin typeface="Calibri" pitchFamily="34" charset="0"/>
                          <a:ea typeface="Calibri" pitchFamily="34" charset="-122"/>
                          <a:cs typeface="Calibri" pitchFamily="34" charset="-120"/>
                        </a:rPr>
                        <a:t>Q-learning dạng bảng (S&amp;B 6.5)</a:t>
                      </a:r>
                      <a:endParaRPr lang="en-US" sz="1500" dirty="0">
                        <a:latin typeface="Calibri" charset="0"/>
                        <a:ea typeface="Calibri" charset="0"/>
                        <a:cs typeface="Calibri" charset="0"/>
                      </a:endParaRPr>
                    </a:p>
                  </a:txBody>
                  <a:tcPr marL="101600" marR="101600" marT="50800" marB="508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indent="0" marL="0">
                        <a:buNone/>
                      </a:pPr>
                      <a:r>
                        <a:rPr lang="en-US" sz="1500" dirty="0">
                          <a:solidFill>
                            <a:srgbClr val="1D2733"/>
                          </a:solidFill>
                          <a:latin typeface="Calibri" pitchFamily="34" charset="0"/>
                          <a:ea typeface="Calibri" pitchFamily="34" charset="-122"/>
                          <a:cs typeface="Calibri" pitchFamily="34" charset="-120"/>
                        </a:rPr>
                        <a:t>đơn giản, đúng giáo trình, học được lời giải tối ưu</a:t>
                      </a:r>
                      <a:endParaRPr lang="en-US" sz="1500" dirty="0">
                        <a:latin typeface="Calibri" charset="0"/>
                        <a:ea typeface="Calibri" charset="0"/>
                        <a:cs typeface="Calibri" charset="0"/>
                      </a:endParaRPr>
                    </a:p>
                  </a:txBody>
                  <a:tcPr marL="101600" marR="101600" marT="50800" marB="508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r>
              <a:tr h="640080">
                <a:tc>
                  <a:txBody>
                    <a:bodyPr/>
                    <a:lstStyle/>
                    <a:p>
                      <a:pPr indent="0" marL="0">
                        <a:buNone/>
                      </a:pPr>
                      <a:r>
                        <a:rPr lang="en-US" sz="1500" b="1" dirty="0">
                          <a:solidFill>
                            <a:srgbClr val="1D2733"/>
                          </a:solidFill>
                          <a:latin typeface="Calibri" pitchFamily="34" charset="0"/>
                          <a:ea typeface="Calibri" pitchFamily="34" charset="-122"/>
                          <a:cs typeface="Calibri" pitchFamily="34" charset="-120"/>
                        </a:rPr>
                        <a:t>Mở rộng</a:t>
                      </a:r>
                      <a:endParaRPr lang="en-US" sz="1500" dirty="0">
                        <a:latin typeface="Calibri" charset="0"/>
                        <a:ea typeface="Calibri" charset="0"/>
                        <a:cs typeface="Calibri" charset="0"/>
                      </a:endParaRPr>
                    </a:p>
                  </a:txBody>
                  <a:tcPr marL="101600" marR="101600" marT="50800" marB="508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indent="0" marL="0">
                        <a:buNone/>
                      </a:pPr>
                      <a:r>
                        <a:rPr lang="en-US" sz="1500" dirty="0">
                          <a:solidFill>
                            <a:srgbClr val="1D2733"/>
                          </a:solidFill>
                          <a:latin typeface="Calibri" pitchFamily="34" charset="0"/>
                          <a:ea typeface="Calibri" pitchFamily="34" charset="-122"/>
                          <a:cs typeface="Calibri" pitchFamily="34" charset="-120"/>
                        </a:rPr>
                        <a:t>DQN = Q-learning + mạng CNN</a:t>
                      </a:r>
                      <a:endParaRPr lang="en-US" sz="1500" dirty="0">
                        <a:latin typeface="Calibri" charset="0"/>
                        <a:ea typeface="Calibri" charset="0"/>
                        <a:cs typeface="Calibri" charset="0"/>
                      </a:endParaRPr>
                    </a:p>
                  </a:txBody>
                  <a:tcPr marL="101600" marR="101600" marT="50800" marB="508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indent="0" marL="0">
                        <a:buNone/>
                      </a:pPr>
                      <a:r>
                        <a:rPr lang="en-US" sz="1500" dirty="0">
                          <a:solidFill>
                            <a:srgbClr val="1D2733"/>
                          </a:solidFill>
                          <a:latin typeface="Calibri" pitchFamily="34" charset="0"/>
                          <a:ea typeface="Calibri" pitchFamily="34" charset="-122"/>
                          <a:cs typeface="Calibri" pitchFamily="34" charset="-120"/>
                        </a:rPr>
                        <a:t>phòng 8×8 có ~10²¹ trạng thái, bảng không chứa nổi</a:t>
                      </a:r>
                      <a:endParaRPr lang="en-US" sz="1500" dirty="0">
                        <a:latin typeface="Calibri" charset="0"/>
                        <a:ea typeface="Calibri" charset="0"/>
                        <a:cs typeface="Calibri" charset="0"/>
                      </a:endParaRPr>
                    </a:p>
                  </a:txBody>
                  <a:tcPr marL="101600" marR="101600" marT="50800" marB="508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r>
              <a:tr h="640080">
                <a:tc>
                  <a:txBody>
                    <a:bodyPr/>
                    <a:lstStyle/>
                    <a:p>
                      <a:pPr indent="0" marL="0">
                        <a:buNone/>
                      </a:pPr>
                      <a:r>
                        <a:rPr lang="en-US" sz="1500" dirty="0">
                          <a:solidFill>
                            <a:srgbClr val="1D2733"/>
                          </a:solidFill>
                          <a:latin typeface="Calibri" pitchFamily="34" charset="0"/>
                          <a:ea typeface="Calibri" pitchFamily="34" charset="-122"/>
                          <a:cs typeface="Calibri" pitchFamily="34" charset="-120"/>
                        </a:rPr>
                        <a:t>Đáp án</a:t>
                      </a:r>
                      <a:endParaRPr lang="en-US" sz="1500" dirty="0">
                        <a:latin typeface="Calibri" charset="0"/>
                        <a:ea typeface="Calibri" charset="0"/>
                        <a:cs typeface="Calibri" charset="0"/>
                      </a:endParaRPr>
                    </a:p>
                  </a:txBody>
                  <a:tcPr marL="101600" marR="101600" marT="50800" marB="508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indent="0" marL="0">
                        <a:buNone/>
                      </a:pPr>
                      <a:r>
                        <a:rPr lang="en-US" sz="1500" dirty="0">
                          <a:solidFill>
                            <a:srgbClr val="1D2733"/>
                          </a:solidFill>
                          <a:latin typeface="Calibri" pitchFamily="34" charset="0"/>
                          <a:ea typeface="Calibri" pitchFamily="34" charset="-122"/>
                          <a:cs typeface="Calibri" pitchFamily="34" charset="-120"/>
                        </a:rPr>
                        <a:t>Value Iteration (S&amp;B 4.4)</a:t>
                      </a:r>
                      <a:endParaRPr lang="en-US" sz="1500" dirty="0">
                        <a:latin typeface="Calibri" charset="0"/>
                        <a:ea typeface="Calibri" charset="0"/>
                        <a:cs typeface="Calibri" charset="0"/>
                      </a:endParaRPr>
                    </a:p>
                  </a:txBody>
                  <a:tcPr marL="101600" marR="101600" marT="50800" marB="508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indent="0" marL="0">
                        <a:buNone/>
                      </a:pPr>
                      <a:r>
                        <a:rPr lang="en-US" sz="1500" dirty="0">
                          <a:solidFill>
                            <a:srgbClr val="1D2733"/>
                          </a:solidFill>
                          <a:latin typeface="Calibri" pitchFamily="34" charset="0"/>
                          <a:ea typeface="Calibri" pitchFamily="34" charset="-122"/>
                          <a:cs typeface="Calibri" pitchFamily="34" charset="-120"/>
                        </a:rPr>
                        <a:t>lời giải tối ưu tuyệt đối để chấm điểm, không học</a:t>
                      </a:r>
                      <a:endParaRPr lang="en-US" sz="1500" dirty="0">
                        <a:latin typeface="Calibri" charset="0"/>
                        <a:ea typeface="Calibri" charset="0"/>
                        <a:cs typeface="Calibri" charset="0"/>
                      </a:endParaRPr>
                    </a:p>
                  </a:txBody>
                  <a:tcPr marL="101600" marR="101600" marT="50800" marB="508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r>
              <a:tr h="640080">
                <a:tc>
                  <a:txBody>
                    <a:bodyPr/>
                    <a:lstStyle/>
                    <a:p>
                      <a:pPr indent="0" marL="0">
                        <a:buNone/>
                      </a:pPr>
                      <a:r>
                        <a:rPr lang="en-US" sz="1500" dirty="0">
                          <a:solidFill>
                            <a:srgbClr val="1D2733"/>
                          </a:solidFill>
                          <a:latin typeface="Calibri" pitchFamily="34" charset="0"/>
                          <a:ea typeface="Calibri" pitchFamily="34" charset="-122"/>
                          <a:cs typeface="Calibri" pitchFamily="34" charset="-120"/>
                        </a:rPr>
                        <a:t>Đối chứng</a:t>
                      </a:r>
                      <a:endParaRPr lang="en-US" sz="1500" dirty="0">
                        <a:latin typeface="Calibri" charset="0"/>
                        <a:ea typeface="Calibri" charset="0"/>
                        <a:cs typeface="Calibri" charset="0"/>
                      </a:endParaRPr>
                    </a:p>
                  </a:txBody>
                  <a:tcPr marL="101600" marR="101600" marT="50800" marB="508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indent="0" marL="0">
                        <a:buNone/>
                      </a:pPr>
                      <a:r>
                        <a:rPr lang="en-US" sz="1500" dirty="0">
                          <a:solidFill>
                            <a:srgbClr val="1D2733"/>
                          </a:solidFill>
                          <a:latin typeface="Calibri" pitchFamily="34" charset="0"/>
                          <a:ea typeface="Calibri" pitchFamily="34" charset="-122"/>
                          <a:cs typeface="Calibri" pitchFamily="34" charset="-120"/>
                        </a:rPr>
                        <a:t>đi ngẫu nhiên, zigzag, greedy BFS</a:t>
                      </a:r>
                      <a:endParaRPr lang="en-US" sz="1500" dirty="0">
                        <a:latin typeface="Calibri" charset="0"/>
                        <a:ea typeface="Calibri" charset="0"/>
                        <a:cs typeface="Calibri" charset="0"/>
                      </a:endParaRPr>
                    </a:p>
                  </a:txBody>
                  <a:tcPr marL="101600" marR="101600" marT="50800" marB="508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indent="0" marL="0">
                        <a:buNone/>
                      </a:pPr>
                      <a:r>
                        <a:rPr lang="en-US" sz="1500" dirty="0">
                          <a:solidFill>
                            <a:srgbClr val="1D2733"/>
                          </a:solidFill>
                          <a:latin typeface="Calibri" pitchFamily="34" charset="0"/>
                          <a:ea typeface="Calibri" pitchFamily="34" charset="-122"/>
                          <a:cs typeface="Calibri" pitchFamily="34" charset="-120"/>
                        </a:rPr>
                        <a:t>cách làm thủ công của robot thông thường</a:t>
                      </a:r>
                      <a:endParaRPr lang="en-US" sz="1500" dirty="0">
                        <a:latin typeface="Calibri" charset="0"/>
                        <a:ea typeface="Calibri" charset="0"/>
                        <a:cs typeface="Calibri" charset="0"/>
                      </a:endParaRPr>
                    </a:p>
                  </a:txBody>
                  <a:tcPr marL="101600" marR="101600" marT="50800" marB="508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r>
            </a:tbl>
          </a:graphicData>
        </a:graphic>
      </p:graphicFrame>
      <p:sp>
        <p:nvSpPr>
          <p:cNvPr id="6" name="Text 2"/>
          <p:cNvSpPr txBox="1"/>
          <p:nvPr/>
        </p:nvSpPr>
        <p:spPr>
          <a:xfrm>
            <a:off x="548640" y="5257800"/>
            <a:ext cx="11064240" cy="274320"/>
          </a:xfrm>
          <a:prstGeom prst="rect">
            <a:avLst/>
          </a:prstGeom>
          <a:noFill/>
          <a:ln/>
        </p:spPr>
        <p:txBody>
          <a:bodyPr wrap="square" lIns="0" tIns="0" rIns="0" bIns="0" rtlCol="0" anchor="t"/>
          <a:lstStyle/>
          <a:p>
            <a:pPr indent="0" marL="0">
              <a:buNone/>
            </a:pPr>
            <a:r>
              <a:rPr lang="en-US" sz="1400" i="1" dirty="0">
                <a:solidFill>
                  <a:srgbClr val="5B6878"/>
                </a:solidFill>
              </a:rPr>
              <a:t>Không dùng hết sách: bỏ SARSA, Double Q-learning, PPO để tập trung vào một mạch Q-learning → DQN.</a:t>
            </a:r>
            <a:endParaRPr lang="en-US" sz="14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878"/>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body" hasCustomPrompt="1"/>
          </p:nvPr>
        </p:nvSpPr>
        <p:spPr>
          <a:xfrm>
            <a:off x="768096" y="301752"/>
            <a:ext cx="8229600" cy="310896"/>
          </a:xfrm>
          <a:prstGeom prst="rect">
            <a:avLst/>
          </a:prstGeom>
          <a:noFill/>
          <a:ln/>
        </p:spPr>
        <p:txBody>
          <a:bodyPr wrap="square" lIns="0" tIns="0" rIns="0" bIns="0" rtlCol="0"/>
          <a:lstStyle/>
          <a:p>
            <a:pPr indent="0" marL="0">
              <a:buNone/>
            </a:pPr>
            <a:r>
              <a:rPr lang="en-US" sz="1200" spc="200" kern="0" dirty="0">
                <a:solidFill>
                  <a:srgbClr val="5B6878"/>
                </a:solidFill>
              </a:rPr>
              <a:t>Q-LEARNING</a:t>
            </a:r>
            <a:endParaRPr lang="en-US" sz="1200" dirty="0"/>
          </a:p>
        </p:txBody>
      </p:sp>
      <p:sp>
        <p:nvSpPr>
          <p:cNvPr id="3" name="Text 1"/>
          <p:cNvSpPr/>
          <p:nvPr>
            <p:ph idx="102" type="title" hasCustomPrompt="1"/>
          </p:nvPr>
        </p:nvSpPr>
        <p:spPr>
          <a:xfrm>
            <a:off x="548640" y="640080"/>
            <a:ext cx="11094415" cy="731520"/>
          </a:xfrm>
          <a:prstGeom prst="rect">
            <a:avLst/>
          </a:prstGeom>
          <a:noFill/>
          <a:ln/>
        </p:spPr>
        <p:txBody>
          <a:bodyPr wrap="square" lIns="0" tIns="0" rIns="0" bIns="0" rtlCol="0" anchor="t"/>
          <a:lstStyle/>
          <a:p>
            <a:pPr algn="l" indent="0" marL="0">
              <a:buNone/>
            </a:pPr>
            <a:r>
              <a:rPr lang="en-US" sz="2800" b="1" dirty="0">
                <a:solidFill>
                  <a:srgbClr val="1D2733"/>
                </a:solidFill>
                <a:latin typeface="Cambria" pitchFamily="34" charset="0"/>
                <a:ea typeface="Cambria" pitchFamily="34" charset="-122"/>
                <a:cs typeface="Cambria" pitchFamily="34" charset="-120"/>
              </a:rPr>
              <a:t>Q-learning học từ một công thức cập nhật duy nhất</a:t>
            </a:r>
            <a:endParaRPr lang="en-US" sz="2800" dirty="0"/>
          </a:p>
        </p:txBody>
      </p:sp>
      <p:sp>
        <p:nvSpPr>
          <p:cNvPr id="5" name="formula card"/>
          <p:cNvSpPr/>
          <p:nvPr/>
        </p:nvSpPr>
        <p:spPr>
          <a:xfrm>
            <a:off x="548640" y="1783080"/>
            <a:ext cx="11064240" cy="1371600"/>
          </a:xfrm>
          <a:prstGeom prst="roundRect">
            <a:avLst>
              <a:gd name="adj" fmla="val 5333"/>
            </a:avLst>
          </a:prstGeom>
          <a:solidFill>
            <a:srgbClr val="EEF4FA"/>
          </a:solidFill>
          <a:ln w="12700">
            <a:solidFill>
              <a:srgbClr val="EEF4FA"/>
            </a:solidFill>
            <a:prstDash val="solid"/>
          </a:ln>
        </p:spPr>
      </p:sp>
      <p:sp>
        <p:nvSpPr>
          <p:cNvPr id="6" name="Text 3"/>
          <p:cNvSpPr txBox="1"/>
          <p:nvPr/>
        </p:nvSpPr>
        <p:spPr>
          <a:xfrm>
            <a:off x="822960" y="1965960"/>
            <a:ext cx="10515600" cy="1005840"/>
          </a:xfrm>
          <a:prstGeom prst="rect">
            <a:avLst/>
          </a:prstGeom>
          <a:noFill/>
          <a:ln/>
        </p:spPr>
        <p:txBody>
          <a:bodyPr wrap="square" lIns="0" tIns="0" rIns="0" bIns="0" rtlCol="0" anchor="ctr"/>
          <a:lstStyle/>
          <a:p>
            <a:pPr algn="ctr" indent="0" marL="0">
              <a:buNone/>
            </a:pPr>
            <a:r>
              <a:rPr lang="en-US" sz="3200" dirty="0">
                <a:solidFill>
                  <a:srgbClr val="1D2733"/>
                </a:solidFill>
                <a:latin typeface="Cambria Math" pitchFamily="34" charset="0"/>
                <a:ea typeface="Cambria Math" pitchFamily="34" charset="-122"/>
                <a:cs typeface="Cambria Math" pitchFamily="34" charset="-120"/>
              </a:rPr>
              <a:t>Q(S, A)  ←  Q(S, A)  +  α [ </a:t>
            </a:r>
            <a:pPr algn="ctr" indent="0" marL="0">
              <a:buNone/>
            </a:pPr>
            <a:r>
              <a:rPr lang="en-US" sz="3200" b="1" dirty="0">
                <a:solidFill>
                  <a:srgbClr val="C8322F"/>
                </a:solidFill>
                <a:latin typeface="Cambria Math" pitchFamily="34" charset="0"/>
                <a:ea typeface="Cambria Math" pitchFamily="34" charset="-122"/>
                <a:cs typeface="Cambria Math" pitchFamily="34" charset="-120"/>
              </a:rPr>
              <a:t>R</a:t>
            </a:r>
            <a:pPr algn="ctr" indent="0" marL="0">
              <a:buNone/>
            </a:pPr>
            <a:r>
              <a:rPr lang="en-US" sz="3200" dirty="0">
                <a:solidFill>
                  <a:srgbClr val="1D2733"/>
                </a:solidFill>
                <a:latin typeface="Cambria Math" pitchFamily="34" charset="0"/>
                <a:ea typeface="Cambria Math" pitchFamily="34" charset="-122"/>
                <a:cs typeface="Cambria Math" pitchFamily="34" charset="-120"/>
              </a:rPr>
              <a:t>  +  γ · </a:t>
            </a:r>
            <a:pPr algn="ctr" indent="0" marL="0">
              <a:buNone/>
            </a:pPr>
            <a:r>
              <a:rPr lang="en-US" sz="3200" b="1" dirty="0">
                <a:solidFill>
                  <a:srgbClr val="1F6FB2"/>
                </a:solidFill>
                <a:latin typeface="Cambria Math" pitchFamily="34" charset="0"/>
                <a:ea typeface="Cambria Math" pitchFamily="34" charset="-122"/>
                <a:cs typeface="Cambria Math" pitchFamily="34" charset="-120"/>
              </a:rPr>
              <a:t>maxₐ Q(S′, a)</a:t>
            </a:r>
            <a:pPr algn="ctr" indent="0" marL="0">
              <a:buNone/>
            </a:pPr>
            <a:r>
              <a:rPr lang="en-US" sz="3200" dirty="0">
                <a:solidFill>
                  <a:srgbClr val="1D2733"/>
                </a:solidFill>
                <a:latin typeface="Cambria Math" pitchFamily="34" charset="0"/>
                <a:ea typeface="Cambria Math" pitchFamily="34" charset="-122"/>
                <a:cs typeface="Cambria Math" pitchFamily="34" charset="-120"/>
              </a:rPr>
              <a:t>  −  Q(S, A) ]</a:t>
            </a:r>
            <a:endParaRPr lang="en-US" sz="3200" dirty="0"/>
          </a:p>
        </p:txBody>
      </p:sp>
      <p:sp>
        <p:nvSpPr>
          <p:cNvPr id="7" name="Text 4"/>
          <p:cNvSpPr txBox="1"/>
          <p:nvPr/>
        </p:nvSpPr>
        <p:spPr>
          <a:xfrm>
            <a:off x="548640" y="3520440"/>
            <a:ext cx="3474720" cy="457200"/>
          </a:xfrm>
          <a:prstGeom prst="rect">
            <a:avLst/>
          </a:prstGeom>
          <a:noFill/>
          <a:ln/>
        </p:spPr>
        <p:txBody>
          <a:bodyPr wrap="square" lIns="0" tIns="0" rIns="0" bIns="0" rtlCol="0" anchor="t"/>
          <a:lstStyle/>
          <a:p>
            <a:pPr indent="0" marL="0">
              <a:buNone/>
            </a:pPr>
            <a:r>
              <a:rPr lang="en-US" sz="2000" b="1" dirty="0">
                <a:solidFill>
                  <a:srgbClr val="C8322F"/>
                </a:solidFill>
                <a:latin typeface="Cambria Math" pitchFamily="34" charset="0"/>
                <a:ea typeface="Cambria Math" pitchFamily="34" charset="-122"/>
                <a:cs typeface="Cambria Math" pitchFamily="34" charset="-120"/>
              </a:rPr>
              <a:t>R</a:t>
            </a:r>
            <a:endParaRPr lang="en-US" sz="2000" dirty="0"/>
          </a:p>
        </p:txBody>
      </p:sp>
      <p:sp>
        <p:nvSpPr>
          <p:cNvPr id="8" name="Text 5"/>
          <p:cNvSpPr txBox="1"/>
          <p:nvPr/>
        </p:nvSpPr>
        <p:spPr>
          <a:xfrm>
            <a:off x="548640" y="4023360"/>
            <a:ext cx="3383280" cy="822960"/>
          </a:xfrm>
          <a:prstGeom prst="rect">
            <a:avLst/>
          </a:prstGeom>
          <a:noFill/>
          <a:ln/>
        </p:spPr>
        <p:txBody>
          <a:bodyPr wrap="square" lIns="0" tIns="0" rIns="0" bIns="0" rtlCol="0" anchor="t"/>
          <a:lstStyle/>
          <a:p>
            <a:pPr indent="0" marL="0">
              <a:buNone/>
            </a:pPr>
            <a:r>
              <a:rPr lang="en-US" sz="1600" dirty="0">
                <a:solidFill>
                  <a:srgbClr val="1D2733"/>
                </a:solidFill>
              </a:rPr>
              <a:t>phần thưởng vừa nhận sau bước đi</a:t>
            </a:r>
            <a:endParaRPr lang="en-US" sz="1600" dirty="0"/>
          </a:p>
        </p:txBody>
      </p:sp>
      <p:sp>
        <p:nvSpPr>
          <p:cNvPr id="9" name="Text 6"/>
          <p:cNvSpPr txBox="1"/>
          <p:nvPr/>
        </p:nvSpPr>
        <p:spPr>
          <a:xfrm>
            <a:off x="4297680" y="3520440"/>
            <a:ext cx="3474720" cy="457200"/>
          </a:xfrm>
          <a:prstGeom prst="rect">
            <a:avLst/>
          </a:prstGeom>
          <a:noFill/>
          <a:ln/>
        </p:spPr>
        <p:txBody>
          <a:bodyPr wrap="square" lIns="0" tIns="0" rIns="0" bIns="0" rtlCol="0" anchor="t"/>
          <a:lstStyle/>
          <a:p>
            <a:pPr indent="0" marL="0">
              <a:buNone/>
            </a:pPr>
            <a:r>
              <a:rPr lang="en-US" sz="2000" b="1" dirty="0">
                <a:solidFill>
                  <a:srgbClr val="1F6FB2"/>
                </a:solidFill>
                <a:latin typeface="Cambria Math" pitchFamily="34" charset="0"/>
                <a:ea typeface="Cambria Math" pitchFamily="34" charset="-122"/>
                <a:cs typeface="Cambria Math" pitchFamily="34" charset="-120"/>
              </a:rPr>
              <a:t>γ · maxₐ Q(S′, a)</a:t>
            </a:r>
            <a:endParaRPr lang="en-US" sz="2000" dirty="0"/>
          </a:p>
        </p:txBody>
      </p:sp>
      <p:sp>
        <p:nvSpPr>
          <p:cNvPr id="10" name="Text 7"/>
          <p:cNvSpPr txBox="1"/>
          <p:nvPr/>
        </p:nvSpPr>
        <p:spPr>
          <a:xfrm>
            <a:off x="4297680" y="4023360"/>
            <a:ext cx="3383280" cy="822960"/>
          </a:xfrm>
          <a:prstGeom prst="rect">
            <a:avLst/>
          </a:prstGeom>
          <a:noFill/>
          <a:ln/>
        </p:spPr>
        <p:txBody>
          <a:bodyPr wrap="square" lIns="0" tIns="0" rIns="0" bIns="0" rtlCol="0" anchor="t"/>
          <a:lstStyle/>
          <a:p>
            <a:pPr indent="0" marL="0">
              <a:buNone/>
            </a:pPr>
            <a:r>
              <a:rPr lang="en-US" sz="1600" dirty="0">
                <a:solidFill>
                  <a:srgbClr val="1D2733"/>
                </a:solidFill>
              </a:rPr>
              <a:t>giá trị tốt nhất có thể đạt được từ trạng thái sau</a:t>
            </a:r>
            <a:endParaRPr lang="en-US" sz="1600" dirty="0"/>
          </a:p>
        </p:txBody>
      </p:sp>
      <p:sp>
        <p:nvSpPr>
          <p:cNvPr id="11" name="Text 8"/>
          <p:cNvSpPr txBox="1"/>
          <p:nvPr/>
        </p:nvSpPr>
        <p:spPr>
          <a:xfrm>
            <a:off x="8046720" y="3520440"/>
            <a:ext cx="3474720" cy="457200"/>
          </a:xfrm>
          <a:prstGeom prst="rect">
            <a:avLst/>
          </a:prstGeom>
          <a:noFill/>
          <a:ln/>
        </p:spPr>
        <p:txBody>
          <a:bodyPr wrap="square" lIns="0" tIns="0" rIns="0" bIns="0" rtlCol="0" anchor="t"/>
          <a:lstStyle/>
          <a:p>
            <a:pPr indent="0" marL="0">
              <a:buNone/>
            </a:pPr>
            <a:r>
              <a:rPr lang="en-US" sz="2000" b="1" dirty="0">
                <a:solidFill>
                  <a:srgbClr val="1D2733"/>
                </a:solidFill>
                <a:latin typeface="Cambria Math" pitchFamily="34" charset="0"/>
                <a:ea typeface="Cambria Math" pitchFamily="34" charset="-122"/>
                <a:cs typeface="Cambria Math" pitchFamily="34" charset="-120"/>
              </a:rPr>
              <a:t>[ … ] · α</a:t>
            </a:r>
            <a:endParaRPr lang="en-US" sz="2000" dirty="0"/>
          </a:p>
        </p:txBody>
      </p:sp>
      <p:sp>
        <p:nvSpPr>
          <p:cNvPr id="12" name="Text 9"/>
          <p:cNvSpPr txBox="1"/>
          <p:nvPr/>
        </p:nvSpPr>
        <p:spPr>
          <a:xfrm>
            <a:off x="8046720" y="4023360"/>
            <a:ext cx="3383280" cy="822960"/>
          </a:xfrm>
          <a:prstGeom prst="rect">
            <a:avLst/>
          </a:prstGeom>
          <a:noFill/>
          <a:ln/>
        </p:spPr>
        <p:txBody>
          <a:bodyPr wrap="square" lIns="0" tIns="0" rIns="0" bIns="0" rtlCol="0" anchor="t"/>
          <a:lstStyle/>
          <a:p>
            <a:pPr indent="0" marL="0">
              <a:buNone/>
            </a:pPr>
            <a:r>
              <a:rPr lang="en-US" sz="1600" dirty="0">
                <a:solidFill>
                  <a:srgbClr val="1D2733"/>
                </a:solidFill>
              </a:rPr>
              <a:t>sai số cần sửa, nhân với tốc độ học α = 0,5</a:t>
            </a:r>
            <a:endParaRPr lang="en-US" sz="1600" dirty="0"/>
          </a:p>
        </p:txBody>
      </p:sp>
      <p:sp>
        <p:nvSpPr>
          <p:cNvPr id="13" name="Text 10"/>
          <p:cNvSpPr txBox="1"/>
          <p:nvPr/>
        </p:nvSpPr>
        <p:spPr>
          <a:xfrm>
            <a:off x="548640" y="5120640"/>
            <a:ext cx="11064240" cy="731520"/>
          </a:xfrm>
          <a:prstGeom prst="rect">
            <a:avLst/>
          </a:prstGeom>
          <a:noFill/>
          <a:ln/>
        </p:spPr>
        <p:txBody>
          <a:bodyPr wrap="square" lIns="0" tIns="0" rIns="0" bIns="0" rtlCol="0" anchor="t"/>
          <a:lstStyle/>
          <a:p>
            <a:pPr indent="0" marL="0">
              <a:buNone/>
            </a:pPr>
            <a:r>
              <a:rPr lang="en-US" sz="1600" dirty="0">
                <a:solidFill>
                  <a:srgbClr val="5B6878"/>
                </a:solidFill>
              </a:rPr>
              <a:t>ε-greedy: với xác suất ε chọn ngẫu nhiên để khám phá (ε giảm từ 1 xuống 0,05), còn lại chọn hành động có Q lớn nhất.</a:t>
            </a:r>
            <a:endParaRPr lang="en-US" sz="16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878"/>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body" hasCustomPrompt="1"/>
          </p:nvPr>
        </p:nvSpPr>
        <p:spPr>
          <a:xfrm>
            <a:off x="768096" y="301752"/>
            <a:ext cx="8229600" cy="310896"/>
          </a:xfrm>
          <a:prstGeom prst="rect">
            <a:avLst/>
          </a:prstGeom>
          <a:noFill/>
          <a:ln/>
        </p:spPr>
        <p:txBody>
          <a:bodyPr wrap="square" lIns="0" tIns="0" rIns="0" bIns="0" rtlCol="0"/>
          <a:lstStyle/>
          <a:p>
            <a:pPr indent="0" marL="0">
              <a:buNone/>
            </a:pPr>
            <a:r>
              <a:rPr lang="en-US" sz="1200" spc="200" kern="0" dirty="0">
                <a:solidFill>
                  <a:srgbClr val="5B6878"/>
                </a:solidFill>
              </a:rPr>
              <a:t>DEEP Q-LEARNING</a:t>
            </a:r>
            <a:endParaRPr lang="en-US" sz="1200" dirty="0"/>
          </a:p>
        </p:txBody>
      </p:sp>
      <p:sp>
        <p:nvSpPr>
          <p:cNvPr id="3" name="Text 1"/>
          <p:cNvSpPr/>
          <p:nvPr>
            <p:ph idx="102" type="title" hasCustomPrompt="1"/>
          </p:nvPr>
        </p:nvSpPr>
        <p:spPr>
          <a:xfrm>
            <a:off x="548640" y="640080"/>
            <a:ext cx="11094415" cy="731520"/>
          </a:xfrm>
          <a:prstGeom prst="rect">
            <a:avLst/>
          </a:prstGeom>
          <a:noFill/>
          <a:ln/>
        </p:spPr>
        <p:txBody>
          <a:bodyPr wrap="square" lIns="0" tIns="0" rIns="0" bIns="0" rtlCol="0" anchor="t"/>
          <a:lstStyle/>
          <a:p>
            <a:pPr algn="l" indent="0" marL="0">
              <a:buNone/>
            </a:pPr>
            <a:r>
              <a:rPr lang="en-US" sz="2800" b="1" dirty="0">
                <a:solidFill>
                  <a:srgbClr val="1D2733"/>
                </a:solidFill>
                <a:latin typeface="Cambria" pitchFamily="34" charset="0"/>
                <a:ea typeface="Cambria" pitchFamily="34" charset="-122"/>
                <a:cs typeface="Cambria" pitchFamily="34" charset="-120"/>
              </a:rPr>
              <a:t>DQN giữ nguyên công thức, chỉ thay nơi lưu Q</a:t>
            </a:r>
            <a:endParaRPr lang="en-US" sz="28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11064240" cy="914400"/>
        </p:xfrm>
        <a:graphic>
          <a:graphicData uri="http://schemas.openxmlformats.org/drawingml/2006/table">
            <a:tbl>
              <a:tblPr/>
              <a:tblGrid>
                <a:gridCol w="3200400"/>
                <a:gridCol w="3749040"/>
                <a:gridCol w="4114800"/>
              </a:tblGrid>
              <a:tr h="685800">
                <a:tc>
                  <a:txBody>
                    <a:bodyPr/>
                    <a:lstStyle/>
                    <a:p>
                      <a:pPr indent="0" marL="0">
                        <a:buNone/>
                      </a:pPr>
                      <a:r>
                        <a:rPr lang="en-US" sz="1500" b="1" dirty="0">
                          <a:solidFill>
                            <a:srgbClr val="1D2733"/>
                          </a:solidFill>
                          <a:latin typeface="Calibri" pitchFamily="34" charset="0"/>
                          <a:ea typeface="Calibri" pitchFamily="34" charset="-122"/>
                          <a:cs typeface="Calibri" pitchFamily="34" charset="-120"/>
                        </a:rPr>
                        <a:t>Q-learning dạng bảng</a:t>
                      </a:r>
                      <a:endParaRPr lang="en-US" sz="1500" dirty="0">
                        <a:latin typeface="Calibri" charset="0"/>
                        <a:ea typeface="Calibri" charset="0"/>
                        <a:cs typeface="Calibri" charset="0"/>
                      </a:endParaRPr>
                    </a:p>
                  </a:txBody>
                  <a:tcPr marL="101600" marR="101600" marT="50800" marB="508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rgbClr val="EEF4FA"/>
                    </a:solidFill>
                  </a:tcPr>
                </a:tc>
                <a:tc>
                  <a:txBody>
                    <a:bodyPr/>
                    <a:lstStyle/>
                    <a:p>
                      <a:pPr indent="0" marL="0">
                        <a:buNone/>
                      </a:pPr>
                      <a:r>
                        <a:rPr lang="en-US" sz="1500" b="1" dirty="0">
                          <a:solidFill>
                            <a:srgbClr val="1D2733"/>
                          </a:solidFill>
                          <a:latin typeface="Calibri" pitchFamily="34" charset="0"/>
                          <a:ea typeface="Calibri" pitchFamily="34" charset="-122"/>
                          <a:cs typeface="Calibri" pitchFamily="34" charset="-120"/>
                        </a:rPr>
                        <a:t>DQN</a:t>
                      </a:r>
                      <a:endParaRPr lang="en-US" sz="1500" dirty="0">
                        <a:latin typeface="Calibri" charset="0"/>
                        <a:ea typeface="Calibri" charset="0"/>
                        <a:cs typeface="Calibri" charset="0"/>
                      </a:endParaRPr>
                    </a:p>
                  </a:txBody>
                  <a:tcPr marL="101600" marR="101600" marT="50800" marB="508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rgbClr val="EEF4FA"/>
                    </a:solidFill>
                  </a:tcPr>
                </a:tc>
                <a:tc>
                  <a:txBody>
                    <a:bodyPr/>
                    <a:lstStyle/>
                    <a:p>
                      <a:pPr indent="0" marL="0">
                        <a:buNone/>
                      </a:pPr>
                      <a:r>
                        <a:rPr lang="en-US" sz="1500" b="1" dirty="0">
                          <a:solidFill>
                            <a:srgbClr val="1D2733"/>
                          </a:solidFill>
                          <a:latin typeface="Calibri" pitchFamily="34" charset="0"/>
                          <a:ea typeface="Calibri" pitchFamily="34" charset="-122"/>
                          <a:cs typeface="Calibri" pitchFamily="34" charset="-120"/>
                        </a:rPr>
                        <a:t>Vì sao đổi</a:t>
                      </a:r>
                      <a:endParaRPr lang="en-US" sz="1500" dirty="0">
                        <a:latin typeface="Calibri" charset="0"/>
                        <a:ea typeface="Calibri" charset="0"/>
                        <a:cs typeface="Calibri" charset="0"/>
                      </a:endParaRPr>
                    </a:p>
                  </a:txBody>
                  <a:tcPr marL="101600" marR="101600" marT="50800" marB="508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rgbClr val="EEF4FA"/>
                    </a:solidFill>
                  </a:tcPr>
                </a:tc>
              </a:tr>
              <a:tr h="685800">
                <a:tc>
                  <a:txBody>
                    <a:bodyPr/>
                    <a:lstStyle/>
                    <a:p>
                      <a:pPr indent="0" marL="0">
                        <a:buNone/>
                      </a:pPr>
                      <a:r>
                        <a:rPr lang="en-US" sz="1500" dirty="0">
                          <a:solidFill>
                            <a:srgbClr val="1D2733"/>
                          </a:solidFill>
                          <a:latin typeface="Calibri" pitchFamily="34" charset="0"/>
                          <a:ea typeface="Calibri" pitchFamily="34" charset="-122"/>
                          <a:cs typeface="Calibri" pitchFamily="34" charset="-120"/>
                        </a:rPr>
                        <a:t>Q[S][A] tra trong bảng</a:t>
                      </a:r>
                      <a:endParaRPr lang="en-US" sz="1500" dirty="0">
                        <a:latin typeface="Calibri" charset="0"/>
                        <a:ea typeface="Calibri" charset="0"/>
                        <a:cs typeface="Calibri" charset="0"/>
                      </a:endParaRPr>
                    </a:p>
                  </a:txBody>
                  <a:tcPr marL="101600" marR="101600" marT="50800" marB="508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indent="0" marL="0">
                        <a:buNone/>
                      </a:pPr>
                      <a:r>
                        <a:rPr lang="en-US" sz="1500" dirty="0">
                          <a:solidFill>
                            <a:srgbClr val="1D2733"/>
                          </a:solidFill>
                          <a:latin typeface="Calibri" pitchFamily="34" charset="0"/>
                          <a:ea typeface="Calibri" pitchFamily="34" charset="-122"/>
                          <a:cs typeface="Calibri" pitchFamily="34" charset="-120"/>
                        </a:rPr>
                        <a:t>QNetwork(obs)[A] do CNN tính</a:t>
                      </a:r>
                      <a:endParaRPr lang="en-US" sz="1500" dirty="0">
                        <a:latin typeface="Calibri" charset="0"/>
                        <a:ea typeface="Calibri" charset="0"/>
                        <a:cs typeface="Calibri" charset="0"/>
                      </a:endParaRPr>
                    </a:p>
                  </a:txBody>
                  <a:tcPr marL="101600" marR="101600" marT="50800" marB="508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indent="0" marL="0">
                        <a:buNone/>
                      </a:pPr>
                      <a:r>
                        <a:rPr lang="en-US" sz="1500" dirty="0">
                          <a:solidFill>
                            <a:srgbClr val="1D2733"/>
                          </a:solidFill>
                          <a:latin typeface="Calibri" pitchFamily="34" charset="0"/>
                          <a:ea typeface="Calibri" pitchFamily="34" charset="-122"/>
                          <a:cs typeface="Calibri" pitchFamily="34" charset="-120"/>
                        </a:rPr>
                        <a:t>quá nhiều trạng thái; mạng khái quát được (S&amp;B 9.1)</a:t>
                      </a:r>
                      <a:endParaRPr lang="en-US" sz="1500" dirty="0">
                        <a:latin typeface="Calibri" charset="0"/>
                        <a:ea typeface="Calibri" charset="0"/>
                        <a:cs typeface="Calibri" charset="0"/>
                      </a:endParaRPr>
                    </a:p>
                  </a:txBody>
                  <a:tcPr marL="101600" marR="101600" marT="50800" marB="508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r>
              <a:tr h="685800">
                <a:tc>
                  <a:txBody>
                    <a:bodyPr/>
                    <a:lstStyle/>
                    <a:p>
                      <a:pPr indent="0" marL="0">
                        <a:buNone/>
                      </a:pPr>
                      <a:r>
                        <a:rPr lang="en-US" sz="1500" dirty="0">
                          <a:solidFill>
                            <a:srgbClr val="1D2733"/>
                          </a:solidFill>
                          <a:latin typeface="Calibri" pitchFamily="34" charset="0"/>
                          <a:ea typeface="Calibri" pitchFamily="34" charset="-122"/>
                          <a:cs typeface="Calibri" pitchFamily="34" charset="-120"/>
                        </a:rPr>
                        <a:t>mục tiêu R + γ·max Q(S′, a)</a:t>
                      </a:r>
                      <a:endParaRPr lang="en-US" sz="1500" dirty="0">
                        <a:latin typeface="Calibri" charset="0"/>
                        <a:ea typeface="Calibri" charset="0"/>
                        <a:cs typeface="Calibri" charset="0"/>
                      </a:endParaRPr>
                    </a:p>
                  </a:txBody>
                  <a:tcPr marL="101600" marR="101600" marT="50800" marB="508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indent="0" marL="0">
                        <a:buNone/>
                      </a:pPr>
                      <a:r>
                        <a:rPr lang="en-US" sz="1500" dirty="0">
                          <a:solidFill>
                            <a:srgbClr val="1D2733"/>
                          </a:solidFill>
                          <a:latin typeface="Calibri" pitchFamily="34" charset="0"/>
                          <a:ea typeface="Calibri" pitchFamily="34" charset="-122"/>
                          <a:cs typeface="Calibri" pitchFamily="34" charset="-120"/>
                        </a:rPr>
                        <a:t>cùng công thức, max trên target network</a:t>
                      </a:r>
                      <a:endParaRPr lang="en-US" sz="1500" dirty="0">
                        <a:latin typeface="Calibri" charset="0"/>
                        <a:ea typeface="Calibri" charset="0"/>
                        <a:cs typeface="Calibri" charset="0"/>
                      </a:endParaRPr>
                    </a:p>
                  </a:txBody>
                  <a:tcPr marL="101600" marR="101600" marT="50800" marB="508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indent="0" marL="0">
                        <a:buNone/>
                      </a:pPr>
                      <a:r>
                        <a:rPr lang="en-US" sz="1500" dirty="0">
                          <a:solidFill>
                            <a:srgbClr val="1D2733"/>
                          </a:solidFill>
                          <a:latin typeface="Calibri" pitchFamily="34" charset="0"/>
                          <a:ea typeface="Calibri" pitchFamily="34" charset="-122"/>
                          <a:cs typeface="Calibri" pitchFamily="34" charset="-120"/>
                        </a:rPr>
                        <a:t>mục tiêu thay đổi mỗi bước gây bất ổn (S&amp;B 11.3)</a:t>
                      </a:r>
                      <a:endParaRPr lang="en-US" sz="1500" dirty="0">
                        <a:latin typeface="Calibri" charset="0"/>
                        <a:ea typeface="Calibri" charset="0"/>
                        <a:cs typeface="Calibri" charset="0"/>
                      </a:endParaRPr>
                    </a:p>
                  </a:txBody>
                  <a:tcPr marL="101600" marR="101600" marT="50800" marB="508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r>
              <a:tr h="685800">
                <a:tc>
                  <a:txBody>
                    <a:bodyPr/>
                    <a:lstStyle/>
                    <a:p>
                      <a:pPr indent="0" marL="0">
                        <a:buNone/>
                      </a:pPr>
                      <a:r>
                        <a:rPr lang="en-US" sz="1500" dirty="0">
                          <a:solidFill>
                            <a:srgbClr val="1D2733"/>
                          </a:solidFill>
                          <a:latin typeface="Calibri" pitchFamily="34" charset="0"/>
                          <a:ea typeface="Calibri" pitchFamily="34" charset="-122"/>
                          <a:cs typeface="Calibri" pitchFamily="34" charset="-120"/>
                        </a:rPr>
                        <a:t>cập nhật ngay sau mỗi bước</a:t>
                      </a:r>
                      <a:endParaRPr lang="en-US" sz="1500" dirty="0">
                        <a:latin typeface="Calibri" charset="0"/>
                        <a:ea typeface="Calibri" charset="0"/>
                        <a:cs typeface="Calibri" charset="0"/>
                      </a:endParaRPr>
                    </a:p>
                  </a:txBody>
                  <a:tcPr marL="101600" marR="101600" marT="50800" marB="508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indent="0" marL="0">
                        <a:buNone/>
                      </a:pPr>
                      <a:r>
                        <a:rPr lang="en-US" sz="1500" dirty="0">
                          <a:solidFill>
                            <a:srgbClr val="1D2733"/>
                          </a:solidFill>
                          <a:latin typeface="Calibri" pitchFamily="34" charset="0"/>
                          <a:ea typeface="Calibri" pitchFamily="34" charset="-122"/>
                          <a:cs typeface="Calibri" pitchFamily="34" charset="-120"/>
                        </a:rPr>
                        <a:t>lưu vào replay buffer, học trên lô ngẫu nhiên</a:t>
                      </a:r>
                      <a:endParaRPr lang="en-US" sz="1500" dirty="0">
                        <a:latin typeface="Calibri" charset="0"/>
                        <a:ea typeface="Calibri" charset="0"/>
                        <a:cs typeface="Calibri" charset="0"/>
                      </a:endParaRPr>
                    </a:p>
                  </a:txBody>
                  <a:tcPr marL="101600" marR="101600" marT="50800" marB="508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indent="0" marL="0">
                        <a:buNone/>
                      </a:pPr>
                      <a:r>
                        <a:rPr lang="en-US" sz="1500" dirty="0">
                          <a:solidFill>
                            <a:srgbClr val="1D2733"/>
                          </a:solidFill>
                          <a:latin typeface="Calibri" pitchFamily="34" charset="0"/>
                          <a:ea typeface="Calibri" pitchFamily="34" charset="-122"/>
                          <a:cs typeface="Calibri" pitchFamily="34" charset="-120"/>
                        </a:rPr>
                        <a:t>các bước liên tiếp tương quan mạnh</a:t>
                      </a:r>
                      <a:endParaRPr lang="en-US" sz="1500" dirty="0">
                        <a:latin typeface="Calibri" charset="0"/>
                        <a:ea typeface="Calibri" charset="0"/>
                        <a:cs typeface="Calibri" charset="0"/>
                      </a:endParaRPr>
                    </a:p>
                  </a:txBody>
                  <a:tcPr marL="101600" marR="101600" marT="50800" marB="508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r>
            </a:tbl>
          </a:graphicData>
        </a:graphic>
      </p:graphicFrame>
      <p:sp>
        <p:nvSpPr>
          <p:cNvPr id="6" name="takeaway card"/>
          <p:cNvSpPr/>
          <p:nvPr/>
        </p:nvSpPr>
        <p:spPr>
          <a:xfrm>
            <a:off x="548640" y="4800600"/>
            <a:ext cx="11064240" cy="822960"/>
          </a:xfrm>
          <a:prstGeom prst="roundRect">
            <a:avLst>
              <a:gd name="adj" fmla="val 8889"/>
            </a:avLst>
          </a:prstGeom>
          <a:solidFill>
            <a:srgbClr val="EEF4FA"/>
          </a:solidFill>
          <a:ln w="12700">
            <a:solidFill>
              <a:srgbClr val="EEF4FA"/>
            </a:solidFill>
            <a:prstDash val="solid"/>
          </a:ln>
        </p:spPr>
      </p:sp>
      <p:sp>
        <p:nvSpPr>
          <p:cNvPr id="7" name="Text 3"/>
          <p:cNvSpPr txBox="1"/>
          <p:nvPr/>
        </p:nvSpPr>
        <p:spPr>
          <a:xfrm>
            <a:off x="822960" y="4983480"/>
            <a:ext cx="10515600" cy="548640"/>
          </a:xfrm>
          <a:prstGeom prst="rect">
            <a:avLst/>
          </a:prstGeom>
          <a:noFill/>
          <a:ln/>
        </p:spPr>
        <p:txBody>
          <a:bodyPr wrap="square" lIns="0" tIns="0" rIns="0" bIns="0" rtlCol="0" anchor="t"/>
          <a:lstStyle/>
          <a:p>
            <a:pPr indent="0" marL="0">
              <a:buNone/>
            </a:pPr>
            <a:r>
              <a:rPr lang="en-US" sz="1600" dirty="0">
                <a:solidFill>
                  <a:srgbClr val="1D2733"/>
                </a:solidFill>
              </a:rPr>
              <a:t>Mạng CNN 2 lớp tích chập + 1 lớp ẩn, ~268 nghìn tham số; learning rate 2,5·10⁻⁴, buffer 100k, chép target network mỗi 500 bước.</a:t>
            </a:r>
            <a:endParaRPr lang="en-US" sz="16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878"/>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body" hasCustomPrompt="1"/>
          </p:nvPr>
        </p:nvSpPr>
        <p:spPr>
          <a:xfrm>
            <a:off x="768096" y="301752"/>
            <a:ext cx="8229600" cy="310896"/>
          </a:xfrm>
          <a:prstGeom prst="rect">
            <a:avLst/>
          </a:prstGeom>
          <a:noFill/>
          <a:ln/>
        </p:spPr>
        <p:txBody>
          <a:bodyPr wrap="square" lIns="0" tIns="0" rIns="0" bIns="0" rtlCol="0"/>
          <a:lstStyle/>
          <a:p>
            <a:pPr indent="0" marL="0">
              <a:buNone/>
            </a:pPr>
            <a:r>
              <a:rPr lang="en-US" sz="1200" spc="200" kern="0" dirty="0">
                <a:solidFill>
                  <a:srgbClr val="5B6878"/>
                </a:solidFill>
              </a:rPr>
              <a:t>KẾT QUẢ · Q-LEARNING</a:t>
            </a:r>
            <a:endParaRPr lang="en-US" sz="1200" dirty="0"/>
          </a:p>
        </p:txBody>
      </p:sp>
      <p:sp>
        <p:nvSpPr>
          <p:cNvPr id="3" name="Text 1"/>
          <p:cNvSpPr/>
          <p:nvPr>
            <p:ph idx="102" type="title" hasCustomPrompt="1"/>
          </p:nvPr>
        </p:nvSpPr>
        <p:spPr>
          <a:xfrm>
            <a:off x="548640" y="640080"/>
            <a:ext cx="11094415" cy="731520"/>
          </a:xfrm>
          <a:prstGeom prst="rect">
            <a:avLst/>
          </a:prstGeom>
          <a:noFill/>
          <a:ln/>
        </p:spPr>
        <p:txBody>
          <a:bodyPr wrap="square" lIns="0" tIns="0" rIns="0" bIns="0" rtlCol="0" anchor="t"/>
          <a:lstStyle/>
          <a:p>
            <a:pPr algn="l" indent="0" marL="0">
              <a:buNone/>
            </a:pPr>
            <a:r>
              <a:rPr lang="en-US" sz="2800" b="1" dirty="0">
                <a:solidFill>
                  <a:srgbClr val="1D2733"/>
                </a:solidFill>
                <a:latin typeface="Cambria" pitchFamily="34" charset="0"/>
                <a:ea typeface="Cambria" pitchFamily="34" charset="-122"/>
                <a:cs typeface="Cambria" pitchFamily="34" charset="-120"/>
              </a:rPr>
              <a:t>Q-learning đạt đúng lời giải tối ưu</a:t>
            </a:r>
            <a:endParaRPr lang="en-US" sz="2800" dirty="0"/>
          </a:p>
        </p:txBody>
      </p:sp>
      <p:pic>
        <p:nvPicPr>
          <p:cNvPr id="5" name="q_convergence.png" descr="max Q(s0) hội tụ về V*">    </p:cNvPr>
          <p:cNvPicPr>
            <a:picLocks noChangeAspect="1"/>
          </p:cNvPicPr>
          <p:nvPr/>
        </p:nvPicPr>
        <p:blipFill>
          <a:blip r:embed="rId1"/>
          <a:stretch>
            <a:fillRect/>
          </a:stretch>
        </p:blipFill>
        <p:spPr>
          <a:xfrm>
            <a:off x="548640" y="2066696"/>
            <a:ext cx="6949440" cy="3364687"/>
          </a:xfrm>
          <a:prstGeom prst="rect">
            <a:avLst/>
          </a:prstGeom>
        </p:spPr>
      </p:pic>
      <p:sp>
        <p:nvSpPr>
          <p:cNvPr id="6" name="Text 2"/>
          <p:cNvSpPr txBox="1"/>
          <p:nvPr/>
        </p:nvSpPr>
        <p:spPr>
          <a:xfrm>
            <a:off x="548640" y="5943600"/>
            <a:ext cx="6949440" cy="274320"/>
          </a:xfrm>
          <a:prstGeom prst="rect">
            <a:avLst/>
          </a:prstGeom>
          <a:noFill/>
          <a:ln/>
        </p:spPr>
        <p:txBody>
          <a:bodyPr wrap="square" lIns="0" tIns="0" rIns="0" bIns="0" rtlCol="0" anchor="t"/>
          <a:lstStyle/>
          <a:p>
            <a:pPr indent="0" marL="0">
              <a:buNone/>
            </a:pPr>
            <a:r>
              <a:rPr lang="en-US" sz="1200" i="1" dirty="0">
                <a:solidFill>
                  <a:srgbClr val="5B6878"/>
                </a:solidFill>
              </a:rPr>
              <a:t>Phòng 4×4 có vật cản, xuất phát (0,0); trung bình ± std qua 5 seed</a:t>
            </a:r>
            <a:endParaRPr lang="en-US" sz="1200" dirty="0"/>
          </a:p>
        </p:txBody>
      </p:sp>
      <p:sp>
        <p:nvSpPr>
          <p:cNvPr id="7" name="Text 3"/>
          <p:cNvSpPr txBox="1"/>
          <p:nvPr/>
        </p:nvSpPr>
        <p:spPr>
          <a:xfrm>
            <a:off x="8001000" y="1783080"/>
            <a:ext cx="3657600" cy="868680"/>
          </a:xfrm>
          <a:prstGeom prst="rect">
            <a:avLst/>
          </a:prstGeom>
          <a:noFill/>
          <a:ln/>
        </p:spPr>
        <p:txBody>
          <a:bodyPr wrap="square" lIns="0" tIns="0" rIns="0" bIns="0" rtlCol="0" anchor="b"/>
          <a:lstStyle/>
          <a:p>
            <a:pPr indent="0" marL="0">
              <a:buNone/>
            </a:pPr>
            <a:r>
              <a:rPr lang="en-US" sz="5400" b="1" dirty="0">
                <a:solidFill>
                  <a:srgbClr val="1F6FB2"/>
                </a:solidFill>
                <a:latin typeface="Calibri" pitchFamily="34" charset="0"/>
                <a:ea typeface="Calibri" pitchFamily="34" charset="-122"/>
                <a:cs typeface="Calibri" pitchFamily="34" charset="-120"/>
              </a:rPr>
              <a:t>0%</a:t>
            </a:r>
            <a:endParaRPr lang="en-US" sz="5400" dirty="0"/>
          </a:p>
        </p:txBody>
      </p:sp>
      <p:sp>
        <p:nvSpPr>
          <p:cNvPr id="8" name="Text 4"/>
          <p:cNvSpPr txBox="1"/>
          <p:nvPr/>
        </p:nvSpPr>
        <p:spPr>
          <a:xfrm>
            <a:off x="8001000" y="2697480"/>
            <a:ext cx="3657600" cy="777240"/>
          </a:xfrm>
          <a:prstGeom prst="rect">
            <a:avLst/>
          </a:prstGeom>
          <a:noFill/>
          <a:ln/>
        </p:spPr>
        <p:txBody>
          <a:bodyPr wrap="square" lIns="0" tIns="0" rIns="0" bIns="0" rtlCol="0" anchor="t"/>
          <a:lstStyle/>
          <a:p>
            <a:pPr indent="0" marL="0">
              <a:buNone/>
            </a:pPr>
            <a:r>
              <a:rPr lang="en-US" sz="1500" dirty="0">
                <a:solidFill>
                  <a:srgbClr val="5B6878"/>
                </a:solidFill>
              </a:rPr>
              <a:t>khoảng cách tới tối ưu ở 8/8 điểm xuất phát (3×3, 4×4)</a:t>
            </a:r>
            <a:endParaRPr lang="en-US" sz="1500" dirty="0"/>
          </a:p>
        </p:txBody>
      </p:sp>
      <p:sp>
        <p:nvSpPr>
          <p:cNvPr id="9" name="Text 5"/>
          <p:cNvSpPr txBox="1"/>
          <p:nvPr/>
        </p:nvSpPr>
        <p:spPr>
          <a:xfrm>
            <a:off x="8001000" y="3703320"/>
            <a:ext cx="3657600" cy="868680"/>
          </a:xfrm>
          <a:prstGeom prst="rect">
            <a:avLst/>
          </a:prstGeom>
          <a:noFill/>
          <a:ln/>
        </p:spPr>
        <p:txBody>
          <a:bodyPr wrap="square" lIns="0" tIns="0" rIns="0" bIns="0" rtlCol="0" anchor="b"/>
          <a:lstStyle/>
          <a:p>
            <a:pPr indent="0" marL="0">
              <a:buNone/>
            </a:pPr>
            <a:r>
              <a:rPr lang="en-US" sz="5400" b="1" dirty="0">
                <a:solidFill>
                  <a:srgbClr val="2E7D4F"/>
                </a:solidFill>
                <a:latin typeface="Calibri" pitchFamily="34" charset="0"/>
                <a:ea typeface="Calibri" pitchFamily="34" charset="-122"/>
                <a:cs typeface="Calibri" pitchFamily="34" charset="-120"/>
              </a:rPr>
              <a:t>16,969</a:t>
            </a:r>
            <a:endParaRPr lang="en-US" sz="5400" dirty="0"/>
          </a:p>
        </p:txBody>
      </p:sp>
      <p:sp>
        <p:nvSpPr>
          <p:cNvPr id="10" name="Text 6"/>
          <p:cNvSpPr txBox="1"/>
          <p:nvPr/>
        </p:nvSpPr>
        <p:spPr>
          <a:xfrm>
            <a:off x="8001000" y="4617720"/>
            <a:ext cx="3657600" cy="777240"/>
          </a:xfrm>
          <a:prstGeom prst="rect">
            <a:avLst/>
          </a:prstGeom>
          <a:noFill/>
          <a:ln/>
        </p:spPr>
        <p:txBody>
          <a:bodyPr wrap="square" lIns="0" tIns="0" rIns="0" bIns="0" rtlCol="0" anchor="t"/>
          <a:lstStyle/>
          <a:p>
            <a:pPr indent="0" marL="0">
              <a:buNone/>
            </a:pPr>
            <a:r>
              <a:rPr lang="en-US" sz="1500" dirty="0">
                <a:solidFill>
                  <a:srgbClr val="5B6878"/>
                </a:solidFill>
              </a:rPr>
              <a:t>V* học được trên 3×3, khớp đáp án tính tay</a:t>
            </a:r>
            <a:endParaRPr lang="en-US" sz="15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878"/>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body" hasCustomPrompt="1"/>
          </p:nvPr>
        </p:nvSpPr>
        <p:spPr>
          <a:xfrm>
            <a:off x="768096" y="301752"/>
            <a:ext cx="8229600" cy="310896"/>
          </a:xfrm>
          <a:prstGeom prst="rect">
            <a:avLst/>
          </a:prstGeom>
          <a:noFill/>
          <a:ln/>
        </p:spPr>
        <p:txBody>
          <a:bodyPr wrap="square" lIns="0" tIns="0" rIns="0" bIns="0" rtlCol="0"/>
          <a:lstStyle/>
          <a:p>
            <a:pPr indent="0" marL="0">
              <a:buNone/>
            </a:pPr>
            <a:r>
              <a:rPr lang="en-US" sz="1200" spc="200" kern="0" dirty="0">
                <a:solidFill>
                  <a:srgbClr val="5B6878"/>
                </a:solidFill>
              </a:rPr>
              <a:t>GIỚI HẠN CỦA BẢNG Q</a:t>
            </a:r>
            <a:endParaRPr lang="en-US" sz="1200" dirty="0"/>
          </a:p>
        </p:txBody>
      </p:sp>
      <p:sp>
        <p:nvSpPr>
          <p:cNvPr id="3" name="Text 1"/>
          <p:cNvSpPr/>
          <p:nvPr>
            <p:ph idx="102" type="title" hasCustomPrompt="1"/>
          </p:nvPr>
        </p:nvSpPr>
        <p:spPr>
          <a:xfrm>
            <a:off x="548640" y="640080"/>
            <a:ext cx="11094415" cy="731520"/>
          </a:xfrm>
          <a:prstGeom prst="rect">
            <a:avLst/>
          </a:prstGeom>
          <a:noFill/>
          <a:ln/>
        </p:spPr>
        <p:txBody>
          <a:bodyPr wrap="square" lIns="0" tIns="0" rIns="0" bIns="0" rtlCol="0" anchor="t"/>
          <a:lstStyle/>
          <a:p>
            <a:pPr algn="l" indent="0" marL="0">
              <a:buNone/>
            </a:pPr>
            <a:r>
              <a:rPr lang="en-US" sz="2800" b="1" dirty="0">
                <a:solidFill>
                  <a:srgbClr val="1D2733"/>
                </a:solidFill>
                <a:latin typeface="Cambria" pitchFamily="34" charset="0"/>
                <a:ea typeface="Cambria" pitchFamily="34" charset="-122"/>
                <a:cs typeface="Cambria" pitchFamily="34" charset="-120"/>
              </a:rPr>
              <a:t>Bảng Q bùng nổ khi căn phòng lớn dần</a:t>
            </a:r>
            <a:endParaRPr lang="en-US" sz="2800" dirty="0"/>
          </a:p>
        </p:txBody>
      </p:sp>
      <p:pic>
        <p:nvPicPr>
          <p:cNvPr id="5" name="state_explosion.png" descr="Bùng nổ không gian trạng thái">    </p:cNvPr>
          <p:cNvPicPr>
            <a:picLocks noChangeAspect="1"/>
          </p:cNvPicPr>
          <p:nvPr/>
        </p:nvPicPr>
        <p:blipFill>
          <a:blip r:embed="rId1"/>
          <a:stretch>
            <a:fillRect/>
          </a:stretch>
        </p:blipFill>
        <p:spPr>
          <a:xfrm>
            <a:off x="548640" y="1685925"/>
            <a:ext cx="7498080" cy="4217670"/>
          </a:xfrm>
          <a:prstGeom prst="rect">
            <a:avLst/>
          </a:prstGeom>
        </p:spPr>
      </p:pic>
      <p:sp>
        <p:nvSpPr>
          <p:cNvPr id="6" name="Text 2"/>
          <p:cNvSpPr txBox="1"/>
          <p:nvPr/>
        </p:nvSpPr>
        <p:spPr>
          <a:xfrm>
            <a:off x="8503920" y="1691640"/>
            <a:ext cx="3136392" cy="868680"/>
          </a:xfrm>
          <a:prstGeom prst="rect">
            <a:avLst/>
          </a:prstGeom>
          <a:noFill/>
          <a:ln/>
        </p:spPr>
        <p:txBody>
          <a:bodyPr wrap="square" lIns="0" tIns="0" rIns="0" bIns="0" rtlCol="0" anchor="b"/>
          <a:lstStyle/>
          <a:p>
            <a:pPr indent="0" marL="0">
              <a:buNone/>
            </a:pPr>
            <a:r>
              <a:rPr lang="en-US" sz="4400" b="1" dirty="0">
                <a:solidFill>
                  <a:srgbClr val="1F6FB2"/>
                </a:solidFill>
                <a:latin typeface="Calibri" pitchFamily="34" charset="0"/>
                <a:ea typeface="Calibri" pitchFamily="34" charset="-122"/>
                <a:cs typeface="Calibri" pitchFamily="34" charset="-120"/>
              </a:rPr>
              <a:t>1,4 triệu</a:t>
            </a:r>
            <a:endParaRPr lang="en-US" sz="4400" dirty="0"/>
          </a:p>
        </p:txBody>
      </p:sp>
      <p:sp>
        <p:nvSpPr>
          <p:cNvPr id="7" name="Text 3"/>
          <p:cNvSpPr txBox="1"/>
          <p:nvPr/>
        </p:nvSpPr>
        <p:spPr>
          <a:xfrm>
            <a:off x="8503920" y="2606040"/>
            <a:ext cx="3136392" cy="777240"/>
          </a:xfrm>
          <a:prstGeom prst="rect">
            <a:avLst/>
          </a:prstGeom>
          <a:noFill/>
          <a:ln/>
        </p:spPr>
        <p:txBody>
          <a:bodyPr wrap="square" lIns="0" tIns="0" rIns="0" bIns="0" rtlCol="0" anchor="t"/>
          <a:lstStyle/>
          <a:p>
            <a:pPr indent="0" marL="0">
              <a:buNone/>
            </a:pPr>
            <a:r>
              <a:rPr lang="en-US" sz="1500" dirty="0">
                <a:solidFill>
                  <a:srgbClr val="5B6878"/>
                </a:solidFill>
              </a:rPr>
              <a:t>trạng thái ở lưới 4×5</a:t>
            </a:r>
            <a:endParaRPr lang="en-US" sz="1500" dirty="0"/>
          </a:p>
        </p:txBody>
      </p:sp>
      <p:sp>
        <p:nvSpPr>
          <p:cNvPr id="8" name="Text 4"/>
          <p:cNvSpPr txBox="1"/>
          <p:nvPr/>
        </p:nvSpPr>
        <p:spPr>
          <a:xfrm>
            <a:off x="8503920" y="3154680"/>
            <a:ext cx="3136392" cy="868680"/>
          </a:xfrm>
          <a:prstGeom prst="rect">
            <a:avLst/>
          </a:prstGeom>
          <a:noFill/>
          <a:ln/>
        </p:spPr>
        <p:txBody>
          <a:bodyPr wrap="square" lIns="0" tIns="0" rIns="0" bIns="0" rtlCol="0" anchor="b"/>
          <a:lstStyle/>
          <a:p>
            <a:pPr indent="0" marL="0">
              <a:buNone/>
            </a:pPr>
            <a:r>
              <a:rPr lang="en-US" sz="4400" b="1" dirty="0">
                <a:solidFill>
                  <a:srgbClr val="C8322F"/>
                </a:solidFill>
                <a:latin typeface="Calibri" pitchFamily="34" charset="0"/>
                <a:ea typeface="Calibri" pitchFamily="34" charset="-122"/>
                <a:cs typeface="Calibri" pitchFamily="34" charset="-120"/>
              </a:rPr>
              <a:t>~10²¹</a:t>
            </a:r>
            <a:endParaRPr lang="en-US" sz="4400" dirty="0"/>
          </a:p>
        </p:txBody>
      </p:sp>
      <p:sp>
        <p:nvSpPr>
          <p:cNvPr id="9" name="Text 5"/>
          <p:cNvSpPr txBox="1"/>
          <p:nvPr/>
        </p:nvSpPr>
        <p:spPr>
          <a:xfrm>
            <a:off x="8503920" y="4069080"/>
            <a:ext cx="3136392" cy="777240"/>
          </a:xfrm>
          <a:prstGeom prst="rect">
            <a:avLst/>
          </a:prstGeom>
          <a:noFill/>
          <a:ln/>
        </p:spPr>
        <p:txBody>
          <a:bodyPr wrap="square" lIns="0" tIns="0" rIns="0" bIns="0" rtlCol="0" anchor="t"/>
          <a:lstStyle/>
          <a:p>
            <a:pPr indent="0" marL="0">
              <a:buNone/>
            </a:pPr>
            <a:r>
              <a:rPr lang="en-US" sz="1500" dirty="0">
                <a:solidFill>
                  <a:srgbClr val="5B6878"/>
                </a:solidFill>
              </a:rPr>
              <a:t>cận trên ở phòng 8×8</a:t>
            </a:r>
            <a:endParaRPr lang="en-US" sz="1500" dirty="0"/>
          </a:p>
        </p:txBody>
      </p:sp>
      <p:sp>
        <p:nvSpPr>
          <p:cNvPr id="10" name="Text 6"/>
          <p:cNvSpPr txBox="1"/>
          <p:nvPr/>
        </p:nvSpPr>
        <p:spPr>
          <a:xfrm>
            <a:off x="8503920" y="4617720"/>
            <a:ext cx="3136392" cy="868680"/>
          </a:xfrm>
          <a:prstGeom prst="rect">
            <a:avLst/>
          </a:prstGeom>
          <a:noFill/>
          <a:ln/>
        </p:spPr>
        <p:txBody>
          <a:bodyPr wrap="square" lIns="0" tIns="0" rIns="0" bIns="0" rtlCol="0" anchor="b"/>
          <a:lstStyle/>
          <a:p>
            <a:pPr indent="0" marL="0">
              <a:buNone/>
            </a:pPr>
            <a:r>
              <a:rPr lang="en-US" sz="4400" b="1" dirty="0">
                <a:solidFill>
                  <a:srgbClr val="1D2733"/>
                </a:solidFill>
                <a:latin typeface="Calibri" pitchFamily="34" charset="0"/>
                <a:ea typeface="Calibri" pitchFamily="34" charset="-122"/>
                <a:cs typeface="Calibri" pitchFamily="34" charset="-120"/>
              </a:rPr>
              <a:t>746 MB</a:t>
            </a:r>
            <a:endParaRPr lang="en-US" sz="4400" dirty="0"/>
          </a:p>
        </p:txBody>
      </p:sp>
      <p:sp>
        <p:nvSpPr>
          <p:cNvPr id="11" name="Text 7"/>
          <p:cNvSpPr txBox="1"/>
          <p:nvPr/>
        </p:nvSpPr>
        <p:spPr>
          <a:xfrm>
            <a:off x="8503920" y="5532120"/>
            <a:ext cx="3136392" cy="777240"/>
          </a:xfrm>
          <a:prstGeom prst="rect">
            <a:avLst/>
          </a:prstGeom>
          <a:noFill/>
          <a:ln/>
        </p:spPr>
        <p:txBody>
          <a:bodyPr wrap="square" lIns="0" tIns="0" rIns="0" bIns="0" rtlCol="0" anchor="t"/>
          <a:lstStyle/>
          <a:p>
            <a:pPr indent="0" marL="0">
              <a:buNone/>
            </a:pPr>
            <a:r>
              <a:rPr lang="en-US" sz="1500" dirty="0">
                <a:solidFill>
                  <a:srgbClr val="5B6878"/>
                </a:solidFill>
              </a:rPr>
              <a:t>bảng Q cho một phòng 6×6</a:t>
            </a:r>
            <a:endParaRPr lang="en-US" sz="15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878"/>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body" hasCustomPrompt="1"/>
          </p:nvPr>
        </p:nvSpPr>
        <p:spPr>
          <a:xfrm>
            <a:off x="768096" y="301752"/>
            <a:ext cx="8229600" cy="310896"/>
          </a:xfrm>
          <a:prstGeom prst="rect">
            <a:avLst/>
          </a:prstGeom>
          <a:noFill/>
          <a:ln/>
        </p:spPr>
        <p:txBody>
          <a:bodyPr wrap="square" lIns="0" tIns="0" rIns="0" bIns="0" rtlCol="0"/>
          <a:lstStyle/>
          <a:p>
            <a:pPr indent="0" marL="0">
              <a:buNone/>
            </a:pPr>
            <a:r>
              <a:rPr lang="en-US" sz="1200" spc="200" kern="0" dirty="0">
                <a:solidFill>
                  <a:srgbClr val="5B6878"/>
                </a:solidFill>
              </a:rPr>
              <a:t>KẾT QUẢ · DQN</a:t>
            </a:r>
            <a:endParaRPr lang="en-US" sz="1200" dirty="0"/>
          </a:p>
        </p:txBody>
      </p:sp>
      <p:sp>
        <p:nvSpPr>
          <p:cNvPr id="3" name="Text 1"/>
          <p:cNvSpPr/>
          <p:nvPr>
            <p:ph idx="102" type="title" hasCustomPrompt="1"/>
          </p:nvPr>
        </p:nvSpPr>
        <p:spPr>
          <a:xfrm>
            <a:off x="548640" y="640080"/>
            <a:ext cx="11094415" cy="731520"/>
          </a:xfrm>
          <a:prstGeom prst="rect">
            <a:avLst/>
          </a:prstGeom>
          <a:noFill/>
          <a:ln/>
        </p:spPr>
        <p:txBody>
          <a:bodyPr wrap="square" lIns="0" tIns="0" rIns="0" bIns="0" rtlCol="0" anchor="t"/>
          <a:lstStyle/>
          <a:p>
            <a:pPr algn="l" indent="0" marL="0">
              <a:buNone/>
            </a:pPr>
            <a:r>
              <a:rPr lang="en-US" sz="2800" b="1" dirty="0">
                <a:solidFill>
                  <a:srgbClr val="1D2733"/>
                </a:solidFill>
                <a:latin typeface="Cambria" pitchFamily="34" charset="0"/>
                <a:ea typeface="Cambria" pitchFamily="34" charset="-122"/>
                <a:cs typeface="Cambria" pitchFamily="34" charset="-120"/>
              </a:rPr>
              <a:t>DQN dọn phòng 8×8 nhanh hơn cách làm thủ công</a:t>
            </a:r>
            <a:endParaRPr lang="en-US" sz="2800" dirty="0"/>
          </a:p>
        </p:txBody>
      </p:sp>
      <p:pic>
        <p:nvPicPr>
          <p:cNvPr id="5" name="race_8x8.gif" descr="Bốn robot cùng dọn phòng 8x8">    </p:cNvPr>
          <p:cNvPicPr>
            <a:picLocks noChangeAspect="1"/>
          </p:cNvPicPr>
          <p:nvPr/>
        </p:nvPicPr>
        <p:blipFill>
          <a:blip r:embed="rId1"/>
          <a:stretch>
            <a:fillRect/>
          </a:stretch>
        </p:blipFill>
        <p:spPr>
          <a:xfrm>
            <a:off x="548640" y="1600200"/>
            <a:ext cx="11064240" cy="3367836"/>
          </a:xfrm>
          <a:prstGeom prst="rect">
            <a:avLst/>
          </a:prstGeom>
        </p:spPr>
      </p:pic>
      <p:sp>
        <p:nvSpPr>
          <p:cNvPr id="6" name="Text 2"/>
          <p:cNvSpPr txBox="1"/>
          <p:nvPr/>
        </p:nvSpPr>
        <p:spPr>
          <a:xfrm>
            <a:off x="1097280" y="5120640"/>
            <a:ext cx="2926080" cy="685800"/>
          </a:xfrm>
          <a:prstGeom prst="rect">
            <a:avLst/>
          </a:prstGeom>
          <a:noFill/>
          <a:ln/>
        </p:spPr>
        <p:txBody>
          <a:bodyPr wrap="square" lIns="0" tIns="0" rIns="0" bIns="0" rtlCol="0" anchor="t"/>
          <a:lstStyle/>
          <a:p>
            <a:pPr indent="0" marL="0">
              <a:buNone/>
            </a:pPr>
            <a:r>
              <a:rPr lang="en-US" sz="4000" b="1" dirty="0">
                <a:solidFill>
                  <a:srgbClr val="C8322F"/>
                </a:solidFill>
              </a:rPr>
              <a:t>51,9</a:t>
            </a:r>
            <a:endParaRPr lang="en-US" sz="4000" dirty="0"/>
          </a:p>
        </p:txBody>
      </p:sp>
      <p:sp>
        <p:nvSpPr>
          <p:cNvPr id="7" name="Text 3"/>
          <p:cNvSpPr txBox="1"/>
          <p:nvPr/>
        </p:nvSpPr>
        <p:spPr>
          <a:xfrm>
            <a:off x="1097280" y="5760720"/>
            <a:ext cx="2926080" cy="320040"/>
          </a:xfrm>
          <a:prstGeom prst="rect">
            <a:avLst/>
          </a:prstGeom>
          <a:noFill/>
          <a:ln/>
        </p:spPr>
        <p:txBody>
          <a:bodyPr wrap="square" lIns="0" tIns="0" rIns="0" bIns="0" rtlCol="0" anchor="t"/>
          <a:lstStyle/>
          <a:p>
            <a:pPr indent="0" marL="0">
              <a:buNone/>
            </a:pPr>
            <a:r>
              <a:rPr lang="en-US" sz="1500" dirty="0">
                <a:solidFill>
                  <a:srgbClr val="5B6878"/>
                </a:solidFill>
              </a:rPr>
              <a:t>bước — DQN</a:t>
            </a:r>
            <a:endParaRPr lang="en-US" sz="1500" dirty="0"/>
          </a:p>
        </p:txBody>
      </p:sp>
      <p:sp>
        <p:nvSpPr>
          <p:cNvPr id="8" name="Text 4"/>
          <p:cNvSpPr txBox="1"/>
          <p:nvPr/>
        </p:nvSpPr>
        <p:spPr>
          <a:xfrm>
            <a:off x="4754880" y="5120640"/>
            <a:ext cx="2926080" cy="685800"/>
          </a:xfrm>
          <a:prstGeom prst="rect">
            <a:avLst/>
          </a:prstGeom>
          <a:noFill/>
          <a:ln/>
        </p:spPr>
        <p:txBody>
          <a:bodyPr wrap="square" lIns="0" tIns="0" rIns="0" bIns="0" rtlCol="0" anchor="t"/>
          <a:lstStyle/>
          <a:p>
            <a:pPr indent="0" marL="0">
              <a:buNone/>
            </a:pPr>
            <a:r>
              <a:rPr lang="en-US" sz="4000" b="1" dirty="0">
                <a:solidFill>
                  <a:srgbClr val="4CAF50"/>
                </a:solidFill>
              </a:rPr>
              <a:t>58,9</a:t>
            </a:r>
            <a:endParaRPr lang="en-US" sz="4000" dirty="0"/>
          </a:p>
        </p:txBody>
      </p:sp>
      <p:sp>
        <p:nvSpPr>
          <p:cNvPr id="9" name="Text 5"/>
          <p:cNvSpPr txBox="1"/>
          <p:nvPr/>
        </p:nvSpPr>
        <p:spPr>
          <a:xfrm>
            <a:off x="4754880" y="5760720"/>
            <a:ext cx="2926080" cy="320040"/>
          </a:xfrm>
          <a:prstGeom prst="rect">
            <a:avLst/>
          </a:prstGeom>
          <a:noFill/>
          <a:ln/>
        </p:spPr>
        <p:txBody>
          <a:bodyPr wrap="square" lIns="0" tIns="0" rIns="0" bIns="0" rtlCol="0" anchor="t"/>
          <a:lstStyle/>
          <a:p>
            <a:pPr indent="0" marL="0">
              <a:buNone/>
            </a:pPr>
            <a:r>
              <a:rPr lang="en-US" sz="1500" dirty="0">
                <a:solidFill>
                  <a:srgbClr val="5B6878"/>
                </a:solidFill>
              </a:rPr>
              <a:t>bước — greedy BFS</a:t>
            </a:r>
            <a:endParaRPr lang="en-US" sz="1500" dirty="0"/>
          </a:p>
        </p:txBody>
      </p:sp>
      <p:sp>
        <p:nvSpPr>
          <p:cNvPr id="10" name="Text 6"/>
          <p:cNvSpPr txBox="1"/>
          <p:nvPr/>
        </p:nvSpPr>
        <p:spPr>
          <a:xfrm>
            <a:off x="8412480" y="5120640"/>
            <a:ext cx="2926080" cy="685800"/>
          </a:xfrm>
          <a:prstGeom prst="rect">
            <a:avLst/>
          </a:prstGeom>
          <a:noFill/>
          <a:ln/>
        </p:spPr>
        <p:txBody>
          <a:bodyPr wrap="square" lIns="0" tIns="0" rIns="0" bIns="0" rtlCol="0" anchor="t"/>
          <a:lstStyle/>
          <a:p>
            <a:pPr indent="0" marL="0">
              <a:buNone/>
            </a:pPr>
            <a:r>
              <a:rPr lang="en-US" sz="4000" b="1" dirty="0">
                <a:solidFill>
                  <a:srgbClr val="FF9800"/>
                </a:solidFill>
              </a:rPr>
              <a:t>80,0</a:t>
            </a:r>
            <a:endParaRPr lang="en-US" sz="4000" dirty="0"/>
          </a:p>
        </p:txBody>
      </p:sp>
      <p:sp>
        <p:nvSpPr>
          <p:cNvPr id="11" name="Text 7"/>
          <p:cNvSpPr txBox="1"/>
          <p:nvPr/>
        </p:nvSpPr>
        <p:spPr>
          <a:xfrm>
            <a:off x="8412480" y="5760720"/>
            <a:ext cx="2926080" cy="320040"/>
          </a:xfrm>
          <a:prstGeom prst="rect">
            <a:avLst/>
          </a:prstGeom>
          <a:noFill/>
          <a:ln/>
        </p:spPr>
        <p:txBody>
          <a:bodyPr wrap="square" lIns="0" tIns="0" rIns="0" bIns="0" rtlCol="0" anchor="t"/>
          <a:lstStyle/>
          <a:p>
            <a:pPr indent="0" marL="0">
              <a:buNone/>
            </a:pPr>
            <a:r>
              <a:rPr lang="en-US" sz="1500" dirty="0">
                <a:solidFill>
                  <a:srgbClr val="5B6878"/>
                </a:solidFill>
              </a:rPr>
              <a:t>bước — zigzag</a:t>
            </a:r>
            <a:endParaRPr lang="en-US" sz="15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878"/>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body" hasCustomPrompt="1"/>
          </p:nvPr>
        </p:nvSpPr>
        <p:spPr>
          <a:xfrm>
            <a:off x="768096" y="301752"/>
            <a:ext cx="8229600" cy="310896"/>
          </a:xfrm>
          <a:prstGeom prst="rect">
            <a:avLst/>
          </a:prstGeom>
          <a:noFill/>
          <a:ln/>
        </p:spPr>
        <p:txBody>
          <a:bodyPr wrap="square" lIns="0" tIns="0" rIns="0" bIns="0" rtlCol="0"/>
          <a:lstStyle/>
          <a:p>
            <a:pPr indent="0" marL="0">
              <a:buNone/>
            </a:pPr>
            <a:r>
              <a:rPr lang="en-US" sz="1200" spc="200" kern="0" dirty="0">
                <a:solidFill>
                  <a:srgbClr val="5B6878"/>
                </a:solidFill>
              </a:rPr>
              <a:t>THÁCH THỨC</a:t>
            </a:r>
            <a:endParaRPr lang="en-US" sz="1200" dirty="0"/>
          </a:p>
        </p:txBody>
      </p:sp>
      <p:sp>
        <p:nvSpPr>
          <p:cNvPr id="3" name="Text 1"/>
          <p:cNvSpPr/>
          <p:nvPr>
            <p:ph idx="102" type="title" hasCustomPrompt="1"/>
          </p:nvPr>
        </p:nvSpPr>
        <p:spPr>
          <a:xfrm>
            <a:off x="548640" y="640080"/>
            <a:ext cx="11094415" cy="731520"/>
          </a:xfrm>
          <a:prstGeom prst="rect">
            <a:avLst/>
          </a:prstGeom>
          <a:noFill/>
          <a:ln/>
        </p:spPr>
        <p:txBody>
          <a:bodyPr wrap="square" lIns="0" tIns="0" rIns="0" bIns="0" rtlCol="0" anchor="t"/>
          <a:lstStyle/>
          <a:p>
            <a:pPr algn="l" indent="0" marL="0">
              <a:buNone/>
            </a:pPr>
            <a:r>
              <a:rPr lang="en-US" sz="2800" b="1" dirty="0">
                <a:solidFill>
                  <a:srgbClr val="1D2733"/>
                </a:solidFill>
                <a:latin typeface="Cambria" pitchFamily="34" charset="0"/>
                <a:ea typeface="Cambria" pitchFamily="34" charset="-122"/>
                <a:cs typeface="Cambria" pitchFamily="34" charset="-120"/>
              </a:rPr>
              <a:t>Căn phòng chưa từng thấy là thử thách thật</a:t>
            </a:r>
            <a:endParaRPr lang="en-US" sz="2800" dirty="0"/>
          </a:p>
        </p:txBody>
      </p:sp>
      <p:sp>
        <p:nvSpPr>
          <p:cNvPr id="5" name="Text 2"/>
          <p:cNvSpPr txBox="1"/>
          <p:nvPr/>
        </p:nvSpPr>
        <p:spPr>
          <a:xfrm>
            <a:off x="548640" y="1737360"/>
            <a:ext cx="5486400" cy="2194560"/>
          </a:xfrm>
          <a:prstGeom prst="rect">
            <a:avLst/>
          </a:prstGeom>
          <a:noFill/>
          <a:ln/>
        </p:spPr>
        <p:txBody>
          <a:bodyPr wrap="square" lIns="0" tIns="0" rIns="0" bIns="0" rtlCol="0" anchor="t"/>
          <a:lstStyle/>
          <a:p>
            <a:pPr indent="0" marL="0">
              <a:buNone/>
            </a:pPr>
            <a:r>
              <a:rPr lang="en-US" sz="15000" b="1" dirty="0">
                <a:solidFill>
                  <a:srgbClr val="C8322F"/>
                </a:solidFill>
              </a:rPr>
              <a:t>14%</a:t>
            </a:r>
            <a:endParaRPr lang="en-US" sz="15000" dirty="0"/>
          </a:p>
        </p:txBody>
      </p:sp>
      <p:sp>
        <p:nvSpPr>
          <p:cNvPr id="6" name="Text 3"/>
          <p:cNvSpPr txBox="1"/>
          <p:nvPr/>
        </p:nvSpPr>
        <p:spPr>
          <a:xfrm>
            <a:off x="548640" y="4023360"/>
            <a:ext cx="5120640" cy="914400"/>
          </a:xfrm>
          <a:prstGeom prst="rect">
            <a:avLst/>
          </a:prstGeom>
          <a:noFill/>
          <a:ln/>
        </p:spPr>
        <p:txBody>
          <a:bodyPr wrap="square" lIns="0" tIns="0" rIns="0" bIns="0" rtlCol="0" anchor="t"/>
          <a:lstStyle/>
          <a:p>
            <a:pPr indent="0" marL="0">
              <a:buNone/>
            </a:pPr>
            <a:r>
              <a:rPr lang="en-US" sz="2200" dirty="0">
                <a:solidFill>
                  <a:srgbClr val="1D2733"/>
                </a:solidFill>
              </a:rPr>
              <a:t>diện tích phòng 8×8 chưa từng thấy được DQN bản đầu dọn sạch</a:t>
            </a:r>
            <a:endParaRPr lang="en-US" sz="2200" dirty="0"/>
          </a:p>
        </p:txBody>
      </p:sp>
      <p:sp>
        <p:nvSpPr>
          <p:cNvPr id="7" name="diagnosis card"/>
          <p:cNvSpPr/>
          <p:nvPr/>
        </p:nvSpPr>
        <p:spPr>
          <a:xfrm>
            <a:off x="6675120" y="1920240"/>
            <a:ext cx="4965192" cy="3291840"/>
          </a:xfrm>
          <a:prstGeom prst="roundRect">
            <a:avLst>
              <a:gd name="adj" fmla="val 2222"/>
            </a:avLst>
          </a:prstGeom>
          <a:solidFill>
            <a:srgbClr val="EEF4FA"/>
          </a:solidFill>
          <a:ln w="12700">
            <a:solidFill>
              <a:srgbClr val="EEF4FA"/>
            </a:solidFill>
            <a:prstDash val="solid"/>
          </a:ln>
        </p:spPr>
      </p:sp>
      <p:sp>
        <p:nvSpPr>
          <p:cNvPr id="8" name="Text 5"/>
          <p:cNvSpPr txBox="1"/>
          <p:nvPr/>
        </p:nvSpPr>
        <p:spPr>
          <a:xfrm>
            <a:off x="6995160" y="2148840"/>
            <a:ext cx="4389120" cy="411480"/>
          </a:xfrm>
          <a:prstGeom prst="rect">
            <a:avLst/>
          </a:prstGeom>
          <a:noFill/>
          <a:ln/>
        </p:spPr>
        <p:txBody>
          <a:bodyPr wrap="square" lIns="0" tIns="0" rIns="0" bIns="0" rtlCol="0" anchor="t"/>
          <a:lstStyle/>
          <a:p>
            <a:pPr indent="0" marL="0">
              <a:buNone/>
            </a:pPr>
            <a:r>
              <a:rPr lang="en-US" sz="2000" b="1" dirty="0">
                <a:solidFill>
                  <a:srgbClr val="1F6FB2"/>
                </a:solidFill>
              </a:rPr>
              <a:t>Chẩn đoán</a:t>
            </a:r>
            <a:endParaRPr lang="en-US" sz="2000" dirty="0"/>
          </a:p>
        </p:txBody>
      </p:sp>
      <p:sp>
        <p:nvSpPr>
          <p:cNvPr id="9" name="Text 6"/>
          <p:cNvSpPr txBox="1"/>
          <p:nvPr/>
        </p:nvSpPr>
        <p:spPr>
          <a:xfrm>
            <a:off x="6995160" y="2697480"/>
            <a:ext cx="4389120" cy="2377440"/>
          </a:xfrm>
          <a:prstGeom prst="rect">
            <a:avLst/>
          </a:prstGeom>
          <a:noFill/>
          <a:ln/>
        </p:spPr>
        <p:txBody>
          <a:bodyPr wrap="square" lIns="0" tIns="0" rIns="0" bIns="0" rtlCol="0" anchor="t"/>
          <a:lstStyle/>
          <a:p>
            <a:pPr marL="228600" indent="-228600">
              <a:spcAft>
                <a:spcPts val="1000"/>
              </a:spcAft>
              <a:buSzPct val="100000"/>
              <a:buChar char="•"/>
            </a:pPr>
            <a:r>
              <a:rPr lang="en-US" sz="1700" dirty="0">
                <a:solidFill>
                  <a:srgbClr val="1D2733"/>
                </a:solidFill>
              </a:rPr>
              <a:t>≈ 47% số bước là đâm vào tường</a:t>
            </a:r>
            <a:endParaRPr lang="en-US" sz="1700" dirty="0"/>
          </a:p>
          <a:p>
            <a:pPr marL="228600" indent="-228600">
              <a:spcAft>
                <a:spcPts val="1000"/>
              </a:spcAft>
              <a:buSzPct val="100000"/>
              <a:buChar char="•"/>
            </a:pPr>
            <a:r>
              <a:rPr lang="en-US" sz="1700" dirty="0">
                <a:solidFill>
                  <a:srgbClr val="1D2733"/>
                </a:solidFill>
              </a:rPr>
              <a:t>Chính sách tất định: trạng thái không đổi → hành động sai lặp mãi</a:t>
            </a:r>
            <a:endParaRPr lang="en-US" sz="1700" dirty="0"/>
          </a:p>
          <a:p>
            <a:pPr marL="228600" indent="-228600">
              <a:spcAft>
                <a:spcPts val="1000"/>
              </a:spcAft>
              <a:buSzPct val="100000"/>
              <a:buChar char="•"/>
            </a:pPr>
            <a:r>
              <a:rPr lang="en-US" sz="1700" dirty="0">
                <a:solidFill>
                  <a:srgbClr val="1D2733"/>
                </a:solidFill>
              </a:rPr>
              <a:t>Mạng phải học lại cùng một quy tắc ở mọi vị trí</a:t>
            </a:r>
            <a:endParaRPr lang="en-US" sz="17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878"/>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body" hasCustomPrompt="1"/>
          </p:nvPr>
        </p:nvSpPr>
        <p:spPr>
          <a:xfrm>
            <a:off x="768096" y="301752"/>
            <a:ext cx="8229600" cy="310896"/>
          </a:xfrm>
          <a:prstGeom prst="rect">
            <a:avLst/>
          </a:prstGeom>
          <a:noFill/>
          <a:ln/>
        </p:spPr>
        <p:txBody>
          <a:bodyPr wrap="square" lIns="0" tIns="0" rIns="0" bIns="0" rtlCol="0"/>
          <a:lstStyle/>
          <a:p>
            <a:pPr indent="0" marL="0">
              <a:buNone/>
            </a:pPr>
            <a:r>
              <a:rPr lang="en-US" sz="1200" spc="200" kern="0" dirty="0">
                <a:solidFill>
                  <a:srgbClr val="5B6878"/>
                </a:solidFill>
              </a:rPr>
              <a:t>BA CẢI TIẾN</a:t>
            </a:r>
            <a:endParaRPr lang="en-US" sz="1200" dirty="0"/>
          </a:p>
        </p:txBody>
      </p:sp>
      <p:sp>
        <p:nvSpPr>
          <p:cNvPr id="3" name="Text 1"/>
          <p:cNvSpPr/>
          <p:nvPr>
            <p:ph idx="102" type="title" hasCustomPrompt="1"/>
          </p:nvPr>
        </p:nvSpPr>
        <p:spPr>
          <a:xfrm>
            <a:off x="548640" y="640080"/>
            <a:ext cx="11094415" cy="731520"/>
          </a:xfrm>
          <a:prstGeom prst="rect">
            <a:avLst/>
          </a:prstGeom>
          <a:noFill/>
          <a:ln/>
        </p:spPr>
        <p:txBody>
          <a:bodyPr wrap="square" lIns="0" tIns="0" rIns="0" bIns="0" rtlCol="0" anchor="t"/>
          <a:lstStyle/>
          <a:p>
            <a:pPr algn="l" indent="0" marL="0">
              <a:buNone/>
            </a:pPr>
            <a:r>
              <a:rPr lang="en-US" sz="2800" b="1" dirty="0">
                <a:solidFill>
                  <a:srgbClr val="1D2733"/>
                </a:solidFill>
                <a:latin typeface="Cambria" pitchFamily="34" charset="0"/>
                <a:ea typeface="Cambria" pitchFamily="34" charset="-122"/>
                <a:cs typeface="Cambria" pitchFamily="34" charset="-120"/>
              </a:rPr>
              <a:t>Ba cải tiến đưa tỷ lệ dọn phòng lạ từ 14% lên 98%</a:t>
            </a:r>
            <a:endParaRPr lang="en-US" sz="2800" dirty="0"/>
          </a:p>
        </p:txBody>
      </p:sp>
      <p:graphicFrame>
        <p:nvGraphicFramePr>
          <p:cNvPr id="5" name="Chart 0" descr=""/>
          <p:cNvGraphicFramePr/>
          <p:nvPr/>
        </p:nvGraphicFramePr>
        <p:xfrm>
          <a:off x="548640" y="1600200"/>
          <a:ext cx="6309360" cy="4434840"/>
        </p:xfrm>
        <a:graphic xmlns:a="http://schemas.openxmlformats.org/drawingml/2006/main">
          <a:graphicData uri="http://schemas.openxmlformats.org/drawingml/2006/chart">
            <c:chart xmlns:c="http://schemas.openxmlformats.org/drawingml/2006/chart" r:id="rId1"/>
          </a:graphicData>
        </a:graphic>
      </p:graphicFrame>
      <p:sp>
        <p:nvSpPr>
          <p:cNvPr id="6" name="Shape 2"/>
          <p:cNvSpPr/>
          <p:nvPr/>
        </p:nvSpPr>
        <p:spPr>
          <a:xfrm>
            <a:off x="7269480" y="1783080"/>
            <a:ext cx="384048" cy="384048"/>
          </a:xfrm>
          <a:prstGeom prst="roundRect">
            <a:avLst>
              <a:gd name="adj" fmla="val 14286"/>
            </a:avLst>
          </a:prstGeom>
          <a:solidFill>
            <a:srgbClr val="1F6FB2"/>
          </a:solidFill>
          <a:ln w="12700">
            <a:solidFill>
              <a:srgbClr val="1F6FB2"/>
            </a:solidFill>
            <a:prstDash val="solid"/>
          </a:ln>
        </p:spPr>
      </p:sp>
      <p:sp>
        <p:nvSpPr>
          <p:cNvPr id="7" name="Text 3"/>
          <p:cNvSpPr txBox="1"/>
          <p:nvPr/>
        </p:nvSpPr>
        <p:spPr>
          <a:xfrm>
            <a:off x="7269480" y="178308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rPr>
              <a:t>1</a:t>
            </a:r>
            <a:endParaRPr lang="en-US" sz="1500" dirty="0"/>
          </a:p>
        </p:txBody>
      </p:sp>
      <p:sp>
        <p:nvSpPr>
          <p:cNvPr id="8" name="Text 4"/>
          <p:cNvSpPr txBox="1"/>
          <p:nvPr/>
        </p:nvSpPr>
        <p:spPr>
          <a:xfrm>
            <a:off x="7863840" y="1737360"/>
            <a:ext cx="3749040" cy="411480"/>
          </a:xfrm>
          <a:prstGeom prst="rect">
            <a:avLst/>
          </a:prstGeom>
          <a:noFill/>
          <a:ln/>
        </p:spPr>
        <p:txBody>
          <a:bodyPr wrap="square" lIns="0" tIns="0" rIns="0" bIns="0" rtlCol="0" anchor="t"/>
          <a:lstStyle/>
          <a:p>
            <a:pPr indent="0" marL="0">
              <a:buNone/>
            </a:pPr>
            <a:r>
              <a:rPr lang="en-US" sz="1900" b="1" dirty="0">
                <a:solidFill>
                  <a:srgbClr val="1D2733"/>
                </a:solidFill>
              </a:rPr>
              <a:t>Action masking</a:t>
            </a:r>
            <a:endParaRPr lang="en-US" sz="1900" dirty="0"/>
          </a:p>
        </p:txBody>
      </p:sp>
      <p:sp>
        <p:nvSpPr>
          <p:cNvPr id="9" name="Text 5"/>
          <p:cNvSpPr txBox="1"/>
          <p:nvPr/>
        </p:nvSpPr>
        <p:spPr>
          <a:xfrm>
            <a:off x="7863840" y="2167128"/>
            <a:ext cx="3749040" cy="822960"/>
          </a:xfrm>
          <a:prstGeom prst="rect">
            <a:avLst/>
          </a:prstGeom>
          <a:noFill/>
          <a:ln/>
        </p:spPr>
        <p:txBody>
          <a:bodyPr wrap="square" lIns="0" tIns="0" rIns="0" bIns="0" rtlCol="0" anchor="t"/>
          <a:lstStyle/>
          <a:p>
            <a:pPr indent="0" marL="0">
              <a:buNone/>
            </a:pPr>
            <a:r>
              <a:rPr lang="en-US" sz="1500" dirty="0">
                <a:solidFill>
                  <a:srgbClr val="5B6878"/>
                </a:solidFill>
              </a:rPr>
              <a:t>không chọn hướng đâm tường</a:t>
            </a:r>
            <a:endParaRPr lang="en-US" sz="1500" dirty="0"/>
          </a:p>
        </p:txBody>
      </p:sp>
      <p:sp>
        <p:nvSpPr>
          <p:cNvPr id="10" name="Shape 6"/>
          <p:cNvSpPr/>
          <p:nvPr/>
        </p:nvSpPr>
        <p:spPr>
          <a:xfrm>
            <a:off x="7269480" y="3154680"/>
            <a:ext cx="384048" cy="384048"/>
          </a:xfrm>
          <a:prstGeom prst="roundRect">
            <a:avLst>
              <a:gd name="adj" fmla="val 14286"/>
            </a:avLst>
          </a:prstGeom>
          <a:solidFill>
            <a:srgbClr val="1F6FB2"/>
          </a:solidFill>
          <a:ln w="12700">
            <a:solidFill>
              <a:srgbClr val="1F6FB2"/>
            </a:solidFill>
            <a:prstDash val="solid"/>
          </a:ln>
        </p:spPr>
      </p:sp>
      <p:sp>
        <p:nvSpPr>
          <p:cNvPr id="11" name="Text 7"/>
          <p:cNvSpPr txBox="1"/>
          <p:nvPr/>
        </p:nvSpPr>
        <p:spPr>
          <a:xfrm>
            <a:off x="7269480" y="315468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rPr>
              <a:t>2</a:t>
            </a:r>
            <a:endParaRPr lang="en-US" sz="1500" dirty="0"/>
          </a:p>
        </p:txBody>
      </p:sp>
      <p:sp>
        <p:nvSpPr>
          <p:cNvPr id="12" name="Text 8"/>
          <p:cNvSpPr txBox="1"/>
          <p:nvPr/>
        </p:nvSpPr>
        <p:spPr>
          <a:xfrm>
            <a:off x="7863840" y="3108960"/>
            <a:ext cx="3749040" cy="411480"/>
          </a:xfrm>
          <a:prstGeom prst="rect">
            <a:avLst/>
          </a:prstGeom>
          <a:noFill/>
          <a:ln/>
        </p:spPr>
        <p:txBody>
          <a:bodyPr wrap="square" lIns="0" tIns="0" rIns="0" bIns="0" rtlCol="0" anchor="t"/>
          <a:lstStyle/>
          <a:p>
            <a:pPr indent="0" marL="0">
              <a:buNone/>
            </a:pPr>
            <a:r>
              <a:rPr lang="en-US" sz="1900" b="1" dirty="0">
                <a:solidFill>
                  <a:srgbClr val="1D2733"/>
                </a:solidFill>
              </a:rPr>
              <a:t>Robot làm tâm</a:t>
            </a:r>
            <a:endParaRPr lang="en-US" sz="1900" dirty="0"/>
          </a:p>
        </p:txBody>
      </p:sp>
      <p:sp>
        <p:nvSpPr>
          <p:cNvPr id="13" name="Text 9"/>
          <p:cNvSpPr txBox="1"/>
          <p:nvPr/>
        </p:nvSpPr>
        <p:spPr>
          <a:xfrm>
            <a:off x="7863840" y="3538728"/>
            <a:ext cx="3749040" cy="822960"/>
          </a:xfrm>
          <a:prstGeom prst="rect">
            <a:avLst/>
          </a:prstGeom>
          <a:noFill/>
          <a:ln/>
        </p:spPr>
        <p:txBody>
          <a:bodyPr wrap="square" lIns="0" tIns="0" rIns="0" bIns="0" rtlCol="0" anchor="t"/>
          <a:lstStyle/>
          <a:p>
            <a:pPr indent="0" marL="0">
              <a:buNone/>
            </a:pPr>
            <a:r>
              <a:rPr lang="en-US" sz="1500" dirty="0">
                <a:solidFill>
                  <a:srgbClr val="5B6878"/>
                </a:solidFill>
              </a:rPr>
              <a:t>quy tắc dùng chung mọi vị trí — A/B 60% → 91%</a:t>
            </a:r>
            <a:endParaRPr lang="en-US" sz="1500" dirty="0"/>
          </a:p>
        </p:txBody>
      </p:sp>
      <p:sp>
        <p:nvSpPr>
          <p:cNvPr id="14" name="Shape 10"/>
          <p:cNvSpPr/>
          <p:nvPr/>
        </p:nvSpPr>
        <p:spPr>
          <a:xfrm>
            <a:off x="7269480" y="4526280"/>
            <a:ext cx="384048" cy="384048"/>
          </a:xfrm>
          <a:prstGeom prst="roundRect">
            <a:avLst>
              <a:gd name="adj" fmla="val 14286"/>
            </a:avLst>
          </a:prstGeom>
          <a:solidFill>
            <a:srgbClr val="1F6FB2"/>
          </a:solidFill>
          <a:ln w="12700">
            <a:solidFill>
              <a:srgbClr val="1F6FB2"/>
            </a:solidFill>
            <a:prstDash val="solid"/>
          </a:ln>
        </p:spPr>
      </p:sp>
      <p:sp>
        <p:nvSpPr>
          <p:cNvPr id="15" name="Text 11"/>
          <p:cNvSpPr txBox="1"/>
          <p:nvPr/>
        </p:nvSpPr>
        <p:spPr>
          <a:xfrm>
            <a:off x="7269480" y="452628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rPr>
              <a:t>3</a:t>
            </a:r>
            <a:endParaRPr lang="en-US" sz="1500" dirty="0"/>
          </a:p>
        </p:txBody>
      </p:sp>
      <p:sp>
        <p:nvSpPr>
          <p:cNvPr id="16" name="Text 12"/>
          <p:cNvSpPr txBox="1"/>
          <p:nvPr/>
        </p:nvSpPr>
        <p:spPr>
          <a:xfrm>
            <a:off x="7863840" y="4480560"/>
            <a:ext cx="3749040" cy="411480"/>
          </a:xfrm>
          <a:prstGeom prst="rect">
            <a:avLst/>
          </a:prstGeom>
          <a:noFill/>
          <a:ln/>
        </p:spPr>
        <p:txBody>
          <a:bodyPr wrap="square" lIns="0" tIns="0" rIns="0" bIns="0" rtlCol="0" anchor="t"/>
          <a:lstStyle/>
          <a:p>
            <a:pPr indent="0" marL="0">
              <a:buNone/>
            </a:pPr>
            <a:r>
              <a:rPr lang="en-US" sz="1900" b="1" dirty="0">
                <a:solidFill>
                  <a:srgbClr val="1D2733"/>
                </a:solidFill>
              </a:rPr>
              <a:t>Song song + chọn mô hình</a:t>
            </a:r>
            <a:endParaRPr lang="en-US" sz="1900" dirty="0"/>
          </a:p>
        </p:txBody>
      </p:sp>
      <p:sp>
        <p:nvSpPr>
          <p:cNvPr id="17" name="Text 13"/>
          <p:cNvSpPr txBox="1"/>
          <p:nvPr/>
        </p:nvSpPr>
        <p:spPr>
          <a:xfrm>
            <a:off x="7863840" y="4910328"/>
            <a:ext cx="3749040" cy="822960"/>
          </a:xfrm>
          <a:prstGeom prst="rect">
            <a:avLst/>
          </a:prstGeom>
          <a:noFill/>
          <a:ln/>
        </p:spPr>
        <p:txBody>
          <a:bodyPr wrap="square" lIns="0" tIns="0" rIns="0" bIns="0" rtlCol="0" anchor="t"/>
          <a:lstStyle/>
          <a:p>
            <a:pPr indent="0" marL="0">
              <a:buNone/>
            </a:pPr>
            <a:r>
              <a:rPr lang="en-US" sz="1500" dirty="0">
                <a:solidFill>
                  <a:srgbClr val="5B6878"/>
                </a:solidFill>
              </a:rPr>
              <a:t>16 môi trường, nhanh ×4; giữ bản tốt nhất trên tập kiểm định</a:t>
            </a:r>
            <a:endParaRPr lang="en-US" sz="15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878"/>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body" hasCustomPrompt="1"/>
          </p:nvPr>
        </p:nvSpPr>
        <p:spPr>
          <a:xfrm>
            <a:off x="768096" y="301752"/>
            <a:ext cx="8229600" cy="310896"/>
          </a:xfrm>
          <a:prstGeom prst="rect">
            <a:avLst/>
          </a:prstGeom>
          <a:noFill/>
          <a:ln/>
        </p:spPr>
        <p:txBody>
          <a:bodyPr wrap="square" lIns="0" tIns="0" rIns="0" bIns="0" rtlCol="0"/>
          <a:lstStyle/>
          <a:p>
            <a:pPr indent="0" marL="0">
              <a:buNone/>
            </a:pPr>
            <a:r>
              <a:rPr lang="en-US" sz="1200" spc="200" kern="0" dirty="0">
                <a:solidFill>
                  <a:srgbClr val="5B6878"/>
                </a:solidFill>
              </a:rPr>
              <a:t>KẾT QUẢ · PHÒNG LẠ</a:t>
            </a:r>
            <a:endParaRPr lang="en-US" sz="1200" dirty="0"/>
          </a:p>
        </p:txBody>
      </p:sp>
      <p:sp>
        <p:nvSpPr>
          <p:cNvPr id="3" name="Text 1"/>
          <p:cNvSpPr/>
          <p:nvPr>
            <p:ph idx="102" type="title" hasCustomPrompt="1"/>
          </p:nvPr>
        </p:nvSpPr>
        <p:spPr>
          <a:xfrm>
            <a:off x="548640" y="640080"/>
            <a:ext cx="11094415" cy="731520"/>
          </a:xfrm>
          <a:prstGeom prst="rect">
            <a:avLst/>
          </a:prstGeom>
          <a:noFill/>
          <a:ln/>
        </p:spPr>
        <p:txBody>
          <a:bodyPr wrap="square" lIns="0" tIns="0" rIns="0" bIns="0" rtlCol="0" anchor="t"/>
          <a:lstStyle/>
          <a:p>
            <a:pPr algn="l" indent="0" marL="0">
              <a:buNone/>
            </a:pPr>
            <a:r>
              <a:rPr lang="en-US" sz="2800" b="1" dirty="0">
                <a:solidFill>
                  <a:srgbClr val="1D2733"/>
                </a:solidFill>
                <a:latin typeface="Cambria" pitchFamily="34" charset="0"/>
                <a:ea typeface="Cambria" pitchFamily="34" charset="-122"/>
                <a:cs typeface="Cambria" pitchFamily="34" charset="-120"/>
              </a:rPr>
              <a:t>Ở phòng lạ, DQN v4 dọn xong nhanh hơn greedy BFS</a:t>
            </a:r>
            <a:endParaRPr lang="en-US" sz="2800" dirty="0"/>
          </a:p>
        </p:txBody>
      </p:sp>
      <p:sp>
        <p:nvSpPr>
          <p:cNvPr id="5" name="gif card"/>
          <p:cNvSpPr/>
          <p:nvPr/>
        </p:nvSpPr>
        <p:spPr>
          <a:xfrm>
            <a:off x="548640" y="1600200"/>
            <a:ext cx="2971800" cy="4526280"/>
          </a:xfrm>
          <a:prstGeom prst="roundRect">
            <a:avLst>
              <a:gd name="adj" fmla="val 2462"/>
            </a:avLst>
          </a:prstGeom>
          <a:solidFill>
            <a:srgbClr val="EEF4FA"/>
          </a:solidFill>
          <a:ln w="12700">
            <a:solidFill>
              <a:srgbClr val="EEF4FA"/>
            </a:solidFill>
            <a:prstDash val="solid"/>
          </a:ln>
        </p:spPr>
      </p:sp>
      <p:pic>
        <p:nvPicPr>
          <p:cNvPr id="6" name="unseen_rooms.gif" descr="DQN và greedy BFS dọn 3 phòng chưa từng thấy">    </p:cNvPr>
          <p:cNvPicPr>
            <a:picLocks noChangeAspect="1"/>
          </p:cNvPicPr>
          <p:nvPr/>
        </p:nvPicPr>
        <p:blipFill>
          <a:blip r:embed="rId1"/>
          <a:stretch>
            <a:fillRect/>
          </a:stretch>
        </p:blipFill>
        <p:spPr>
          <a:xfrm>
            <a:off x="873919" y="1691640"/>
            <a:ext cx="2321242" cy="4343400"/>
          </a:xfrm>
          <a:prstGeom prst="rect">
            <a:avLst/>
          </a:prstGeom>
        </p:spPr>
      </p:pic>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3886200" y="1783080"/>
          <a:ext cx="7754112" cy="914400"/>
        </p:xfrm>
        <a:graphic>
          <a:graphicData uri="http://schemas.openxmlformats.org/drawingml/2006/table">
            <a:tbl>
              <a:tblPr/>
              <a:tblGrid>
                <a:gridCol w="2651760"/>
                <a:gridCol w="1645920"/>
                <a:gridCol w="1645920"/>
                <a:gridCol w="1810512"/>
              </a:tblGrid>
              <a:tr h="566928">
                <a:tc>
                  <a:txBody>
                    <a:bodyPr/>
                    <a:lstStyle/>
                    <a:p>
                      <a:pPr indent="0" marL="0">
                        <a:buNone/>
                      </a:pPr>
                      <a:r>
                        <a:rPr lang="en-US" sz="1500" b="1" dirty="0">
                          <a:solidFill>
                            <a:srgbClr val="1D2733"/>
                          </a:solidFill>
                          <a:latin typeface="Calibri" pitchFamily="34" charset="0"/>
                          <a:ea typeface="Calibri" pitchFamily="34" charset="-122"/>
                          <a:cs typeface="Calibri" pitchFamily="34" charset="-120"/>
                        </a:rPr>
                        <a:t>50 phòng 8×8 chưa gặp</a:t>
                      </a:r>
                      <a:endParaRPr lang="en-US" sz="1500" dirty="0">
                        <a:latin typeface="Calibri" charset="0"/>
                        <a:ea typeface="Calibri" charset="0"/>
                        <a:cs typeface="Calibri" charset="0"/>
                      </a:endParaRPr>
                    </a:p>
                  </a:txBody>
                  <a:tcPr marL="101600" marR="101600" marT="50800" marB="508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rgbClr val="EEF4FA"/>
                    </a:solidFill>
                  </a:tcPr>
                </a:tc>
                <a:tc>
                  <a:txBody>
                    <a:bodyPr/>
                    <a:lstStyle/>
                    <a:p>
                      <a:pPr indent="0" marL="0">
                        <a:buNone/>
                      </a:pPr>
                      <a:r>
                        <a:rPr lang="en-US" sz="1500" b="1" dirty="0">
                          <a:solidFill>
                            <a:srgbClr val="1D2733"/>
                          </a:solidFill>
                          <a:latin typeface="Calibri" pitchFamily="34" charset="0"/>
                          <a:ea typeface="Calibri" pitchFamily="34" charset="-122"/>
                          <a:cs typeface="Calibri" pitchFamily="34" charset="-120"/>
                        </a:rPr>
                        <a:t>Đã dọn</a:t>
                      </a:r>
                      <a:endParaRPr lang="en-US" sz="1500" dirty="0">
                        <a:latin typeface="Calibri" charset="0"/>
                        <a:ea typeface="Calibri" charset="0"/>
                        <a:cs typeface="Calibri" charset="0"/>
                      </a:endParaRPr>
                    </a:p>
                  </a:txBody>
                  <a:tcPr marL="101600" marR="101600" marT="50800" marB="508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rgbClr val="EEF4FA"/>
                    </a:solidFill>
                  </a:tcPr>
                </a:tc>
                <a:tc>
                  <a:txBody>
                    <a:bodyPr/>
                    <a:lstStyle/>
                    <a:p>
                      <a:pPr indent="0" marL="0">
                        <a:buNone/>
                      </a:pPr>
                      <a:r>
                        <a:rPr lang="en-US" sz="1500" b="1" dirty="0">
                          <a:solidFill>
                            <a:srgbClr val="1D2733"/>
                          </a:solidFill>
                          <a:latin typeface="Calibri" pitchFamily="34" charset="0"/>
                          <a:ea typeface="Calibri" pitchFamily="34" charset="-122"/>
                          <a:cs typeface="Calibri" pitchFamily="34" charset="-120"/>
                        </a:rPr>
                        <a:t>Dọn xong</a:t>
                      </a:r>
                      <a:endParaRPr lang="en-US" sz="1500" dirty="0">
                        <a:latin typeface="Calibri" charset="0"/>
                        <a:ea typeface="Calibri" charset="0"/>
                        <a:cs typeface="Calibri" charset="0"/>
                      </a:endParaRPr>
                    </a:p>
                  </a:txBody>
                  <a:tcPr marL="101600" marR="101600" marT="50800" marB="508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rgbClr val="EEF4FA"/>
                    </a:solidFill>
                  </a:tcPr>
                </a:tc>
                <a:tc>
                  <a:txBody>
                    <a:bodyPr/>
                    <a:lstStyle/>
                    <a:p>
                      <a:pPr indent="0" marL="0">
                        <a:buNone/>
                      </a:pPr>
                      <a:r>
                        <a:rPr lang="en-US" sz="1500" b="1" dirty="0">
                          <a:solidFill>
                            <a:srgbClr val="1D2733"/>
                          </a:solidFill>
                          <a:latin typeface="Calibri" pitchFamily="34" charset="0"/>
                          <a:ea typeface="Calibri" pitchFamily="34" charset="-122"/>
                          <a:cs typeface="Calibri" pitchFamily="34" charset="-120"/>
                        </a:rPr>
                        <a:t>Bước khi xong</a:t>
                      </a:r>
                      <a:endParaRPr lang="en-US" sz="1500" dirty="0">
                        <a:latin typeface="Calibri" charset="0"/>
                        <a:ea typeface="Calibri" charset="0"/>
                        <a:cs typeface="Calibri" charset="0"/>
                      </a:endParaRPr>
                    </a:p>
                  </a:txBody>
                  <a:tcPr marL="101600" marR="101600" marT="50800" marB="508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rgbClr val="EEF4FA"/>
                    </a:solidFill>
                  </a:tcPr>
                </a:tc>
              </a:tr>
              <a:tr h="566928">
                <a:tc>
                  <a:txBody>
                    <a:bodyPr/>
                    <a:lstStyle/>
                    <a:p>
                      <a:pPr indent="0" marL="0">
                        <a:buNone/>
                      </a:pPr>
                      <a:r>
                        <a:rPr lang="en-US" sz="1500" b="1" dirty="0">
                          <a:solidFill>
                            <a:srgbClr val="1D2733"/>
                          </a:solidFill>
                          <a:latin typeface="Calibri" pitchFamily="34" charset="0"/>
                          <a:ea typeface="Calibri" pitchFamily="34" charset="-122"/>
                          <a:cs typeface="Calibri" pitchFamily="34" charset="-120"/>
                        </a:rPr>
                        <a:t>DQN v4</a:t>
                      </a:r>
                      <a:endParaRPr lang="en-US" sz="1500" dirty="0">
                        <a:latin typeface="Calibri" charset="0"/>
                        <a:ea typeface="Calibri" charset="0"/>
                        <a:cs typeface="Calibri" charset="0"/>
                      </a:endParaRPr>
                    </a:p>
                  </a:txBody>
                  <a:tcPr marL="101600" marR="101600" marT="50800" marB="508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indent="0" marL="0">
                        <a:buNone/>
                      </a:pPr>
                      <a:r>
                        <a:rPr lang="en-US" sz="1500" dirty="0">
                          <a:solidFill>
                            <a:srgbClr val="1D2733"/>
                          </a:solidFill>
                          <a:latin typeface="Calibri" pitchFamily="34" charset="0"/>
                          <a:ea typeface="Calibri" pitchFamily="34" charset="-122"/>
                          <a:cs typeface="Calibri" pitchFamily="34" charset="-120"/>
                        </a:rPr>
                        <a:t>98% ± 1%</a:t>
                      </a:r>
                      <a:endParaRPr lang="en-US" sz="1500" dirty="0">
                        <a:latin typeface="Calibri" charset="0"/>
                        <a:ea typeface="Calibri" charset="0"/>
                        <a:cs typeface="Calibri" charset="0"/>
                      </a:endParaRPr>
                    </a:p>
                  </a:txBody>
                  <a:tcPr marL="101600" marR="101600" marT="50800" marB="508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indent="0" marL="0">
                        <a:buNone/>
                      </a:pPr>
                      <a:r>
                        <a:rPr lang="en-US" sz="1500" dirty="0">
                          <a:solidFill>
                            <a:srgbClr val="1D2733"/>
                          </a:solidFill>
                          <a:latin typeface="Calibri" pitchFamily="34" charset="0"/>
                          <a:ea typeface="Calibri" pitchFamily="34" charset="-122"/>
                          <a:cs typeface="Calibri" pitchFamily="34" charset="-120"/>
                        </a:rPr>
                        <a:t>80% ± 9%</a:t>
                      </a:r>
                      <a:endParaRPr lang="en-US" sz="1500" dirty="0">
                        <a:latin typeface="Calibri" charset="0"/>
                        <a:ea typeface="Calibri" charset="0"/>
                        <a:cs typeface="Calibri" charset="0"/>
                      </a:endParaRPr>
                    </a:p>
                  </a:txBody>
                  <a:tcPr marL="101600" marR="101600" marT="50800" marB="508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indent="0" marL="0">
                        <a:buNone/>
                      </a:pPr>
                      <a:r>
                        <a:rPr lang="en-US" sz="1500" b="1" dirty="0">
                          <a:solidFill>
                            <a:srgbClr val="2E7D4F"/>
                          </a:solidFill>
                          <a:latin typeface="Calibri" pitchFamily="34" charset="0"/>
                          <a:ea typeface="Calibri" pitchFamily="34" charset="-122"/>
                          <a:cs typeface="Calibri" pitchFamily="34" charset="-120"/>
                        </a:rPr>
                        <a:t>69,0</a:t>
                      </a:r>
                      <a:endParaRPr lang="en-US" sz="1500" dirty="0">
                        <a:latin typeface="Calibri" charset="0"/>
                        <a:ea typeface="Calibri" charset="0"/>
                        <a:cs typeface="Calibri" charset="0"/>
                      </a:endParaRPr>
                    </a:p>
                  </a:txBody>
                  <a:tcPr marL="101600" marR="101600" marT="50800" marB="508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rgbClr val="E3F2E9"/>
                    </a:solidFill>
                  </a:tcPr>
                </a:tc>
              </a:tr>
              <a:tr h="566928">
                <a:tc>
                  <a:txBody>
                    <a:bodyPr/>
                    <a:lstStyle/>
                    <a:p>
                      <a:pPr indent="0" marL="0">
                        <a:buNone/>
                      </a:pPr>
                      <a:r>
                        <a:rPr lang="en-US" sz="1500" dirty="0">
                          <a:solidFill>
                            <a:srgbClr val="1D2733"/>
                          </a:solidFill>
                          <a:latin typeface="Calibri" pitchFamily="34" charset="0"/>
                          <a:ea typeface="Calibri" pitchFamily="34" charset="-122"/>
                          <a:cs typeface="Calibri" pitchFamily="34" charset="-120"/>
                        </a:rPr>
                        <a:t>greedy BFS</a:t>
                      </a:r>
                      <a:endParaRPr lang="en-US" sz="1500" dirty="0">
                        <a:latin typeface="Calibri" charset="0"/>
                        <a:ea typeface="Calibri" charset="0"/>
                        <a:cs typeface="Calibri" charset="0"/>
                      </a:endParaRPr>
                    </a:p>
                  </a:txBody>
                  <a:tcPr marL="101600" marR="101600" marT="50800" marB="508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indent="0" marL="0">
                        <a:buNone/>
                      </a:pPr>
                      <a:r>
                        <a:rPr lang="en-US" sz="1500" dirty="0">
                          <a:solidFill>
                            <a:srgbClr val="1D2733"/>
                          </a:solidFill>
                          <a:latin typeface="Calibri" pitchFamily="34" charset="0"/>
                          <a:ea typeface="Calibri" pitchFamily="34" charset="-122"/>
                          <a:cs typeface="Calibri" pitchFamily="34" charset="-120"/>
                        </a:rPr>
                        <a:t>100%</a:t>
                      </a:r>
                      <a:endParaRPr lang="en-US" sz="1500" dirty="0">
                        <a:latin typeface="Calibri" charset="0"/>
                        <a:ea typeface="Calibri" charset="0"/>
                        <a:cs typeface="Calibri" charset="0"/>
                      </a:endParaRPr>
                    </a:p>
                  </a:txBody>
                  <a:tcPr marL="101600" marR="101600" marT="50800" marB="508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indent="0" marL="0">
                        <a:buNone/>
                      </a:pPr>
                      <a:r>
                        <a:rPr lang="en-US" sz="1500" dirty="0">
                          <a:solidFill>
                            <a:srgbClr val="1D2733"/>
                          </a:solidFill>
                          <a:latin typeface="Calibri" pitchFamily="34" charset="0"/>
                          <a:ea typeface="Calibri" pitchFamily="34" charset="-122"/>
                          <a:cs typeface="Calibri" pitchFamily="34" charset="-120"/>
                        </a:rPr>
                        <a:t>100%</a:t>
                      </a:r>
                      <a:endParaRPr lang="en-US" sz="1500" dirty="0">
                        <a:latin typeface="Calibri" charset="0"/>
                        <a:ea typeface="Calibri" charset="0"/>
                        <a:cs typeface="Calibri" charset="0"/>
                      </a:endParaRPr>
                    </a:p>
                  </a:txBody>
                  <a:tcPr marL="101600" marR="101600" marT="50800" marB="508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indent="0" marL="0">
                        <a:buNone/>
                      </a:pPr>
                      <a:r>
                        <a:rPr lang="en-US" sz="1500" dirty="0">
                          <a:solidFill>
                            <a:srgbClr val="1D2733"/>
                          </a:solidFill>
                          <a:latin typeface="Calibri" pitchFamily="34" charset="0"/>
                          <a:ea typeface="Calibri" pitchFamily="34" charset="-122"/>
                          <a:cs typeface="Calibri" pitchFamily="34" charset="-120"/>
                        </a:rPr>
                        <a:t>71,4</a:t>
                      </a:r>
                      <a:endParaRPr lang="en-US" sz="1500" dirty="0">
                        <a:latin typeface="Calibri" charset="0"/>
                        <a:ea typeface="Calibri" charset="0"/>
                        <a:cs typeface="Calibri" charset="0"/>
                      </a:endParaRPr>
                    </a:p>
                  </a:txBody>
                  <a:tcPr marL="101600" marR="101600" marT="50800" marB="508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r>
              <a:tr h="566928">
                <a:tc>
                  <a:txBody>
                    <a:bodyPr/>
                    <a:lstStyle/>
                    <a:p>
                      <a:pPr indent="0" marL="0">
                        <a:buNone/>
                      </a:pPr>
                      <a:r>
                        <a:rPr lang="en-US" sz="1500" dirty="0">
                          <a:solidFill>
                            <a:srgbClr val="1D2733"/>
                          </a:solidFill>
                          <a:latin typeface="Calibri" pitchFamily="34" charset="0"/>
                          <a:ea typeface="Calibri" pitchFamily="34" charset="-122"/>
                          <a:cs typeface="Calibri" pitchFamily="34" charset="-120"/>
                        </a:rPr>
                        <a:t>zigzag</a:t>
                      </a:r>
                      <a:endParaRPr lang="en-US" sz="1500" dirty="0">
                        <a:latin typeface="Calibri" charset="0"/>
                        <a:ea typeface="Calibri" charset="0"/>
                        <a:cs typeface="Calibri" charset="0"/>
                      </a:endParaRPr>
                    </a:p>
                  </a:txBody>
                  <a:tcPr marL="101600" marR="101600" marT="50800" marB="508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indent="0" marL="0">
                        <a:buNone/>
                      </a:pPr>
                      <a:r>
                        <a:rPr lang="en-US" sz="1500" dirty="0">
                          <a:solidFill>
                            <a:srgbClr val="1D2733"/>
                          </a:solidFill>
                          <a:latin typeface="Calibri" pitchFamily="34" charset="0"/>
                          <a:ea typeface="Calibri" pitchFamily="34" charset="-122"/>
                          <a:cs typeface="Calibri" pitchFamily="34" charset="-120"/>
                        </a:rPr>
                        <a:t>100%</a:t>
                      </a:r>
                      <a:endParaRPr lang="en-US" sz="1500" dirty="0">
                        <a:latin typeface="Calibri" charset="0"/>
                        <a:ea typeface="Calibri" charset="0"/>
                        <a:cs typeface="Calibri" charset="0"/>
                      </a:endParaRPr>
                    </a:p>
                  </a:txBody>
                  <a:tcPr marL="101600" marR="101600" marT="50800" marB="508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indent="0" marL="0">
                        <a:buNone/>
                      </a:pPr>
                      <a:r>
                        <a:rPr lang="en-US" sz="1500" dirty="0">
                          <a:solidFill>
                            <a:srgbClr val="1D2733"/>
                          </a:solidFill>
                          <a:latin typeface="Calibri" pitchFamily="34" charset="0"/>
                          <a:ea typeface="Calibri" pitchFamily="34" charset="-122"/>
                          <a:cs typeface="Calibri" pitchFamily="34" charset="-120"/>
                        </a:rPr>
                        <a:t>100%</a:t>
                      </a:r>
                      <a:endParaRPr lang="en-US" sz="1500" dirty="0">
                        <a:latin typeface="Calibri" charset="0"/>
                        <a:ea typeface="Calibri" charset="0"/>
                        <a:cs typeface="Calibri" charset="0"/>
                      </a:endParaRPr>
                    </a:p>
                  </a:txBody>
                  <a:tcPr marL="101600" marR="101600" marT="50800" marB="508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indent="0" marL="0">
                        <a:buNone/>
                      </a:pPr>
                      <a:r>
                        <a:rPr lang="en-US" sz="1500" dirty="0">
                          <a:solidFill>
                            <a:srgbClr val="1D2733"/>
                          </a:solidFill>
                          <a:latin typeface="Calibri" pitchFamily="34" charset="0"/>
                          <a:ea typeface="Calibri" pitchFamily="34" charset="-122"/>
                          <a:cs typeface="Calibri" pitchFamily="34" charset="-120"/>
                        </a:rPr>
                        <a:t>80,8</a:t>
                      </a:r>
                      <a:endParaRPr lang="en-US" sz="1500" dirty="0">
                        <a:latin typeface="Calibri" charset="0"/>
                        <a:ea typeface="Calibri" charset="0"/>
                        <a:cs typeface="Calibri" charset="0"/>
                      </a:endParaRPr>
                    </a:p>
                  </a:txBody>
                  <a:tcPr marL="101600" marR="101600" marT="50800" marB="508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r>
            </a:tbl>
          </a:graphicData>
        </a:graphic>
      </p:graphicFrame>
      <p:sp>
        <p:nvSpPr>
          <p:cNvPr id="8" name="note card"/>
          <p:cNvSpPr/>
          <p:nvPr/>
        </p:nvSpPr>
        <p:spPr>
          <a:xfrm>
            <a:off x="3886200" y="4343400"/>
            <a:ext cx="7754112" cy="1234440"/>
          </a:xfrm>
          <a:prstGeom prst="roundRect">
            <a:avLst>
              <a:gd name="adj" fmla="val 5926"/>
            </a:avLst>
          </a:prstGeom>
          <a:solidFill>
            <a:srgbClr val="EEF4FA"/>
          </a:solidFill>
          <a:ln w="12700">
            <a:solidFill>
              <a:srgbClr val="EEF4FA"/>
            </a:solidFill>
            <a:prstDash val="solid"/>
          </a:ln>
        </p:spPr>
      </p:sp>
      <p:sp>
        <p:nvSpPr>
          <p:cNvPr id="9" name="Text 4"/>
          <p:cNvSpPr txBox="1"/>
          <p:nvPr/>
        </p:nvSpPr>
        <p:spPr>
          <a:xfrm>
            <a:off x="4160520" y="4526280"/>
            <a:ext cx="7223760" cy="868680"/>
          </a:xfrm>
          <a:prstGeom prst="rect">
            <a:avLst/>
          </a:prstGeom>
          <a:noFill/>
          <a:ln/>
        </p:spPr>
        <p:txBody>
          <a:bodyPr wrap="square" lIns="0" tIns="0" rIns="0" bIns="0" rtlCol="0" anchor="t"/>
          <a:lstStyle/>
          <a:p>
            <a:pPr indent="0" marL="0">
              <a:buNone/>
            </a:pPr>
            <a:r>
              <a:rPr lang="en-US" sz="1700" dirty="0">
                <a:solidFill>
                  <a:srgbClr val="1D2733"/>
                </a:solidFill>
              </a:rPr>
              <a:t>Phòng lạ 6×6: DQN v4 dọn xong 99% số phòng với 33,8 bước (greedy BFS 38,8; zigzag 44,2).</a:t>
            </a:r>
            <a:endParaRPr lang="en-US" sz="1700" dirty="0"/>
          </a:p>
        </p:txBody>
      </p:sp>
      <p:sp>
        <p:nvSpPr>
          <p:cNvPr id="10" name="Text 5"/>
          <p:cNvSpPr txBox="1"/>
          <p:nvPr/>
        </p:nvSpPr>
        <p:spPr>
          <a:xfrm>
            <a:off x="548640" y="6172200"/>
            <a:ext cx="5486400" cy="274320"/>
          </a:xfrm>
          <a:prstGeom prst="rect">
            <a:avLst/>
          </a:prstGeom>
          <a:noFill/>
          <a:ln/>
        </p:spPr>
        <p:txBody>
          <a:bodyPr wrap="square" lIns="0" tIns="0" rIns="0" bIns="0" rtlCol="0" anchor="t"/>
          <a:lstStyle/>
          <a:p>
            <a:pPr indent="0" marL="0">
              <a:buNone/>
            </a:pPr>
            <a:r>
              <a:rPr lang="en-US" sz="1200" i="1" dirty="0">
                <a:solidFill>
                  <a:srgbClr val="5B6878"/>
                </a:solidFill>
              </a:rPr>
              <a:t>Hình: 3 phòng chưa từng thấy — DQN (trái) và greedy BFS (phải)</a:t>
            </a:r>
            <a:endParaRPr lang="en-US" sz="12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878"/>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body" hasCustomPrompt="1"/>
          </p:nvPr>
        </p:nvSpPr>
        <p:spPr>
          <a:xfrm>
            <a:off x="768096" y="301752"/>
            <a:ext cx="8229600" cy="310896"/>
          </a:xfrm>
          <a:prstGeom prst="rect">
            <a:avLst/>
          </a:prstGeom>
          <a:noFill/>
          <a:ln/>
        </p:spPr>
        <p:txBody>
          <a:bodyPr wrap="square" lIns="0" tIns="0" rIns="0" bIns="0" rtlCol="0"/>
          <a:lstStyle/>
          <a:p>
            <a:pPr indent="0" marL="0">
              <a:buNone/>
            </a:pPr>
            <a:r>
              <a:rPr lang="en-US" sz="1200" spc="200" kern="0" dirty="0">
                <a:solidFill>
                  <a:srgbClr val="5B6878"/>
                </a:solidFill>
              </a:rPr>
              <a:t>E1 · E2</a:t>
            </a:r>
            <a:endParaRPr lang="en-US" sz="1200" dirty="0"/>
          </a:p>
        </p:txBody>
      </p:sp>
      <p:sp>
        <p:nvSpPr>
          <p:cNvPr id="3" name="Text 1"/>
          <p:cNvSpPr/>
          <p:nvPr>
            <p:ph idx="102" type="title" hasCustomPrompt="1"/>
          </p:nvPr>
        </p:nvSpPr>
        <p:spPr>
          <a:xfrm>
            <a:off x="548640" y="640080"/>
            <a:ext cx="11094415" cy="731520"/>
          </a:xfrm>
          <a:prstGeom prst="rect">
            <a:avLst/>
          </a:prstGeom>
          <a:noFill/>
          <a:ln/>
        </p:spPr>
        <p:txBody>
          <a:bodyPr wrap="square" lIns="0" tIns="0" rIns="0" bIns="0" rtlCol="0" anchor="t"/>
          <a:lstStyle/>
          <a:p>
            <a:pPr algn="l" indent="0" marL="0">
              <a:buNone/>
            </a:pPr>
            <a:r>
              <a:rPr lang="en-US" sz="2800" b="1" dirty="0">
                <a:solidFill>
                  <a:srgbClr val="1D2733"/>
                </a:solidFill>
                <a:latin typeface="Cambria" pitchFamily="34" charset="0"/>
                <a:ea typeface="Cambria" pitchFamily="34" charset="-122"/>
                <a:cs typeface="Cambria" pitchFamily="34" charset="-120"/>
              </a:rPr>
              <a:t>Hai bài học về cách thiết kế bài toán RL</a:t>
            </a:r>
            <a:endParaRPr lang="en-US" sz="2800" dirty="0"/>
          </a:p>
        </p:txBody>
      </p:sp>
      <p:sp>
        <p:nvSpPr>
          <p:cNvPr id="5" name="Text 2"/>
          <p:cNvSpPr txBox="1"/>
          <p:nvPr/>
        </p:nvSpPr>
        <p:spPr>
          <a:xfrm>
            <a:off x="548640" y="1600200"/>
            <a:ext cx="5760720" cy="411480"/>
          </a:xfrm>
          <a:prstGeom prst="rect">
            <a:avLst/>
          </a:prstGeom>
          <a:noFill/>
          <a:ln/>
        </p:spPr>
        <p:txBody>
          <a:bodyPr wrap="square" lIns="0" tIns="0" rIns="0" bIns="0" rtlCol="0" anchor="t"/>
          <a:lstStyle/>
          <a:p>
            <a:pPr indent="0" marL="0">
              <a:buNone/>
            </a:pPr>
            <a:r>
              <a:rPr lang="en-US" sz="2000" b="1" dirty="0">
                <a:solidFill>
                  <a:srgbClr val="1F6FB2"/>
                </a:solidFill>
              </a:rPr>
              <a:t>E1 · Tính Markov</a:t>
            </a:r>
            <a:endParaRPr lang="en-US" sz="2000" dirty="0"/>
          </a:p>
        </p:txBody>
      </p:sp>
      <p:pic>
        <p:nvPicPr>
          <p:cNvPr id="6" name="e1_markov.png" descr="E1: state đầy đủ và chỉ vị trí">    </p:cNvPr>
          <p:cNvPicPr>
            <a:picLocks noChangeAspect="1"/>
          </p:cNvPicPr>
          <p:nvPr/>
        </p:nvPicPr>
        <p:blipFill>
          <a:blip r:embed="rId1"/>
          <a:stretch>
            <a:fillRect/>
          </a:stretch>
        </p:blipFill>
        <p:spPr>
          <a:xfrm>
            <a:off x="548640" y="2057400"/>
            <a:ext cx="5760720" cy="2119650"/>
          </a:xfrm>
          <a:prstGeom prst="rect">
            <a:avLst/>
          </a:prstGeom>
        </p:spPr>
      </p:pic>
      <p:sp>
        <p:nvSpPr>
          <p:cNvPr id="7" name="Text 3"/>
          <p:cNvSpPr txBox="1"/>
          <p:nvPr/>
        </p:nvSpPr>
        <p:spPr>
          <a:xfrm>
            <a:off x="548640" y="4572000"/>
            <a:ext cx="5577840" cy="731520"/>
          </a:xfrm>
          <a:prstGeom prst="rect">
            <a:avLst/>
          </a:prstGeom>
          <a:noFill/>
          <a:ln/>
        </p:spPr>
        <p:txBody>
          <a:bodyPr wrap="square" lIns="0" tIns="0" rIns="0" bIns="0" rtlCol="0" anchor="t"/>
          <a:lstStyle/>
          <a:p>
            <a:pPr indent="0" marL="0">
              <a:buNone/>
            </a:pPr>
            <a:r>
              <a:rPr lang="en-US" sz="1600" dirty="0">
                <a:solidFill>
                  <a:srgbClr val="1D2733"/>
                </a:solidFill>
              </a:rPr>
              <a:t>Bỏ thông tin ô đã dọn → 0% dọn xong (đủ thông tin: 100%, tối ưu 13 bước)</a:t>
            </a:r>
            <a:endParaRPr lang="en-US" sz="1600" dirty="0"/>
          </a:p>
        </p:txBody>
      </p:sp>
      <p:sp>
        <p:nvSpPr>
          <p:cNvPr id="8" name="Text 4"/>
          <p:cNvSpPr txBox="1"/>
          <p:nvPr/>
        </p:nvSpPr>
        <p:spPr>
          <a:xfrm>
            <a:off x="6675120" y="1600200"/>
            <a:ext cx="4937760" cy="411480"/>
          </a:xfrm>
          <a:prstGeom prst="rect">
            <a:avLst/>
          </a:prstGeom>
          <a:noFill/>
          <a:ln/>
        </p:spPr>
        <p:txBody>
          <a:bodyPr wrap="square" lIns="0" tIns="0" rIns="0" bIns="0" rtlCol="0" anchor="t"/>
          <a:lstStyle/>
          <a:p>
            <a:pPr indent="0" marL="0">
              <a:buNone/>
            </a:pPr>
            <a:r>
              <a:rPr lang="en-US" sz="2000" b="1" dirty="0">
                <a:solidFill>
                  <a:srgbClr val="C8322F"/>
                </a:solidFill>
              </a:rPr>
              <a:t>E2 · Reward hacking</a:t>
            </a:r>
            <a:endParaRPr lang="en-US" sz="2000" dirty="0"/>
          </a:p>
        </p:txBody>
      </p:sp>
      <p:sp>
        <p:nvSpPr>
          <p:cNvPr id="9" name="gif card"/>
          <p:cNvSpPr/>
          <p:nvPr/>
        </p:nvSpPr>
        <p:spPr>
          <a:xfrm>
            <a:off x="6675120" y="2057400"/>
            <a:ext cx="2331720" cy="2377440"/>
          </a:xfrm>
          <a:prstGeom prst="roundRect">
            <a:avLst>
              <a:gd name="adj" fmla="val 3137"/>
            </a:avLst>
          </a:prstGeom>
          <a:solidFill>
            <a:srgbClr val="EEF4FA"/>
          </a:solidFill>
          <a:ln w="12700">
            <a:solidFill>
              <a:srgbClr val="EEF4FA"/>
            </a:solidFill>
            <a:prstDash val="solid"/>
          </a:ln>
        </p:spPr>
      </p:sp>
      <p:pic>
        <p:nvPicPr>
          <p:cNvPr id="10" name="reward_hacking.gif" descr="Robot đi qua đi lại để ăn điểm">    </p:cNvPr>
          <p:cNvPicPr>
            <a:picLocks noChangeAspect="1"/>
          </p:cNvPicPr>
          <p:nvPr/>
        </p:nvPicPr>
        <p:blipFill>
          <a:blip r:embed="rId2"/>
          <a:stretch>
            <a:fillRect/>
          </a:stretch>
        </p:blipFill>
        <p:spPr>
          <a:xfrm>
            <a:off x="6812280" y="2217420"/>
            <a:ext cx="2057400" cy="2057400"/>
          </a:xfrm>
          <a:prstGeom prst="rect">
            <a:avLst/>
          </a:prstGeom>
        </p:spPr>
      </p:pic>
      <p:sp>
        <p:nvSpPr>
          <p:cNvPr id="11" name="Text 6"/>
          <p:cNvSpPr txBox="1"/>
          <p:nvPr/>
        </p:nvSpPr>
        <p:spPr>
          <a:xfrm>
            <a:off x="9189720" y="2148840"/>
            <a:ext cx="2468880" cy="2194560"/>
          </a:xfrm>
          <a:prstGeom prst="rect">
            <a:avLst/>
          </a:prstGeom>
          <a:noFill/>
          <a:ln/>
        </p:spPr>
        <p:txBody>
          <a:bodyPr wrap="square" lIns="0" tIns="0" rIns="0" bIns="0" rtlCol="0" anchor="t"/>
          <a:lstStyle/>
          <a:p>
            <a:pPr indent="0" marL="0">
              <a:buNone/>
            </a:pPr>
            <a:r>
              <a:rPr lang="en-US" sz="1600" dirty="0">
                <a:solidFill>
                  <a:srgbClr val="1D2733"/>
                </a:solidFill>
              </a:rPr>
              <a:t>Dọn 92% rồi đi qua đi lại để ăn điểm — cả 5 seed</a:t>
            </a:r>
            <a:endParaRPr lang="en-US" sz="1600" dirty="0"/>
          </a:p>
        </p:txBody>
      </p:sp>
      <p:sp>
        <p:nvSpPr>
          <p:cNvPr id="12" name="theorem card"/>
          <p:cNvSpPr/>
          <p:nvPr/>
        </p:nvSpPr>
        <p:spPr>
          <a:xfrm>
            <a:off x="548640" y="5440680"/>
            <a:ext cx="11064240" cy="685800"/>
          </a:xfrm>
          <a:prstGeom prst="roundRect">
            <a:avLst>
              <a:gd name="adj" fmla="val 10667"/>
            </a:avLst>
          </a:prstGeom>
          <a:solidFill>
            <a:srgbClr val="EEF4FA"/>
          </a:solidFill>
          <a:ln w="12700">
            <a:solidFill>
              <a:srgbClr val="EEF4FA"/>
            </a:solidFill>
            <a:prstDash val="solid"/>
          </a:ln>
        </p:spPr>
      </p:sp>
      <p:sp>
        <p:nvSpPr>
          <p:cNvPr id="13" name="Text 8"/>
          <p:cNvSpPr txBox="1"/>
          <p:nvPr/>
        </p:nvSpPr>
        <p:spPr>
          <a:xfrm>
            <a:off x="822960" y="5577840"/>
            <a:ext cx="10515600" cy="457200"/>
          </a:xfrm>
          <a:prstGeom prst="rect">
            <a:avLst/>
          </a:prstGeom>
          <a:noFill/>
          <a:ln/>
        </p:spPr>
        <p:txBody>
          <a:bodyPr wrap="square" lIns="0" tIns="0" rIns="0" bIns="0" rtlCol="0" anchor="t"/>
          <a:lstStyle/>
          <a:p>
            <a:pPr indent="0" marL="0">
              <a:buNone/>
            </a:pPr>
            <a:r>
              <a:rPr lang="en-US" sz="1600" dirty="0">
                <a:solidFill>
                  <a:srgbClr val="1D2733"/>
                </a:solidFill>
              </a:rPr>
              <a:t>Shaping thế năng: 0 / 4.676 trạng thái đổi lời giải tối ưu — đúng định lý Ng, Harada &amp; Russell (1999).</a:t>
            </a:r>
            <a:endParaRPr lang="en-US" sz="16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878"/>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body" hasCustomPrompt="1"/>
          </p:nvPr>
        </p:nvSpPr>
        <p:spPr>
          <a:xfrm>
            <a:off x="768096" y="301752"/>
            <a:ext cx="8229600" cy="310896"/>
          </a:xfrm>
          <a:prstGeom prst="rect">
            <a:avLst/>
          </a:prstGeom>
          <a:noFill/>
          <a:ln/>
        </p:spPr>
        <p:txBody>
          <a:bodyPr wrap="square" lIns="0" tIns="0" rIns="0" bIns="0" rtlCol="0"/>
          <a:lstStyle/>
          <a:p>
            <a:pPr indent="0" marL="0">
              <a:buNone/>
            </a:pPr>
            <a:r>
              <a:rPr lang="en-US" sz="1200" spc="200" kern="0" dirty="0">
                <a:solidFill>
                  <a:srgbClr val="5B6878"/>
                </a:solidFill>
              </a:rPr>
              <a:t>E4 · E3</a:t>
            </a:r>
            <a:endParaRPr lang="en-US" sz="1200" dirty="0"/>
          </a:p>
        </p:txBody>
      </p:sp>
      <p:sp>
        <p:nvSpPr>
          <p:cNvPr id="3" name="Text 1"/>
          <p:cNvSpPr/>
          <p:nvPr>
            <p:ph idx="102" type="title" hasCustomPrompt="1"/>
          </p:nvPr>
        </p:nvSpPr>
        <p:spPr>
          <a:xfrm>
            <a:off x="548640" y="640080"/>
            <a:ext cx="11094415" cy="731520"/>
          </a:xfrm>
          <a:prstGeom prst="rect">
            <a:avLst/>
          </a:prstGeom>
          <a:noFill/>
          <a:ln/>
        </p:spPr>
        <p:txBody>
          <a:bodyPr wrap="square" lIns="0" tIns="0" rIns="0" bIns="0" rtlCol="0" anchor="t"/>
          <a:lstStyle/>
          <a:p>
            <a:pPr algn="l" indent="0" marL="0">
              <a:buNone/>
            </a:pPr>
            <a:r>
              <a:rPr lang="en-US" sz="2800" b="1" dirty="0">
                <a:solidFill>
                  <a:srgbClr val="1D2733"/>
                </a:solidFill>
                <a:latin typeface="Cambria" pitchFamily="34" charset="0"/>
                <a:ea typeface="Cambria" pitchFamily="34" charset="-122"/>
                <a:cs typeface="Cambria" pitchFamily="34" charset="-120"/>
              </a:rPr>
              <a:t>Càng huấn luyện trên nhiều phòng, càng khái quát tốt</a:t>
            </a:r>
            <a:endParaRPr lang="en-US" sz="2800" dirty="0"/>
          </a:p>
        </p:txBody>
      </p:sp>
      <p:pic>
        <p:nvPicPr>
          <p:cNvPr id="5" name="e4_generalization.png" descr="E4 khái quát hóa theo số phòng huấn luyện">    </p:cNvPr>
          <p:cNvPicPr>
            <a:picLocks noChangeAspect="1"/>
          </p:cNvPicPr>
          <p:nvPr/>
        </p:nvPicPr>
        <p:blipFill>
          <a:blip r:embed="rId1"/>
          <a:stretch>
            <a:fillRect/>
          </a:stretch>
        </p:blipFill>
        <p:spPr>
          <a:xfrm>
            <a:off x="548640" y="1794510"/>
            <a:ext cx="6949440" cy="3909060"/>
          </a:xfrm>
          <a:prstGeom prst="rect">
            <a:avLst/>
          </a:prstGeom>
        </p:spPr>
      </p:pic>
      <p:sp>
        <p:nvSpPr>
          <p:cNvPr id="6" name="Text 2"/>
          <p:cNvSpPr txBox="1"/>
          <p:nvPr/>
        </p:nvSpPr>
        <p:spPr>
          <a:xfrm>
            <a:off x="548640" y="5943600"/>
            <a:ext cx="6949440" cy="274320"/>
          </a:xfrm>
          <a:prstGeom prst="rect">
            <a:avLst/>
          </a:prstGeom>
          <a:noFill/>
          <a:ln/>
        </p:spPr>
        <p:txBody>
          <a:bodyPr wrap="square" lIns="0" tIns="0" rIns="0" bIns="0" rtlCol="0" anchor="t"/>
          <a:lstStyle/>
          <a:p>
            <a:pPr indent="0" marL="0">
              <a:buNone/>
            </a:pPr>
            <a:r>
              <a:rPr lang="en-US" sz="1200" i="1" dirty="0">
                <a:solidFill>
                  <a:srgbClr val="5B6878"/>
                </a:solidFill>
              </a:rPr>
              <a:t>Phòng 6×6, 15% vật cản, 50 phòng test chưa gặp, 3 seed</a:t>
            </a:r>
            <a:endParaRPr lang="en-US" sz="1200" dirty="0"/>
          </a:p>
        </p:txBody>
      </p:sp>
      <p:sp>
        <p:nvSpPr>
          <p:cNvPr id="7" name="Text 3"/>
          <p:cNvSpPr txBox="1"/>
          <p:nvPr/>
        </p:nvSpPr>
        <p:spPr>
          <a:xfrm>
            <a:off x="8001000" y="1783080"/>
            <a:ext cx="3657600" cy="868680"/>
          </a:xfrm>
          <a:prstGeom prst="rect">
            <a:avLst/>
          </a:prstGeom>
          <a:noFill/>
          <a:ln/>
        </p:spPr>
        <p:txBody>
          <a:bodyPr wrap="square" lIns="0" tIns="0" rIns="0" bIns="0" rtlCol="0" anchor="b"/>
          <a:lstStyle/>
          <a:p>
            <a:pPr indent="0" marL="0">
              <a:buNone/>
            </a:pPr>
            <a:r>
              <a:rPr lang="en-US" sz="4000" b="1" dirty="0">
                <a:solidFill>
                  <a:srgbClr val="1F6FB2"/>
                </a:solidFill>
                <a:latin typeface="Calibri" pitchFamily="34" charset="0"/>
                <a:ea typeface="Calibri" pitchFamily="34" charset="-122"/>
                <a:cs typeface="Calibri" pitchFamily="34" charset="-120"/>
              </a:rPr>
              <a:t>61% → 100%</a:t>
            </a:r>
            <a:endParaRPr lang="en-US" sz="4000" dirty="0"/>
          </a:p>
        </p:txBody>
      </p:sp>
      <p:sp>
        <p:nvSpPr>
          <p:cNvPr id="8" name="Text 4"/>
          <p:cNvSpPr txBox="1"/>
          <p:nvPr/>
        </p:nvSpPr>
        <p:spPr>
          <a:xfrm>
            <a:off x="8001000" y="2697480"/>
            <a:ext cx="3657600" cy="777240"/>
          </a:xfrm>
          <a:prstGeom prst="rect">
            <a:avLst/>
          </a:prstGeom>
          <a:noFill/>
          <a:ln/>
        </p:spPr>
        <p:txBody>
          <a:bodyPr wrap="square" lIns="0" tIns="0" rIns="0" bIns="0" rtlCol="0" anchor="t"/>
          <a:lstStyle/>
          <a:p>
            <a:pPr indent="0" marL="0">
              <a:buNone/>
            </a:pPr>
            <a:r>
              <a:rPr lang="en-US" sz="1500" dirty="0">
                <a:solidFill>
                  <a:srgbClr val="5B6878"/>
                </a:solidFill>
              </a:rPr>
              <a:t>diện tích phòng lạ: huấn luyện 1 phòng → vô hạn phòng</a:t>
            </a:r>
            <a:endParaRPr lang="en-US" sz="1500" dirty="0"/>
          </a:p>
        </p:txBody>
      </p:sp>
      <p:sp>
        <p:nvSpPr>
          <p:cNvPr id="9" name="Text 5"/>
          <p:cNvSpPr txBox="1"/>
          <p:nvPr/>
        </p:nvSpPr>
        <p:spPr>
          <a:xfrm>
            <a:off x="8001000" y="3840480"/>
            <a:ext cx="3657600" cy="365760"/>
          </a:xfrm>
          <a:prstGeom prst="rect">
            <a:avLst/>
          </a:prstGeom>
          <a:noFill/>
          <a:ln/>
        </p:spPr>
        <p:txBody>
          <a:bodyPr wrap="square" lIns="0" tIns="0" rIns="0" bIns="0" rtlCol="0" anchor="t"/>
          <a:lstStyle/>
          <a:p>
            <a:pPr indent="0" marL="0">
              <a:buNone/>
            </a:pPr>
            <a:r>
              <a:rPr lang="en-US" sz="1800" b="1" dirty="0">
                <a:solidFill>
                  <a:srgbClr val="1D2733"/>
                </a:solidFill>
              </a:rPr>
              <a:t>E3 · Mật độ vật cản (8×8)</a:t>
            </a:r>
            <a:endParaRPr lang="en-US" sz="1800" dirty="0"/>
          </a:p>
        </p:txBody>
      </p:sp>
      <p:sp>
        <p:nvSpPr>
          <p:cNvPr id="10" name="Text 6"/>
          <p:cNvSpPr txBox="1"/>
          <p:nvPr/>
        </p:nvSpPr>
        <p:spPr>
          <a:xfrm>
            <a:off x="8001000" y="4251960"/>
            <a:ext cx="3611880" cy="1280160"/>
          </a:xfrm>
          <a:prstGeom prst="rect">
            <a:avLst/>
          </a:prstGeom>
          <a:noFill/>
          <a:ln/>
        </p:spPr>
        <p:txBody>
          <a:bodyPr wrap="square" lIns="0" tIns="0" rIns="0" bIns="0" rtlCol="0" anchor="t"/>
          <a:lstStyle/>
          <a:p>
            <a:pPr indent="0" marL="0">
              <a:buNone/>
            </a:pPr>
            <a:r>
              <a:rPr lang="en-US" sz="1600" dirty="0">
                <a:solidFill>
                  <a:srgbClr val="5B6878"/>
                </a:solidFill>
              </a:rPr>
              <a:t>Dọn xong: 100% · 87% · 61% · 34% ở mật độ 0 · 10 · 20 · 30%. Greedy BFS luôn dọn xong.</a:t>
            </a:r>
            <a:endParaRPr lang="en-US" sz="16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878"/>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body" hasCustomPrompt="1"/>
          </p:nvPr>
        </p:nvSpPr>
        <p:spPr>
          <a:xfrm>
            <a:off x="768096" y="301752"/>
            <a:ext cx="8229600" cy="310896"/>
          </a:xfrm>
          <a:prstGeom prst="rect">
            <a:avLst/>
          </a:prstGeom>
          <a:noFill/>
          <a:ln/>
        </p:spPr>
        <p:txBody>
          <a:bodyPr wrap="square" lIns="0" tIns="0" rIns="0" bIns="0" rtlCol="0"/>
          <a:lstStyle/>
          <a:p>
            <a:pPr indent="0" marL="0">
              <a:buNone/>
            </a:pPr>
            <a:r>
              <a:rPr lang="en-US" sz="1200" spc="200" kern="0" dirty="0">
                <a:solidFill>
                  <a:srgbClr val="5B6878"/>
                </a:solidFill>
              </a:rPr>
              <a:t>KẾT LUẬN</a:t>
            </a:r>
            <a:endParaRPr lang="en-US" sz="1200" dirty="0"/>
          </a:p>
        </p:txBody>
      </p:sp>
      <p:sp>
        <p:nvSpPr>
          <p:cNvPr id="3" name="Text 1"/>
          <p:cNvSpPr/>
          <p:nvPr>
            <p:ph idx="102" type="title" hasCustomPrompt="1"/>
          </p:nvPr>
        </p:nvSpPr>
        <p:spPr>
          <a:xfrm>
            <a:off x="548640" y="640080"/>
            <a:ext cx="11094415" cy="731520"/>
          </a:xfrm>
          <a:prstGeom prst="rect">
            <a:avLst/>
          </a:prstGeom>
          <a:noFill/>
          <a:ln/>
        </p:spPr>
        <p:txBody>
          <a:bodyPr wrap="square" lIns="0" tIns="0" rIns="0" bIns="0" rtlCol="0" anchor="t"/>
          <a:lstStyle/>
          <a:p>
            <a:pPr algn="l" indent="0" marL="0">
              <a:buNone/>
            </a:pPr>
            <a:r>
              <a:rPr lang="en-US" sz="2800" b="1" dirty="0">
                <a:solidFill>
                  <a:srgbClr val="1D2733"/>
                </a:solidFill>
                <a:latin typeface="Cambria" pitchFamily="34" charset="0"/>
                <a:ea typeface="Cambria" pitchFamily="34" charset="-122"/>
                <a:cs typeface="Cambria" pitchFamily="34" charset="-120"/>
              </a:rPr>
              <a:t>Đạt được, hạn chế và hướng phát triển</a:t>
            </a:r>
            <a:endParaRPr lang="en-US" sz="2800" dirty="0"/>
          </a:p>
        </p:txBody>
      </p:sp>
      <p:sp>
        <p:nvSpPr>
          <p:cNvPr id="5" name="Đạt được card"/>
          <p:cNvSpPr/>
          <p:nvPr/>
        </p:nvSpPr>
        <p:spPr>
          <a:xfrm>
            <a:off x="548640" y="1691640"/>
            <a:ext cx="3474720" cy="3931920"/>
          </a:xfrm>
          <a:prstGeom prst="roundRect">
            <a:avLst>
              <a:gd name="adj" fmla="val 2105"/>
            </a:avLst>
          </a:prstGeom>
          <a:solidFill>
            <a:srgbClr val="EEF4FA"/>
          </a:solidFill>
          <a:ln w="12700">
            <a:solidFill>
              <a:srgbClr val="EEF4FA"/>
            </a:solidFill>
            <a:prstDash val="solid"/>
          </a:ln>
        </p:spPr>
      </p:sp>
      <p:sp>
        <p:nvSpPr>
          <p:cNvPr id="6" name="Text 3"/>
          <p:cNvSpPr txBox="1"/>
          <p:nvPr/>
        </p:nvSpPr>
        <p:spPr>
          <a:xfrm>
            <a:off x="822960" y="1874520"/>
            <a:ext cx="2926080" cy="365760"/>
          </a:xfrm>
          <a:prstGeom prst="rect">
            <a:avLst/>
          </a:prstGeom>
          <a:noFill/>
          <a:ln/>
        </p:spPr>
        <p:txBody>
          <a:bodyPr wrap="square" lIns="0" tIns="0" rIns="0" bIns="0" rtlCol="0" anchor="t"/>
          <a:lstStyle/>
          <a:p>
            <a:pPr indent="0" marL="0">
              <a:buNone/>
            </a:pPr>
            <a:r>
              <a:rPr lang="en-US" sz="1500" b="1" spc="200" kern="0" dirty="0">
                <a:solidFill>
                  <a:srgbClr val="2E7D4F"/>
                </a:solidFill>
              </a:rPr>
              <a:t>ĐẠT ĐƯỢC</a:t>
            </a:r>
            <a:endParaRPr lang="en-US" sz="1500" dirty="0"/>
          </a:p>
        </p:txBody>
      </p:sp>
      <p:sp>
        <p:nvSpPr>
          <p:cNvPr id="7" name="Text 4"/>
          <p:cNvSpPr txBox="1"/>
          <p:nvPr/>
        </p:nvSpPr>
        <p:spPr>
          <a:xfrm>
            <a:off x="822960" y="2377440"/>
            <a:ext cx="2971800" cy="3108960"/>
          </a:xfrm>
          <a:prstGeom prst="rect">
            <a:avLst/>
          </a:prstGeom>
          <a:noFill/>
          <a:ln/>
        </p:spPr>
        <p:txBody>
          <a:bodyPr wrap="square" lIns="0" tIns="0" rIns="0" bIns="0" rtlCol="0" anchor="t"/>
          <a:lstStyle/>
          <a:p>
            <a:pPr marL="228600" indent="-228600">
              <a:spcAft>
                <a:spcPts val="1000"/>
              </a:spcAft>
              <a:buSzPct val="100000"/>
              <a:buChar char="•"/>
            </a:pPr>
            <a:r>
              <a:rPr lang="en-US" sz="1600" dirty="0">
                <a:solidFill>
                  <a:srgbClr val="1D2733"/>
                </a:solidFill>
              </a:rPr>
              <a:t>Tối ưu tuyệt đối ở phòng 3×3, 4×4</a:t>
            </a:r>
            <a:endParaRPr lang="en-US" sz="1600" dirty="0"/>
          </a:p>
          <a:p>
            <a:pPr marL="228600" indent="-228600">
              <a:spcAft>
                <a:spcPts val="1000"/>
              </a:spcAft>
              <a:buSzPct val="100000"/>
              <a:buChar char="•"/>
            </a:pPr>
            <a:r>
              <a:rPr lang="en-US" sz="1600" dirty="0">
                <a:solidFill>
                  <a:srgbClr val="1D2733"/>
                </a:solidFill>
              </a:rPr>
              <a:t>Thắng greedy BFS ở phòng 8×8 (51,9 vs 58,9)</a:t>
            </a:r>
            <a:endParaRPr lang="en-US" sz="1600" dirty="0"/>
          </a:p>
          <a:p>
            <a:pPr marL="228600" indent="-228600">
              <a:spcAft>
                <a:spcPts val="1000"/>
              </a:spcAft>
              <a:buSzPct val="100000"/>
              <a:buChar char="•"/>
            </a:pPr>
            <a:r>
              <a:rPr lang="en-US" sz="1600" dirty="0">
                <a:solidFill>
                  <a:srgbClr val="1D2733"/>
                </a:solidFill>
              </a:rPr>
              <a:t>Dọn 98% phòng lạ 8×8, 99% phòng lạ 6×6 dọn xong</a:t>
            </a:r>
            <a:endParaRPr lang="en-US" sz="1600" dirty="0"/>
          </a:p>
        </p:txBody>
      </p:sp>
      <p:sp>
        <p:nvSpPr>
          <p:cNvPr id="8" name="Hạn chế card"/>
          <p:cNvSpPr/>
          <p:nvPr/>
        </p:nvSpPr>
        <p:spPr>
          <a:xfrm>
            <a:off x="4297680" y="1691640"/>
            <a:ext cx="3474720" cy="3931920"/>
          </a:xfrm>
          <a:prstGeom prst="roundRect">
            <a:avLst>
              <a:gd name="adj" fmla="val 2105"/>
            </a:avLst>
          </a:prstGeom>
          <a:solidFill>
            <a:srgbClr val="EEF4FA"/>
          </a:solidFill>
          <a:ln w="12700">
            <a:solidFill>
              <a:srgbClr val="EEF4FA"/>
            </a:solidFill>
            <a:prstDash val="solid"/>
          </a:ln>
        </p:spPr>
      </p:sp>
      <p:sp>
        <p:nvSpPr>
          <p:cNvPr id="9" name="Text 6"/>
          <p:cNvSpPr txBox="1"/>
          <p:nvPr/>
        </p:nvSpPr>
        <p:spPr>
          <a:xfrm>
            <a:off x="4572000" y="1874520"/>
            <a:ext cx="2926080" cy="365760"/>
          </a:xfrm>
          <a:prstGeom prst="rect">
            <a:avLst/>
          </a:prstGeom>
          <a:noFill/>
          <a:ln/>
        </p:spPr>
        <p:txBody>
          <a:bodyPr wrap="square" lIns="0" tIns="0" rIns="0" bIns="0" rtlCol="0" anchor="t"/>
          <a:lstStyle/>
          <a:p>
            <a:pPr indent="0" marL="0">
              <a:buNone/>
            </a:pPr>
            <a:r>
              <a:rPr lang="en-US" sz="1500" b="1" spc="200" kern="0" dirty="0">
                <a:solidFill>
                  <a:srgbClr val="C8322F"/>
                </a:solidFill>
              </a:rPr>
              <a:t>HẠN CHẾ</a:t>
            </a:r>
            <a:endParaRPr lang="en-US" sz="1500" dirty="0"/>
          </a:p>
        </p:txBody>
      </p:sp>
      <p:sp>
        <p:nvSpPr>
          <p:cNvPr id="10" name="Text 7"/>
          <p:cNvSpPr txBox="1"/>
          <p:nvPr/>
        </p:nvSpPr>
        <p:spPr>
          <a:xfrm>
            <a:off x="4572000" y="2377440"/>
            <a:ext cx="2971800" cy="3108960"/>
          </a:xfrm>
          <a:prstGeom prst="rect">
            <a:avLst/>
          </a:prstGeom>
          <a:noFill/>
          <a:ln/>
        </p:spPr>
        <p:txBody>
          <a:bodyPr wrap="square" lIns="0" tIns="0" rIns="0" bIns="0" rtlCol="0" anchor="t"/>
          <a:lstStyle/>
          <a:p>
            <a:pPr marL="228600" indent="-228600">
              <a:spcAft>
                <a:spcPts val="1000"/>
              </a:spcAft>
              <a:buSzPct val="100000"/>
              <a:buChar char="•"/>
            </a:pPr>
            <a:r>
              <a:rPr lang="en-US" sz="1600" dirty="0">
                <a:solidFill>
                  <a:srgbClr val="1D2733"/>
                </a:solidFill>
              </a:rPr>
              <a:t>Phòng lạ 30% vật cản: dọn xong 34%</a:t>
            </a:r>
            <a:endParaRPr lang="en-US" sz="1600" dirty="0"/>
          </a:p>
          <a:p>
            <a:pPr marL="228600" indent="-228600">
              <a:spcAft>
                <a:spcPts val="1000"/>
              </a:spcAft>
              <a:buSzPct val="100000"/>
              <a:buChar char="•"/>
            </a:pPr>
            <a:r>
              <a:rPr lang="en-US" sz="1600" dirty="0">
                <a:solidFill>
                  <a:srgbClr val="1D2733"/>
                </a:solidFill>
              </a:rPr>
              <a:t>Mô phỏng tất định, vật cản tĩnh</a:t>
            </a:r>
            <a:endParaRPr lang="en-US" sz="1600" dirty="0"/>
          </a:p>
          <a:p>
            <a:pPr marL="228600" indent="-228600">
              <a:spcAft>
                <a:spcPts val="1000"/>
              </a:spcAft>
              <a:buSzPct val="100000"/>
              <a:buChar char="•"/>
            </a:pPr>
            <a:r>
              <a:rPr lang="en-US" sz="1600" dirty="0">
                <a:solidFill>
                  <a:srgbClr val="1D2733"/>
                </a:solidFill>
              </a:rPr>
              <a:t>Mỗi mô hình một kích thước phòng</a:t>
            </a:r>
            <a:endParaRPr lang="en-US" sz="1600" dirty="0"/>
          </a:p>
        </p:txBody>
      </p:sp>
      <p:sp>
        <p:nvSpPr>
          <p:cNvPr id="11" name="Hướng tiếp card"/>
          <p:cNvSpPr/>
          <p:nvPr/>
        </p:nvSpPr>
        <p:spPr>
          <a:xfrm>
            <a:off x="8046720" y="1691640"/>
            <a:ext cx="3474720" cy="3931920"/>
          </a:xfrm>
          <a:prstGeom prst="roundRect">
            <a:avLst>
              <a:gd name="adj" fmla="val 2105"/>
            </a:avLst>
          </a:prstGeom>
          <a:solidFill>
            <a:srgbClr val="EEF4FA"/>
          </a:solidFill>
          <a:ln w="12700">
            <a:solidFill>
              <a:srgbClr val="EEF4FA"/>
            </a:solidFill>
            <a:prstDash val="solid"/>
          </a:ln>
        </p:spPr>
      </p:sp>
      <p:sp>
        <p:nvSpPr>
          <p:cNvPr id="12" name="Text 9"/>
          <p:cNvSpPr txBox="1"/>
          <p:nvPr/>
        </p:nvSpPr>
        <p:spPr>
          <a:xfrm>
            <a:off x="8321040" y="1874520"/>
            <a:ext cx="2926080" cy="365760"/>
          </a:xfrm>
          <a:prstGeom prst="rect">
            <a:avLst/>
          </a:prstGeom>
          <a:noFill/>
          <a:ln/>
        </p:spPr>
        <p:txBody>
          <a:bodyPr wrap="square" lIns="0" tIns="0" rIns="0" bIns="0" rtlCol="0" anchor="t"/>
          <a:lstStyle/>
          <a:p>
            <a:pPr indent="0" marL="0">
              <a:buNone/>
            </a:pPr>
            <a:r>
              <a:rPr lang="en-US" sz="1500" b="1" spc="200" kern="0" dirty="0">
                <a:solidFill>
                  <a:srgbClr val="1F6FB2"/>
                </a:solidFill>
              </a:rPr>
              <a:t>HƯỚNG TIẾP</a:t>
            </a:r>
            <a:endParaRPr lang="en-US" sz="1500" dirty="0"/>
          </a:p>
        </p:txBody>
      </p:sp>
      <p:sp>
        <p:nvSpPr>
          <p:cNvPr id="13" name="Text 10"/>
          <p:cNvSpPr txBox="1"/>
          <p:nvPr/>
        </p:nvSpPr>
        <p:spPr>
          <a:xfrm>
            <a:off x="8321040" y="2377440"/>
            <a:ext cx="2971800" cy="3108960"/>
          </a:xfrm>
          <a:prstGeom prst="rect">
            <a:avLst/>
          </a:prstGeom>
          <a:noFill/>
          <a:ln/>
        </p:spPr>
        <p:txBody>
          <a:bodyPr wrap="square" lIns="0" tIns="0" rIns="0" bIns="0" rtlCol="0" anchor="t"/>
          <a:lstStyle/>
          <a:p>
            <a:pPr marL="228600" indent="-228600">
              <a:spcAft>
                <a:spcPts val="1000"/>
              </a:spcAft>
              <a:buSzPct val="100000"/>
              <a:buChar char="•"/>
            </a:pPr>
            <a:r>
              <a:rPr lang="en-US" sz="1600" dirty="0">
                <a:solidFill>
                  <a:srgbClr val="1D2733"/>
                </a:solidFill>
              </a:rPr>
              <a:t>Chuyển sang greedy khi phát hiện lặp vòng</a:t>
            </a:r>
            <a:endParaRPr lang="en-US" sz="1600" dirty="0"/>
          </a:p>
          <a:p>
            <a:pPr marL="228600" indent="-228600">
              <a:spcAft>
                <a:spcPts val="1000"/>
              </a:spcAft>
              <a:buSzPct val="100000"/>
              <a:buChar char="•"/>
            </a:pPr>
            <a:r>
              <a:rPr lang="en-US" sz="1600" dirty="0">
                <a:solidFill>
                  <a:srgbClr val="1D2733"/>
                </a:solidFill>
              </a:rPr>
              <a:t>Huấn luyện lâu hơn, nhiều mật độ</a:t>
            </a:r>
            <a:endParaRPr lang="en-US" sz="1600" dirty="0"/>
          </a:p>
          <a:p>
            <a:pPr marL="228600" indent="-228600">
              <a:spcAft>
                <a:spcPts val="1000"/>
              </a:spcAft>
              <a:buSzPct val="100000"/>
              <a:buChar char="•"/>
            </a:pPr>
            <a:r>
              <a:rPr lang="en-US" sz="1600" dirty="0">
                <a:solidFill>
                  <a:srgbClr val="1D2733"/>
                </a:solidFill>
              </a:rPr>
              <a:t>Pin, vật cản động, robot thật</a:t>
            </a:r>
            <a:endParaRPr lang="en-US" sz="1600" dirty="0"/>
          </a:p>
        </p:txBody>
      </p:sp>
      <p:sp>
        <p:nvSpPr>
          <p:cNvPr id="14" name="Text 11"/>
          <p:cNvSpPr txBox="1"/>
          <p:nvPr/>
        </p:nvSpPr>
        <p:spPr>
          <a:xfrm>
            <a:off x="548640" y="5897880"/>
            <a:ext cx="11064240" cy="274320"/>
          </a:xfrm>
          <a:prstGeom prst="rect">
            <a:avLst/>
          </a:prstGeom>
          <a:noFill/>
          <a:ln/>
        </p:spPr>
        <p:txBody>
          <a:bodyPr wrap="square" lIns="0" tIns="0" rIns="0" bIns="0" rtlCol="0" anchor="t"/>
          <a:lstStyle/>
          <a:p>
            <a:pPr indent="0" marL="0">
              <a:buNone/>
            </a:pPr>
            <a:r>
              <a:rPr lang="en-US" sz="1200" i="1" dirty="0">
                <a:solidFill>
                  <a:srgbClr val="5B6878"/>
                </a:solidFill>
              </a:rPr>
              <a:t>Mã nguồn: github.com/Pancasel/rel_vaccum · Sutton &amp; Barto (2018); Mnih et al. (2015); Ng, Harada &amp; Russell (1999)</a:t>
            </a:r>
            <a:endParaRPr lang="en-US" sz="12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878"/>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731520" y="2103120"/>
            <a:ext cx="6035040" cy="1280160"/>
          </a:xfrm>
          <a:prstGeom prst="rect">
            <a:avLst/>
          </a:prstGeom>
          <a:noFill/>
          <a:ln/>
        </p:spPr>
        <p:txBody>
          <a:bodyPr wrap="square" lIns="0" tIns="0" rIns="0" bIns="0" rtlCol="0" anchor="t"/>
          <a:lstStyle/>
          <a:p>
            <a:pPr algn="l" indent="0" marL="0">
              <a:buNone/>
            </a:pPr>
            <a:r>
              <a:rPr lang="en-US" sz="4400" b="1" dirty="0">
                <a:solidFill>
                  <a:srgbClr val="FFFFFF"/>
                </a:solidFill>
                <a:latin typeface="Cambria" pitchFamily="34" charset="0"/>
                <a:ea typeface="Cambria" pitchFamily="34" charset="-122"/>
                <a:cs typeface="Cambria" pitchFamily="34" charset="-120"/>
              </a:rPr>
              <a:t>Cảm ơn thầy và các bạn</a:t>
            </a:r>
            <a:endParaRPr lang="en-US" sz="4400" dirty="0"/>
          </a:p>
        </p:txBody>
      </p:sp>
      <p:sp>
        <p:nvSpPr>
          <p:cNvPr id="3" name="Text 0"/>
          <p:cNvSpPr/>
          <p:nvPr>
            <p:ph idx="101" type="body" hasCustomPrompt="1"/>
          </p:nvPr>
        </p:nvSpPr>
        <p:spPr>
          <a:xfrm>
            <a:off x="731520" y="3520440"/>
            <a:ext cx="6035040" cy="1463040"/>
          </a:xfrm>
          <a:prstGeom prst="rect">
            <a:avLst/>
          </a:prstGeom>
          <a:noFill/>
          <a:ln/>
        </p:spPr>
        <p:txBody>
          <a:bodyPr wrap="square" lIns="0" tIns="0" rIns="0" bIns="0" rtlCol="0" anchor="t"/>
          <a:lstStyle/>
          <a:p>
            <a:pPr indent="0" marL="0">
              <a:buNone/>
            </a:pPr>
            <a:r>
              <a:rPr lang="en-US" sz="1800" b="1" dirty="0">
                <a:solidFill>
                  <a:srgbClr val="B8C7D9"/>
                </a:solidFill>
              </a:rPr>
              <a:t>Hỏi đáp</a:t>
            </a:r>
            <a:endParaRPr lang="en-US" sz="1800" dirty="0"/>
          </a:p>
          <a:p>
            <a:pPr indent="0" marL="0">
              <a:buNone/>
            </a:pPr>
            <a:r>
              <a:rPr lang="en-US" sz="1800" dirty="0">
                <a:solidFill>
                  <a:srgbClr val="B8C7D9"/>
                </a:solidFill>
              </a:rPr>
              <a:t>Báo cáo đầy đủ: BAO_CAO_DU_AN.html</a:t>
            </a:r>
            <a:endParaRPr lang="en-US" sz="1800" dirty="0"/>
          </a:p>
          <a:p>
            <a:pPr indent="0" marL="0">
              <a:buNone/>
            </a:pPr>
            <a:r>
              <a:rPr lang="en-US" sz="1800" dirty="0">
                <a:solidFill>
                  <a:srgbClr val="B8C7D9"/>
                </a:solidFill>
              </a:rPr>
              <a:t>Mã nguồn: github.com/Pancasel/rel_vaccum</a:t>
            </a:r>
            <a:endParaRPr lang="en-US" sz="1800" dirty="0"/>
          </a:p>
        </p:txBody>
      </p:sp>
      <p:sp>
        <p:nvSpPr>
          <p:cNvPr id="4" name="Shape 2"/>
          <p:cNvSpPr/>
          <p:nvPr/>
        </p:nvSpPr>
        <p:spPr>
          <a:xfrm>
            <a:off x="7269480" y="2057400"/>
            <a:ext cx="4343400" cy="2057400"/>
          </a:xfrm>
          <a:prstGeom prst="roundRect">
            <a:avLst>
              <a:gd name="adj" fmla="val 3556"/>
            </a:avLst>
          </a:prstGeom>
          <a:solidFill>
            <a:srgbClr val="FFFFFF"/>
          </a:solidFill>
          <a:ln w="12700">
            <a:solidFill>
              <a:srgbClr val="FFFFFF"/>
            </a:solidFill>
            <a:prstDash val="solid"/>
          </a:ln>
        </p:spPr>
      </p:sp>
      <p:pic>
        <p:nvPicPr>
          <p:cNvPr id="5" name="progress_qlearning.gif" descr="Robot học dần qua các episode">    </p:cNvPr>
          <p:cNvPicPr>
            <a:picLocks noChangeAspect="1"/>
          </p:cNvPicPr>
          <p:nvPr/>
        </p:nvPicPr>
        <p:blipFill>
          <a:blip r:embed="rId1"/>
          <a:stretch>
            <a:fillRect/>
          </a:stretch>
        </p:blipFill>
        <p:spPr>
          <a:xfrm>
            <a:off x="7360920" y="2376920"/>
            <a:ext cx="4160520" cy="1418359"/>
          </a:xfrm>
          <a:prstGeom prst="rect">
            <a:avLst/>
          </a:prstGeom>
        </p:spPr>
      </p:pic>
      <p:sp>
        <p:nvSpPr>
          <p:cNvPr id="6" name="Text 3"/>
          <p:cNvSpPr txBox="1"/>
          <p:nvPr/>
        </p:nvSpPr>
        <p:spPr>
          <a:xfrm>
            <a:off x="7269480" y="4251960"/>
            <a:ext cx="4343400" cy="365760"/>
          </a:xfrm>
          <a:prstGeom prst="rect">
            <a:avLst/>
          </a:prstGeom>
          <a:noFill/>
          <a:ln/>
        </p:spPr>
        <p:txBody>
          <a:bodyPr wrap="square" lIns="0" tIns="0" rIns="0" bIns="0" rtlCol="0" anchor="t"/>
          <a:lstStyle/>
          <a:p>
            <a:pPr algn="ctr" indent="0" marL="0">
              <a:buNone/>
            </a:pPr>
            <a:r>
              <a:rPr lang="en-US" sz="1200" i="1" dirty="0">
                <a:solidFill>
                  <a:srgbClr val="B8C7D9"/>
                </a:solidFill>
              </a:rPr>
              <a:t>Robot học dần: episode 0 → 1.000 → 10.000 → học xong</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1" type="body" hasCustomPrompt="1"/>
          </p:nvPr>
        </p:nvSpPr>
        <p:spPr>
          <a:xfrm>
            <a:off x="768096" y="301752"/>
            <a:ext cx="8229600" cy="310896"/>
          </a:xfrm>
          <a:prstGeom prst="rect">
            <a:avLst/>
          </a:prstGeom>
          <a:noFill/>
          <a:ln/>
        </p:spPr>
        <p:txBody>
          <a:bodyPr wrap="square" lIns="0" tIns="0" rIns="0" bIns="0" rtlCol="0"/>
          <a:lstStyle/>
          <a:p>
            <a:pPr indent="0" marL="0">
              <a:buNone/>
            </a:pPr>
            <a:r>
              <a:rPr lang="en-US" sz="1200" spc="200" kern="0" dirty="0">
                <a:solidFill>
                  <a:srgbClr val="5B6878"/>
                </a:solidFill>
              </a:rPr>
              <a:t>PHỤ LỤC · D1</a:t>
            </a:r>
            <a:endParaRPr lang="en-US" sz="1200" dirty="0"/>
          </a:p>
        </p:txBody>
      </p:sp>
      <p:sp>
        <p:nvSpPr>
          <p:cNvPr id="3" name="Text 1"/>
          <p:cNvSpPr/>
          <p:nvPr>
            <p:ph idx="102" type="title" hasCustomPrompt="1"/>
          </p:nvPr>
        </p:nvSpPr>
        <p:spPr>
          <a:xfrm>
            <a:off x="548640" y="640080"/>
            <a:ext cx="11094415" cy="731520"/>
          </a:xfrm>
          <a:prstGeom prst="rect">
            <a:avLst/>
          </a:prstGeom>
          <a:noFill/>
          <a:ln/>
        </p:spPr>
        <p:txBody>
          <a:bodyPr wrap="square" lIns="0" tIns="0" rIns="0" bIns="0" rtlCol="0" anchor="t"/>
          <a:lstStyle/>
          <a:p>
            <a:pPr algn="l" indent="0" marL="0">
              <a:buNone/>
            </a:pPr>
            <a:r>
              <a:rPr lang="en-US" sz="2800" b="1" dirty="0">
                <a:solidFill>
                  <a:srgbClr val="1D2733"/>
                </a:solidFill>
                <a:latin typeface="Cambria" pitchFamily="34" charset="0"/>
                <a:ea typeface="Cambria" pitchFamily="34" charset="-122"/>
                <a:cs typeface="Cambria" pitchFamily="34" charset="-120"/>
              </a:rPr>
              <a:t>Q-learning và SARSA khác nhau đúng một chỗ</a:t>
            </a:r>
            <a:endParaRPr lang="en-US" sz="2800" dirty="0"/>
          </a:p>
        </p:txBody>
      </p:sp>
      <p:sp>
        <p:nvSpPr>
          <p:cNvPr id="5" name="Q-learning (off-policy)"/>
          <p:cNvSpPr/>
          <p:nvPr/>
        </p:nvSpPr>
        <p:spPr>
          <a:xfrm>
            <a:off x="548640" y="1828800"/>
            <a:ext cx="11064240" cy="1463040"/>
          </a:xfrm>
          <a:prstGeom prst="roundRect">
            <a:avLst>
              <a:gd name="adj" fmla="val 5000"/>
            </a:avLst>
          </a:prstGeom>
          <a:solidFill>
            <a:srgbClr val="EEF4FA"/>
          </a:solidFill>
          <a:ln w="12700">
            <a:solidFill>
              <a:srgbClr val="EEF4FA"/>
            </a:solidFill>
            <a:prstDash val="solid"/>
          </a:ln>
        </p:spPr>
      </p:sp>
      <p:sp>
        <p:nvSpPr>
          <p:cNvPr id="6" name="Text 3"/>
          <p:cNvSpPr txBox="1"/>
          <p:nvPr/>
        </p:nvSpPr>
        <p:spPr>
          <a:xfrm>
            <a:off x="868680" y="2011680"/>
            <a:ext cx="4114800" cy="457200"/>
          </a:xfrm>
          <a:prstGeom prst="rect">
            <a:avLst/>
          </a:prstGeom>
          <a:noFill/>
          <a:ln/>
        </p:spPr>
        <p:txBody>
          <a:bodyPr wrap="square" lIns="0" tIns="0" rIns="0" bIns="0" rtlCol="0" anchor="t"/>
          <a:lstStyle/>
          <a:p>
            <a:pPr indent="0" marL="0">
              <a:buNone/>
            </a:pPr>
            <a:r>
              <a:rPr lang="en-US" sz="2000" b="1" dirty="0">
                <a:solidFill>
                  <a:srgbClr val="1F6FB2"/>
                </a:solidFill>
              </a:rPr>
              <a:t>Q-learning (off-policy)</a:t>
            </a:r>
            <a:endParaRPr lang="en-US" sz="2000" dirty="0"/>
          </a:p>
        </p:txBody>
      </p:sp>
      <p:sp>
        <p:nvSpPr>
          <p:cNvPr id="7" name="Text 4"/>
          <p:cNvSpPr txBox="1"/>
          <p:nvPr/>
        </p:nvSpPr>
        <p:spPr>
          <a:xfrm>
            <a:off x="868680" y="2514600"/>
            <a:ext cx="10058400" cy="594360"/>
          </a:xfrm>
          <a:prstGeom prst="rect">
            <a:avLst/>
          </a:prstGeom>
          <a:noFill/>
          <a:ln/>
        </p:spPr>
        <p:txBody>
          <a:bodyPr wrap="square" lIns="0" tIns="0" rIns="0" bIns="0" rtlCol="0" anchor="t"/>
          <a:lstStyle/>
          <a:p>
            <a:pPr indent="0" marL="0">
              <a:buNone/>
            </a:pPr>
            <a:r>
              <a:rPr lang="en-US" sz="2600" dirty="0">
                <a:solidFill>
                  <a:srgbClr val="1D2733"/>
                </a:solidFill>
                <a:latin typeface="Cambria Math" pitchFamily="34" charset="0"/>
                <a:ea typeface="Cambria Math" pitchFamily="34" charset="-122"/>
                <a:cs typeface="Cambria Math" pitchFamily="34" charset="-120"/>
              </a:rPr>
              <a:t>mục tiêu = R + γ · maxₐ Q(S′, a)</a:t>
            </a:r>
            <a:endParaRPr lang="en-US" sz="2600" dirty="0"/>
          </a:p>
        </p:txBody>
      </p:sp>
      <p:sp>
        <p:nvSpPr>
          <p:cNvPr id="8" name="SARSA (on-policy)"/>
          <p:cNvSpPr/>
          <p:nvPr/>
        </p:nvSpPr>
        <p:spPr>
          <a:xfrm>
            <a:off x="548640" y="3657600"/>
            <a:ext cx="11064240" cy="1463040"/>
          </a:xfrm>
          <a:prstGeom prst="roundRect">
            <a:avLst>
              <a:gd name="adj" fmla="val 5000"/>
            </a:avLst>
          </a:prstGeom>
          <a:solidFill>
            <a:srgbClr val="EEF4FA"/>
          </a:solidFill>
          <a:ln w="12700">
            <a:solidFill>
              <a:srgbClr val="EEF4FA"/>
            </a:solidFill>
            <a:prstDash val="solid"/>
          </a:ln>
        </p:spPr>
      </p:sp>
      <p:sp>
        <p:nvSpPr>
          <p:cNvPr id="9" name="Text 6"/>
          <p:cNvSpPr txBox="1"/>
          <p:nvPr/>
        </p:nvSpPr>
        <p:spPr>
          <a:xfrm>
            <a:off x="868680" y="3840480"/>
            <a:ext cx="4114800" cy="457200"/>
          </a:xfrm>
          <a:prstGeom prst="rect">
            <a:avLst/>
          </a:prstGeom>
          <a:noFill/>
          <a:ln/>
        </p:spPr>
        <p:txBody>
          <a:bodyPr wrap="square" lIns="0" tIns="0" rIns="0" bIns="0" rtlCol="0" anchor="t"/>
          <a:lstStyle/>
          <a:p>
            <a:pPr indent="0" marL="0">
              <a:buNone/>
            </a:pPr>
            <a:r>
              <a:rPr lang="en-US" sz="2000" b="1" dirty="0">
                <a:solidFill>
                  <a:srgbClr val="C8322F"/>
                </a:solidFill>
              </a:rPr>
              <a:t>SARSA (on-policy)</a:t>
            </a:r>
            <a:endParaRPr lang="en-US" sz="2000" dirty="0"/>
          </a:p>
        </p:txBody>
      </p:sp>
      <p:sp>
        <p:nvSpPr>
          <p:cNvPr id="10" name="Text 7"/>
          <p:cNvSpPr txBox="1"/>
          <p:nvPr/>
        </p:nvSpPr>
        <p:spPr>
          <a:xfrm>
            <a:off x="868680" y="4343400"/>
            <a:ext cx="10058400" cy="594360"/>
          </a:xfrm>
          <a:prstGeom prst="rect">
            <a:avLst/>
          </a:prstGeom>
          <a:noFill/>
          <a:ln/>
        </p:spPr>
        <p:txBody>
          <a:bodyPr wrap="square" lIns="0" tIns="0" rIns="0" bIns="0" rtlCol="0" anchor="t"/>
          <a:lstStyle/>
          <a:p>
            <a:pPr indent="0" marL="0">
              <a:buNone/>
            </a:pPr>
            <a:r>
              <a:rPr lang="en-US" sz="2600" dirty="0">
                <a:solidFill>
                  <a:srgbClr val="1D2733"/>
                </a:solidFill>
                <a:latin typeface="Cambria Math" pitchFamily="34" charset="0"/>
                <a:ea typeface="Cambria Math" pitchFamily="34" charset="-122"/>
                <a:cs typeface="Cambria Math" pitchFamily="34" charset="-120"/>
              </a:rPr>
              <a:t>mục tiêu = R + γ · Q(S′, A′)</a:t>
            </a:r>
            <a:endParaRPr lang="en-US" sz="2600" dirty="0"/>
          </a:p>
        </p:txBody>
      </p:sp>
      <p:sp>
        <p:nvSpPr>
          <p:cNvPr id="11" name="Text 8"/>
          <p:cNvSpPr txBox="1"/>
          <p:nvPr/>
        </p:nvSpPr>
        <p:spPr>
          <a:xfrm>
            <a:off x="548640" y="5577840"/>
            <a:ext cx="10972800" cy="365760"/>
          </a:xfrm>
          <a:prstGeom prst="rect">
            <a:avLst/>
          </a:prstGeom>
          <a:noFill/>
          <a:ln/>
        </p:spPr>
        <p:txBody>
          <a:bodyPr wrap="square" lIns="0" tIns="0" rIns="0" bIns="0" rtlCol="0" anchor="t"/>
          <a:lstStyle/>
          <a:p>
            <a:pPr indent="0" marL="0">
              <a:buNone/>
            </a:pPr>
            <a:r>
              <a:rPr lang="en-US" sz="1600" dirty="0">
                <a:solidFill>
                  <a:srgbClr val="5B6878"/>
                </a:solidFill>
              </a:rPr>
              <a:t>A′ là hành động agent sẽ thật sự làm ở S′ (chọn bằng ε-greedy).</a:t>
            </a:r>
            <a:endParaRPr lang="en-US" sz="16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878"/>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1" type="body" hasCustomPrompt="1"/>
          </p:nvPr>
        </p:nvSpPr>
        <p:spPr>
          <a:xfrm>
            <a:off x="768096" y="301752"/>
            <a:ext cx="8229600" cy="310896"/>
          </a:xfrm>
          <a:prstGeom prst="rect">
            <a:avLst/>
          </a:prstGeom>
          <a:noFill/>
          <a:ln/>
        </p:spPr>
        <p:txBody>
          <a:bodyPr wrap="square" lIns="0" tIns="0" rIns="0" bIns="0" rtlCol="0"/>
          <a:lstStyle/>
          <a:p>
            <a:pPr indent="0" marL="0">
              <a:buNone/>
            </a:pPr>
            <a:r>
              <a:rPr lang="en-US" sz="1200" spc="200" kern="0" dirty="0">
                <a:solidFill>
                  <a:srgbClr val="5B6878"/>
                </a:solidFill>
              </a:rPr>
              <a:t>PHỤ LỤC · D2</a:t>
            </a:r>
            <a:endParaRPr lang="en-US" sz="1200" dirty="0"/>
          </a:p>
        </p:txBody>
      </p:sp>
      <p:sp>
        <p:nvSpPr>
          <p:cNvPr id="3" name="Text 1"/>
          <p:cNvSpPr/>
          <p:nvPr>
            <p:ph idx="102" type="title" hasCustomPrompt="1"/>
          </p:nvPr>
        </p:nvSpPr>
        <p:spPr>
          <a:xfrm>
            <a:off x="548640" y="640080"/>
            <a:ext cx="11094415" cy="731520"/>
          </a:xfrm>
          <a:prstGeom prst="rect">
            <a:avLst/>
          </a:prstGeom>
          <a:noFill/>
          <a:ln/>
        </p:spPr>
        <p:txBody>
          <a:bodyPr wrap="square" lIns="0" tIns="0" rIns="0" bIns="0" rtlCol="0" anchor="t"/>
          <a:lstStyle/>
          <a:p>
            <a:pPr algn="l" indent="0" marL="0">
              <a:buNone/>
            </a:pPr>
            <a:r>
              <a:rPr lang="en-US" sz="2800" b="1" dirty="0">
                <a:solidFill>
                  <a:srgbClr val="1D2733"/>
                </a:solidFill>
                <a:latin typeface="Cambria" pitchFamily="34" charset="0"/>
                <a:ea typeface="Cambria" pitchFamily="34" charset="-122"/>
                <a:cs typeface="Cambria" pitchFamily="34" charset="-120"/>
              </a:rPr>
              <a:t>Terminated và truncated được xử lý khác nhau</a:t>
            </a:r>
            <a:endParaRPr lang="en-US" sz="2800" dirty="0"/>
          </a:p>
        </p:txBody>
      </p:sp>
      <p:sp>
        <p:nvSpPr>
          <p:cNvPr id="5" name="terminated — đã dọn hết"/>
          <p:cNvSpPr/>
          <p:nvPr/>
        </p:nvSpPr>
        <p:spPr>
          <a:xfrm>
            <a:off x="548640" y="1828800"/>
            <a:ext cx="5440680" cy="3108960"/>
          </a:xfrm>
          <a:prstGeom prst="roundRect">
            <a:avLst>
              <a:gd name="adj" fmla="val 2353"/>
            </a:avLst>
          </a:prstGeom>
          <a:solidFill>
            <a:srgbClr val="EEF4FA"/>
          </a:solidFill>
          <a:ln w="12700">
            <a:solidFill>
              <a:srgbClr val="EEF4FA"/>
            </a:solidFill>
            <a:prstDash val="solid"/>
          </a:ln>
        </p:spPr>
      </p:sp>
      <p:sp>
        <p:nvSpPr>
          <p:cNvPr id="6" name="Text 3"/>
          <p:cNvSpPr txBox="1"/>
          <p:nvPr/>
        </p:nvSpPr>
        <p:spPr>
          <a:xfrm>
            <a:off x="868680" y="2057400"/>
            <a:ext cx="4846320" cy="457200"/>
          </a:xfrm>
          <a:prstGeom prst="rect">
            <a:avLst/>
          </a:prstGeom>
          <a:noFill/>
          <a:ln/>
        </p:spPr>
        <p:txBody>
          <a:bodyPr wrap="square" lIns="0" tIns="0" rIns="0" bIns="0" rtlCol="0" anchor="t"/>
          <a:lstStyle/>
          <a:p>
            <a:pPr indent="0" marL="0">
              <a:buNone/>
            </a:pPr>
            <a:r>
              <a:rPr lang="en-US" sz="2000" b="1" dirty="0">
                <a:solidFill>
                  <a:srgbClr val="2E7D4F"/>
                </a:solidFill>
              </a:rPr>
              <a:t>terminated — đã dọn hết</a:t>
            </a:r>
            <a:endParaRPr lang="en-US" sz="2000" dirty="0"/>
          </a:p>
        </p:txBody>
      </p:sp>
      <p:sp>
        <p:nvSpPr>
          <p:cNvPr id="7" name="Text 4"/>
          <p:cNvSpPr txBox="1"/>
          <p:nvPr/>
        </p:nvSpPr>
        <p:spPr>
          <a:xfrm>
            <a:off x="868680" y="2697480"/>
            <a:ext cx="4846320" cy="731520"/>
          </a:xfrm>
          <a:prstGeom prst="rect">
            <a:avLst/>
          </a:prstGeom>
          <a:noFill/>
          <a:ln/>
        </p:spPr>
        <p:txBody>
          <a:bodyPr wrap="square" lIns="0" tIns="0" rIns="0" bIns="0" rtlCol="0" anchor="t"/>
          <a:lstStyle/>
          <a:p>
            <a:pPr indent="0" marL="0">
              <a:buNone/>
            </a:pPr>
            <a:r>
              <a:rPr lang="en-US" sz="2200" dirty="0">
                <a:solidFill>
                  <a:srgbClr val="1D2733"/>
                </a:solidFill>
                <a:latin typeface="Cambria Math" pitchFamily="34" charset="0"/>
                <a:ea typeface="Cambria Math" pitchFamily="34" charset="-122"/>
                <a:cs typeface="Cambria Math" pitchFamily="34" charset="-120"/>
              </a:rPr>
              <a:t>mục tiêu = R</a:t>
            </a:r>
            <a:endParaRPr lang="en-US" sz="2200" dirty="0"/>
          </a:p>
        </p:txBody>
      </p:sp>
      <p:sp>
        <p:nvSpPr>
          <p:cNvPr id="8" name="Text 5"/>
          <p:cNvSpPr txBox="1"/>
          <p:nvPr/>
        </p:nvSpPr>
        <p:spPr>
          <a:xfrm>
            <a:off x="868680" y="3611880"/>
            <a:ext cx="4846320" cy="1005840"/>
          </a:xfrm>
          <a:prstGeom prst="rect">
            <a:avLst/>
          </a:prstGeom>
          <a:noFill/>
          <a:ln/>
        </p:spPr>
        <p:txBody>
          <a:bodyPr wrap="square" lIns="0" tIns="0" rIns="0" bIns="0" rtlCol="0" anchor="t"/>
          <a:lstStyle/>
          <a:p>
            <a:pPr indent="0" marL="0">
              <a:buNone/>
            </a:pPr>
            <a:r>
              <a:rPr lang="en-US" sz="1700" dirty="0">
                <a:solidFill>
                  <a:srgbClr val="5B6878"/>
                </a:solidFill>
              </a:rPr>
              <a:t>trạng thái kết thúc thật, Q(terminal) = 0</a:t>
            </a:r>
            <a:endParaRPr lang="en-US" sz="1700" dirty="0"/>
          </a:p>
        </p:txBody>
      </p:sp>
      <p:sp>
        <p:nvSpPr>
          <p:cNvPr id="9" name="truncated — hết số bước"/>
          <p:cNvSpPr/>
          <p:nvPr/>
        </p:nvSpPr>
        <p:spPr>
          <a:xfrm>
            <a:off x="6172200" y="1828800"/>
            <a:ext cx="5440680" cy="3108960"/>
          </a:xfrm>
          <a:prstGeom prst="roundRect">
            <a:avLst>
              <a:gd name="adj" fmla="val 2353"/>
            </a:avLst>
          </a:prstGeom>
          <a:solidFill>
            <a:srgbClr val="EEF4FA"/>
          </a:solidFill>
          <a:ln w="12700">
            <a:solidFill>
              <a:srgbClr val="EEF4FA"/>
            </a:solidFill>
            <a:prstDash val="solid"/>
          </a:ln>
        </p:spPr>
      </p:sp>
      <p:sp>
        <p:nvSpPr>
          <p:cNvPr id="10" name="Text 7"/>
          <p:cNvSpPr txBox="1"/>
          <p:nvPr/>
        </p:nvSpPr>
        <p:spPr>
          <a:xfrm>
            <a:off x="6492240" y="2057400"/>
            <a:ext cx="4846320" cy="457200"/>
          </a:xfrm>
          <a:prstGeom prst="rect">
            <a:avLst/>
          </a:prstGeom>
          <a:noFill/>
          <a:ln/>
        </p:spPr>
        <p:txBody>
          <a:bodyPr wrap="square" lIns="0" tIns="0" rIns="0" bIns="0" rtlCol="0" anchor="t"/>
          <a:lstStyle/>
          <a:p>
            <a:pPr indent="0" marL="0">
              <a:buNone/>
            </a:pPr>
            <a:r>
              <a:rPr lang="en-US" sz="2000" b="1" dirty="0">
                <a:solidFill>
                  <a:srgbClr val="FF9800"/>
                </a:solidFill>
              </a:rPr>
              <a:t>truncated — hết số bước</a:t>
            </a:r>
            <a:endParaRPr lang="en-US" sz="2000" dirty="0"/>
          </a:p>
        </p:txBody>
      </p:sp>
      <p:sp>
        <p:nvSpPr>
          <p:cNvPr id="11" name="Text 8"/>
          <p:cNvSpPr txBox="1"/>
          <p:nvPr/>
        </p:nvSpPr>
        <p:spPr>
          <a:xfrm>
            <a:off x="6492240" y="2697480"/>
            <a:ext cx="4846320" cy="731520"/>
          </a:xfrm>
          <a:prstGeom prst="rect">
            <a:avLst/>
          </a:prstGeom>
          <a:noFill/>
          <a:ln/>
        </p:spPr>
        <p:txBody>
          <a:bodyPr wrap="square" lIns="0" tIns="0" rIns="0" bIns="0" rtlCol="0" anchor="t"/>
          <a:lstStyle/>
          <a:p>
            <a:pPr indent="0" marL="0">
              <a:buNone/>
            </a:pPr>
            <a:r>
              <a:rPr lang="en-US" sz="2200" dirty="0">
                <a:solidFill>
                  <a:srgbClr val="1D2733"/>
                </a:solidFill>
                <a:latin typeface="Cambria Math" pitchFamily="34" charset="0"/>
                <a:ea typeface="Cambria Math" pitchFamily="34" charset="-122"/>
                <a:cs typeface="Cambria Math" pitchFamily="34" charset="-120"/>
              </a:rPr>
              <a:t>mục tiêu = R + γ · maxₐ Q(S′, a)</a:t>
            </a:r>
            <a:endParaRPr lang="en-US" sz="2200" dirty="0"/>
          </a:p>
        </p:txBody>
      </p:sp>
      <p:sp>
        <p:nvSpPr>
          <p:cNvPr id="12" name="Text 9"/>
          <p:cNvSpPr txBox="1"/>
          <p:nvPr/>
        </p:nvSpPr>
        <p:spPr>
          <a:xfrm>
            <a:off x="6492240" y="3611880"/>
            <a:ext cx="4846320" cy="1005840"/>
          </a:xfrm>
          <a:prstGeom prst="rect">
            <a:avLst/>
          </a:prstGeom>
          <a:noFill/>
          <a:ln/>
        </p:spPr>
        <p:txBody>
          <a:bodyPr wrap="square" lIns="0" tIns="0" rIns="0" bIns="0" rtlCol="0" anchor="t"/>
          <a:lstStyle/>
          <a:p>
            <a:pPr indent="0" marL="0">
              <a:buNone/>
            </a:pPr>
            <a:r>
              <a:rPr lang="en-US" sz="1700" dirty="0">
                <a:solidFill>
                  <a:srgbClr val="5B6878"/>
                </a:solidFill>
              </a:rPr>
              <a:t>chỉ bị cắt ngang, S′ vẫn còn giá trị</a:t>
            </a:r>
            <a:endParaRPr lang="en-US" sz="1700" dirty="0"/>
          </a:p>
        </p:txBody>
      </p:sp>
      <p:sp>
        <p:nvSpPr>
          <p:cNvPr id="13" name="Text 10"/>
          <p:cNvSpPr txBox="1"/>
          <p:nvPr/>
        </p:nvSpPr>
        <p:spPr>
          <a:xfrm>
            <a:off x="548640" y="5303520"/>
            <a:ext cx="11064240" cy="457200"/>
          </a:xfrm>
          <a:prstGeom prst="rect">
            <a:avLst/>
          </a:prstGeom>
          <a:noFill/>
          <a:ln/>
        </p:spPr>
        <p:txBody>
          <a:bodyPr wrap="square" lIns="0" tIns="0" rIns="0" bIns="0" rtlCol="0" anchor="t"/>
          <a:lstStyle/>
          <a:p>
            <a:pPr indent="0" marL="0">
              <a:buNone/>
            </a:pPr>
            <a:r>
              <a:rPr lang="en-US" sz="1600" dirty="0">
                <a:solidFill>
                  <a:srgbClr val="1D2733"/>
                </a:solidFill>
              </a:rPr>
              <a:t>Replay buffer của DQN chỉ lưu cờ terminated, không lưu truncated — đúng theo nguyên tắc trên.</a:t>
            </a:r>
            <a:endParaRPr lang="en-US" sz="16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878"/>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p:nvPr>
            <p:ph idx="101" type="body" hasCustomPrompt="1"/>
          </p:nvPr>
        </p:nvSpPr>
        <p:spPr>
          <a:xfrm>
            <a:off x="768096" y="301752"/>
            <a:ext cx="8229600" cy="310896"/>
          </a:xfrm>
          <a:prstGeom prst="rect">
            <a:avLst/>
          </a:prstGeom>
          <a:noFill/>
          <a:ln/>
        </p:spPr>
        <p:txBody>
          <a:bodyPr wrap="square" lIns="0" tIns="0" rIns="0" bIns="0" rtlCol="0"/>
          <a:lstStyle/>
          <a:p>
            <a:pPr indent="0" marL="0">
              <a:buNone/>
            </a:pPr>
            <a:r>
              <a:rPr lang="en-US" sz="1200" spc="200" kern="0" dirty="0">
                <a:solidFill>
                  <a:srgbClr val="5B6878"/>
                </a:solidFill>
              </a:rPr>
              <a:t>PHỤ LỤC · D3</a:t>
            </a:r>
            <a:endParaRPr lang="en-US" sz="1200" dirty="0"/>
          </a:p>
        </p:txBody>
      </p:sp>
      <p:sp>
        <p:nvSpPr>
          <p:cNvPr id="3" name="Text 1"/>
          <p:cNvSpPr/>
          <p:nvPr>
            <p:ph idx="102" type="title" hasCustomPrompt="1"/>
          </p:nvPr>
        </p:nvSpPr>
        <p:spPr>
          <a:xfrm>
            <a:off x="548640" y="640080"/>
            <a:ext cx="11094415" cy="731520"/>
          </a:xfrm>
          <a:prstGeom prst="rect">
            <a:avLst/>
          </a:prstGeom>
          <a:noFill/>
          <a:ln/>
        </p:spPr>
        <p:txBody>
          <a:bodyPr wrap="square" lIns="0" tIns="0" rIns="0" bIns="0" rtlCol="0" anchor="t"/>
          <a:lstStyle/>
          <a:p>
            <a:pPr algn="l" indent="0" marL="0">
              <a:buNone/>
            </a:pPr>
            <a:r>
              <a:rPr lang="en-US" sz="2800" b="1" dirty="0">
                <a:solidFill>
                  <a:srgbClr val="1D2733"/>
                </a:solidFill>
                <a:latin typeface="Cambria" pitchFamily="34" charset="0"/>
                <a:ea typeface="Cambria" pitchFamily="34" charset="-122"/>
                <a:cs typeface="Cambria" pitchFamily="34" charset="-120"/>
              </a:rPr>
              <a:t>Siêu tham số và cải tiến được chọn bằng thử nghiệm A/B</a:t>
            </a:r>
            <a:endParaRPr lang="en-US" sz="2800" dirty="0"/>
          </a:p>
        </p:txBody>
      </p:sp>
      <p:sp>
        <p:nvSpPr>
          <p:cNvPr id="5" name="Text 2"/>
          <p:cNvSpPr txBox="1"/>
          <p:nvPr/>
        </p:nvSpPr>
        <p:spPr>
          <a:xfrm>
            <a:off x="548640" y="1645920"/>
            <a:ext cx="5394960" cy="365760"/>
          </a:xfrm>
          <a:prstGeom prst="rect">
            <a:avLst/>
          </a:prstGeom>
          <a:noFill/>
          <a:ln/>
        </p:spPr>
        <p:txBody>
          <a:bodyPr wrap="square" lIns="0" tIns="0" rIns="0" bIns="0" rtlCol="0" anchor="t"/>
          <a:lstStyle/>
          <a:p>
            <a:pPr indent="0" marL="0">
              <a:buNone/>
            </a:pPr>
            <a:r>
              <a:rPr lang="en-US" sz="1700" b="1" dirty="0">
                <a:solidFill>
                  <a:srgbClr val="1D2733"/>
                </a:solidFill>
              </a:rPr>
              <a:t>v2 · ổn định huấn luyện (4×4, 150k bước)</a:t>
            </a:r>
            <a:endParaRPr lang="en-US" sz="17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48640" y="2103120"/>
          <a:ext cx="5394960" cy="914400"/>
        </p:xfrm>
        <a:graphic>
          <a:graphicData uri="http://schemas.openxmlformats.org/drawingml/2006/table">
            <a:tbl>
              <a:tblPr/>
              <a:tblGrid>
                <a:gridCol w="3017520"/>
                <a:gridCol w="2377440"/>
              </a:tblGrid>
              <a:tr h="640080">
                <a:tc>
                  <a:txBody>
                    <a:bodyPr/>
                    <a:lstStyle/>
                    <a:p>
                      <a:pPr indent="0" marL="0">
                        <a:buNone/>
                      </a:pPr>
                      <a:r>
                        <a:rPr lang="en-US" sz="1500" b="1" dirty="0">
                          <a:solidFill>
                            <a:srgbClr val="1D2733"/>
                          </a:solidFill>
                          <a:latin typeface="Calibri" pitchFamily="34" charset="0"/>
                          <a:ea typeface="Calibri" pitchFamily="34" charset="-122"/>
                          <a:cs typeface="Calibri" pitchFamily="34" charset="-120"/>
                        </a:rPr>
                        <a:t>Cấu hình</a:t>
                      </a:r>
                      <a:endParaRPr lang="en-US" sz="1500" dirty="0">
                        <a:latin typeface="Calibri" charset="0"/>
                        <a:ea typeface="Calibri" charset="0"/>
                        <a:cs typeface="Calibri" charset="0"/>
                      </a:endParaRPr>
                    </a:p>
                  </a:txBody>
                  <a:tcPr marL="101600" marR="101600" marT="50800" marB="508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rgbClr val="EEF4FA"/>
                    </a:solidFill>
                  </a:tcPr>
                </a:tc>
                <a:tc>
                  <a:txBody>
                    <a:bodyPr/>
                    <a:lstStyle/>
                    <a:p>
                      <a:pPr indent="0" marL="0">
                        <a:buNone/>
                      </a:pPr>
                      <a:r>
                        <a:rPr lang="en-US" sz="1500" b="1" dirty="0">
                          <a:solidFill>
                            <a:srgbClr val="1D2733"/>
                          </a:solidFill>
                          <a:latin typeface="Calibri" pitchFamily="34" charset="0"/>
                          <a:ea typeface="Calibri" pitchFamily="34" charset="-122"/>
                          <a:cs typeface="Calibri" pitchFamily="34" charset="-120"/>
                        </a:rPr>
                        <a:t>Kết quả</a:t>
                      </a:r>
                      <a:endParaRPr lang="en-US" sz="1500" dirty="0">
                        <a:latin typeface="Calibri" charset="0"/>
                        <a:ea typeface="Calibri" charset="0"/>
                        <a:cs typeface="Calibri" charset="0"/>
                      </a:endParaRPr>
                    </a:p>
                  </a:txBody>
                  <a:tcPr marL="101600" marR="101600" marT="50800" marB="508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rgbClr val="EEF4FA"/>
                    </a:solidFill>
                  </a:tcPr>
                </a:tc>
              </a:tr>
              <a:tr h="640080">
                <a:tc>
                  <a:txBody>
                    <a:bodyPr/>
                    <a:lstStyle/>
                    <a:p>
                      <a:pPr indent="0" marL="0">
                        <a:buNone/>
                      </a:pPr>
                      <a:r>
                        <a:rPr lang="en-US" sz="1500" dirty="0">
                          <a:solidFill>
                            <a:srgbClr val="1D2733"/>
                          </a:solidFill>
                          <a:latin typeface="Calibri" pitchFamily="34" charset="0"/>
                          <a:ea typeface="Calibri" pitchFamily="34" charset="-122"/>
                          <a:cs typeface="Calibri" pitchFamily="34" charset="-120"/>
                        </a:rPr>
                        <a:t>lr 5·10⁻⁴, target 1000, buffer 50k</a:t>
                      </a:r>
                      <a:endParaRPr lang="en-US" sz="1500" dirty="0">
                        <a:latin typeface="Calibri" charset="0"/>
                        <a:ea typeface="Calibri" charset="0"/>
                        <a:cs typeface="Calibri" charset="0"/>
                      </a:endParaRPr>
                    </a:p>
                  </a:txBody>
                  <a:tcPr marL="101600" marR="101600" marT="50800" marB="508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indent="0" marL="0">
                        <a:buNone/>
                      </a:pPr>
                      <a:r>
                        <a:rPr lang="en-US" sz="1500" b="1" dirty="0">
                          <a:solidFill>
                            <a:srgbClr val="C8322F"/>
                          </a:solidFill>
                          <a:latin typeface="Calibri" pitchFamily="34" charset="0"/>
                          <a:ea typeface="Calibri" pitchFamily="34" charset="-122"/>
                          <a:cs typeface="Calibri" pitchFamily="34" charset="-120"/>
                        </a:rPr>
                        <a:t>sụp ở 30–40k bước</a:t>
                      </a:r>
                      <a:endParaRPr lang="en-US" sz="1500" dirty="0">
                        <a:latin typeface="Calibri" charset="0"/>
                        <a:ea typeface="Calibri" charset="0"/>
                        <a:cs typeface="Calibri" charset="0"/>
                      </a:endParaRPr>
                    </a:p>
                  </a:txBody>
                  <a:tcPr marL="101600" marR="101600" marT="50800" marB="508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r>
              <a:tr h="640080">
                <a:tc>
                  <a:txBody>
                    <a:bodyPr/>
                    <a:lstStyle/>
                    <a:p>
                      <a:pPr indent="0" marL="0">
                        <a:buNone/>
                      </a:pPr>
                      <a:r>
                        <a:rPr lang="en-US" sz="1500" b="1" dirty="0">
                          <a:solidFill>
                            <a:srgbClr val="1D2733"/>
                          </a:solidFill>
                          <a:latin typeface="Calibri" pitchFamily="34" charset="0"/>
                          <a:ea typeface="Calibri" pitchFamily="34" charset="-122"/>
                          <a:cs typeface="Calibri" pitchFamily="34" charset="-120"/>
                        </a:rPr>
                        <a:t>lr 2,5·10⁻⁴, target 500, buffer 100k</a:t>
                      </a:r>
                      <a:endParaRPr lang="en-US" sz="1500" dirty="0">
                        <a:latin typeface="Calibri" charset="0"/>
                        <a:ea typeface="Calibri" charset="0"/>
                        <a:cs typeface="Calibri" charset="0"/>
                      </a:endParaRPr>
                    </a:p>
                  </a:txBody>
                  <a:tcPr marL="101600" marR="101600" marT="50800" marB="508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indent="0" marL="0">
                        <a:buNone/>
                      </a:pPr>
                      <a:r>
                        <a:rPr lang="en-US" sz="1500" b="1" dirty="0">
                          <a:solidFill>
                            <a:srgbClr val="2E7D4F"/>
                          </a:solidFill>
                          <a:latin typeface="Calibri" pitchFamily="34" charset="0"/>
                          <a:ea typeface="Calibri" pitchFamily="34" charset="-122"/>
                          <a:cs typeface="Calibri" pitchFamily="34" charset="-120"/>
                        </a:rPr>
                        <a:t>12,67 bước (tối ưu 12,69)</a:t>
                      </a:r>
                      <a:endParaRPr lang="en-US" sz="1500" dirty="0">
                        <a:latin typeface="Calibri" charset="0"/>
                        <a:ea typeface="Calibri" charset="0"/>
                        <a:cs typeface="Calibri" charset="0"/>
                      </a:endParaRPr>
                    </a:p>
                  </a:txBody>
                  <a:tcPr marL="101600" marR="101600" marT="50800" marB="508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rgbClr val="E3F2E9"/>
                    </a:solidFill>
                  </a:tcPr>
                </a:tc>
              </a:tr>
            </a:tbl>
          </a:graphicData>
        </a:graphic>
      </p:graphicFrame>
      <p:sp>
        <p:nvSpPr>
          <p:cNvPr id="7" name="Text 3"/>
          <p:cNvSpPr txBox="1"/>
          <p:nvPr/>
        </p:nvSpPr>
        <p:spPr>
          <a:xfrm>
            <a:off x="6263640" y="1645920"/>
            <a:ext cx="5394960" cy="365760"/>
          </a:xfrm>
          <a:prstGeom prst="rect">
            <a:avLst/>
          </a:prstGeom>
          <a:noFill/>
          <a:ln/>
        </p:spPr>
        <p:txBody>
          <a:bodyPr wrap="square" lIns="0" tIns="0" rIns="0" bIns="0" rtlCol="0" anchor="t"/>
          <a:lstStyle/>
          <a:p>
            <a:pPr indent="0" marL="0">
              <a:buNone/>
            </a:pPr>
            <a:r>
              <a:rPr lang="en-US" sz="1700" b="1" dirty="0">
                <a:solidFill>
                  <a:srgbClr val="1D2733"/>
                </a:solidFill>
              </a:rPr>
              <a:t>v4 · phòng lạ 8×8 (600k bước, 2 seed)</a:t>
            </a:r>
            <a:endParaRPr lang="en-US" sz="1700" dirty="0"/>
          </a:p>
        </p:txBody>
      </p:sp>
      <p:graphicFrame>
        <p:nvGraphicFramePr>
          <p:cNvPr id="45" name="Table 1"/>
          <p:cNvGraphicFramePr>
            <a:graphicFrameLocks noGrp="1"/>
          </p:cNvGraphicFramePr>
          <p:nvPr>
            <p:extLst>
              <p:ext uri="{D42A27DB-BD31-4B8C-83A1-F6EECF244321}">
                <p14:modId xmlns:p14="http://schemas.microsoft.com/office/powerpoint/2010/main" val="1579011935"/>
              </p:ext>
            </p:extLst>
          </p:nvPr>
        </p:nvGraphicFramePr>
        <p:xfrm>
          <a:off x="6263640" y="2103120"/>
          <a:ext cx="5376672" cy="914400"/>
        </p:xfrm>
        <a:graphic>
          <a:graphicData uri="http://schemas.openxmlformats.org/drawingml/2006/table">
            <a:tbl>
              <a:tblPr/>
              <a:tblGrid>
                <a:gridCol w="2834640"/>
                <a:gridCol w="1271016"/>
                <a:gridCol w="1271016"/>
              </a:tblGrid>
              <a:tr h="502920">
                <a:tc>
                  <a:txBody>
                    <a:bodyPr/>
                    <a:lstStyle/>
                    <a:p>
                      <a:pPr indent="0" marL="0">
                        <a:buNone/>
                      </a:pPr>
                      <a:r>
                        <a:rPr lang="en-US" sz="1500" b="1" dirty="0">
                          <a:solidFill>
                            <a:srgbClr val="1D2733"/>
                          </a:solidFill>
                          <a:latin typeface="Calibri" pitchFamily="34" charset="0"/>
                          <a:ea typeface="Calibri" pitchFamily="34" charset="-122"/>
                          <a:cs typeface="Calibri" pitchFamily="34" charset="-120"/>
                        </a:rPr>
                        <a:t>Cấu hình (có action mask)</a:t>
                      </a:r>
                      <a:endParaRPr lang="en-US" sz="1500" dirty="0">
                        <a:latin typeface="Calibri" charset="0"/>
                        <a:ea typeface="Calibri" charset="0"/>
                        <a:cs typeface="Calibri" charset="0"/>
                      </a:endParaRPr>
                    </a:p>
                  </a:txBody>
                  <a:tcPr marL="101600" marR="101600" marT="50800" marB="508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rgbClr val="EEF4FA"/>
                    </a:solidFill>
                  </a:tcPr>
                </a:tc>
                <a:tc>
                  <a:txBody>
                    <a:bodyPr/>
                    <a:lstStyle/>
                    <a:p>
                      <a:pPr indent="0" marL="0">
                        <a:buNone/>
                      </a:pPr>
                      <a:r>
                        <a:rPr lang="en-US" sz="1500" b="1" dirty="0">
                          <a:solidFill>
                            <a:srgbClr val="1D2733"/>
                          </a:solidFill>
                          <a:latin typeface="Calibri" pitchFamily="34" charset="0"/>
                          <a:ea typeface="Calibri" pitchFamily="34" charset="-122"/>
                          <a:cs typeface="Calibri" pitchFamily="34" charset="-120"/>
                        </a:rPr>
                        <a:t>Đã dọn</a:t>
                      </a:r>
                      <a:endParaRPr lang="en-US" sz="1500" dirty="0">
                        <a:latin typeface="Calibri" charset="0"/>
                        <a:ea typeface="Calibri" charset="0"/>
                        <a:cs typeface="Calibri" charset="0"/>
                      </a:endParaRPr>
                    </a:p>
                  </a:txBody>
                  <a:tcPr marL="101600" marR="101600" marT="50800" marB="508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rgbClr val="EEF4FA"/>
                    </a:solidFill>
                  </a:tcPr>
                </a:tc>
                <a:tc>
                  <a:txBody>
                    <a:bodyPr/>
                    <a:lstStyle/>
                    <a:p>
                      <a:pPr indent="0" marL="0">
                        <a:buNone/>
                      </a:pPr>
                      <a:r>
                        <a:rPr lang="en-US" sz="1500" b="1" dirty="0">
                          <a:solidFill>
                            <a:srgbClr val="1D2733"/>
                          </a:solidFill>
                          <a:latin typeface="Calibri" pitchFamily="34" charset="0"/>
                          <a:ea typeface="Calibri" pitchFamily="34" charset="-122"/>
                          <a:cs typeface="Calibri" pitchFamily="34" charset="-120"/>
                        </a:rPr>
                        <a:t>Dọn xong</a:t>
                      </a:r>
                      <a:endParaRPr lang="en-US" sz="1500" dirty="0">
                        <a:latin typeface="Calibri" charset="0"/>
                        <a:ea typeface="Calibri" charset="0"/>
                        <a:cs typeface="Calibri" charset="0"/>
                      </a:endParaRPr>
                    </a:p>
                  </a:txBody>
                  <a:tcPr marL="101600" marR="101600" marT="50800" marB="508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rgbClr val="EEF4FA"/>
                    </a:solidFill>
                  </a:tcPr>
                </a:tc>
              </a:tr>
              <a:tr h="502920">
                <a:tc>
                  <a:txBody>
                    <a:bodyPr/>
                    <a:lstStyle/>
                    <a:p>
                      <a:pPr indent="0" marL="0">
                        <a:buNone/>
                      </a:pPr>
                      <a:r>
                        <a:rPr lang="en-US" sz="1500" dirty="0">
                          <a:solidFill>
                            <a:srgbClr val="1D2733"/>
                          </a:solidFill>
                          <a:latin typeface="Calibri" pitchFamily="34" charset="0"/>
                          <a:ea typeface="Calibri" pitchFamily="34" charset="-122"/>
                          <a:cs typeface="Calibri" pitchFamily="34" charset="-120"/>
                        </a:rPr>
                        <a:t>quan sát gốc</a:t>
                      </a:r>
                      <a:endParaRPr lang="en-US" sz="1500" dirty="0">
                        <a:latin typeface="Calibri" charset="0"/>
                        <a:ea typeface="Calibri" charset="0"/>
                        <a:cs typeface="Calibri" charset="0"/>
                      </a:endParaRPr>
                    </a:p>
                  </a:txBody>
                  <a:tcPr marL="101600" marR="101600" marT="50800" marB="508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indent="0" marL="0">
                        <a:buNone/>
                      </a:pPr>
                      <a:r>
                        <a:rPr lang="en-US" sz="1500" dirty="0">
                          <a:solidFill>
                            <a:srgbClr val="1D2733"/>
                          </a:solidFill>
                          <a:latin typeface="Calibri" pitchFamily="34" charset="0"/>
                          <a:ea typeface="Calibri" pitchFamily="34" charset="-122"/>
                          <a:cs typeface="Calibri" pitchFamily="34" charset="-120"/>
                        </a:rPr>
                        <a:t>60%</a:t>
                      </a:r>
                      <a:endParaRPr lang="en-US" sz="1500" dirty="0">
                        <a:latin typeface="Calibri" charset="0"/>
                        <a:ea typeface="Calibri" charset="0"/>
                        <a:cs typeface="Calibri" charset="0"/>
                      </a:endParaRPr>
                    </a:p>
                  </a:txBody>
                  <a:tcPr marL="101600" marR="101600" marT="50800" marB="508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indent="0" marL="0">
                        <a:buNone/>
                      </a:pPr>
                      <a:r>
                        <a:rPr lang="en-US" sz="1500" dirty="0">
                          <a:solidFill>
                            <a:srgbClr val="1D2733"/>
                          </a:solidFill>
                          <a:latin typeface="Calibri" pitchFamily="34" charset="0"/>
                          <a:ea typeface="Calibri" pitchFamily="34" charset="-122"/>
                          <a:cs typeface="Calibri" pitchFamily="34" charset="-120"/>
                        </a:rPr>
                        <a:t>1%</a:t>
                      </a:r>
                      <a:endParaRPr lang="en-US" sz="1500" dirty="0">
                        <a:latin typeface="Calibri" charset="0"/>
                        <a:ea typeface="Calibri" charset="0"/>
                        <a:cs typeface="Calibri" charset="0"/>
                      </a:endParaRPr>
                    </a:p>
                  </a:txBody>
                  <a:tcPr marL="101600" marR="101600" marT="50800" marB="508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r>
              <a:tr h="502920">
                <a:tc>
                  <a:txBody>
                    <a:bodyPr/>
                    <a:lstStyle/>
                    <a:p>
                      <a:pPr indent="0" marL="0">
                        <a:buNone/>
                      </a:pPr>
                      <a:r>
                        <a:rPr lang="en-US" sz="1500" b="1" dirty="0">
                          <a:solidFill>
                            <a:srgbClr val="1D2733"/>
                          </a:solidFill>
                          <a:latin typeface="Calibri" pitchFamily="34" charset="0"/>
                          <a:ea typeface="Calibri" pitchFamily="34" charset="-122"/>
                          <a:cs typeface="Calibri" pitchFamily="34" charset="-120"/>
                        </a:rPr>
                        <a:t>robot làm tâm</a:t>
                      </a:r>
                      <a:endParaRPr lang="en-US" sz="1500" dirty="0">
                        <a:latin typeface="Calibri" charset="0"/>
                        <a:ea typeface="Calibri" charset="0"/>
                        <a:cs typeface="Calibri" charset="0"/>
                      </a:endParaRPr>
                    </a:p>
                  </a:txBody>
                  <a:tcPr marL="101600" marR="101600" marT="50800" marB="508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indent="0" marL="0">
                        <a:buNone/>
                      </a:pPr>
                      <a:r>
                        <a:rPr lang="en-US" sz="1500" b="1" dirty="0">
                          <a:solidFill>
                            <a:srgbClr val="2E7D4F"/>
                          </a:solidFill>
                          <a:latin typeface="Calibri" pitchFamily="34" charset="0"/>
                          <a:ea typeface="Calibri" pitchFamily="34" charset="-122"/>
                          <a:cs typeface="Calibri" pitchFamily="34" charset="-120"/>
                        </a:rPr>
                        <a:t>91%</a:t>
                      </a:r>
                      <a:endParaRPr lang="en-US" sz="1500" dirty="0">
                        <a:latin typeface="Calibri" charset="0"/>
                        <a:ea typeface="Calibri" charset="0"/>
                        <a:cs typeface="Calibri" charset="0"/>
                      </a:endParaRPr>
                    </a:p>
                  </a:txBody>
                  <a:tcPr marL="101600" marR="101600" marT="50800" marB="508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rgbClr val="E3F2E9"/>
                    </a:solidFill>
                  </a:tcPr>
                </a:tc>
                <a:tc>
                  <a:txBody>
                    <a:bodyPr/>
                    <a:lstStyle/>
                    <a:p>
                      <a:pPr indent="0" marL="0">
                        <a:buNone/>
                      </a:pPr>
                      <a:r>
                        <a:rPr lang="en-US" sz="1500" b="1" dirty="0">
                          <a:solidFill>
                            <a:srgbClr val="2E7D4F"/>
                          </a:solidFill>
                          <a:latin typeface="Calibri" pitchFamily="34" charset="0"/>
                          <a:ea typeface="Calibri" pitchFamily="34" charset="-122"/>
                          <a:cs typeface="Calibri" pitchFamily="34" charset="-120"/>
                        </a:rPr>
                        <a:t>42%</a:t>
                      </a:r>
                      <a:endParaRPr lang="en-US" sz="1500" dirty="0">
                        <a:latin typeface="Calibri" charset="0"/>
                        <a:ea typeface="Calibri" charset="0"/>
                        <a:cs typeface="Calibri" charset="0"/>
                      </a:endParaRPr>
                    </a:p>
                  </a:txBody>
                  <a:tcPr marL="101600" marR="101600" marT="50800" marB="508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rgbClr val="E3F2E9"/>
                    </a:solidFill>
                  </a:tcPr>
                </a:tc>
              </a:tr>
              <a:tr h="502920">
                <a:tc>
                  <a:txBody>
                    <a:bodyPr/>
                    <a:lstStyle/>
                    <a:p>
                      <a:pPr indent="0" marL="0">
                        <a:buNone/>
                      </a:pPr>
                      <a:r>
                        <a:rPr lang="en-US" sz="1500" dirty="0">
                          <a:solidFill>
                            <a:srgbClr val="1D2733"/>
                          </a:solidFill>
                          <a:latin typeface="Calibri" pitchFamily="34" charset="0"/>
                          <a:ea typeface="Calibri" pitchFamily="34" charset="-122"/>
                          <a:cs typeface="Calibri" pitchFamily="34" charset="-120"/>
                        </a:rPr>
                        <a:t>quan sát gốc + shaping</a:t>
                      </a:r>
                      <a:endParaRPr lang="en-US" sz="1500" dirty="0">
                        <a:latin typeface="Calibri" charset="0"/>
                        <a:ea typeface="Calibri" charset="0"/>
                        <a:cs typeface="Calibri" charset="0"/>
                      </a:endParaRPr>
                    </a:p>
                  </a:txBody>
                  <a:tcPr marL="101600" marR="101600" marT="50800" marB="508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indent="0" marL="0">
                        <a:buNone/>
                      </a:pPr>
                      <a:r>
                        <a:rPr lang="en-US" sz="1500" dirty="0">
                          <a:solidFill>
                            <a:srgbClr val="1D2733"/>
                          </a:solidFill>
                          <a:latin typeface="Calibri" pitchFamily="34" charset="0"/>
                          <a:ea typeface="Calibri" pitchFamily="34" charset="-122"/>
                          <a:cs typeface="Calibri" pitchFamily="34" charset="-120"/>
                        </a:rPr>
                        <a:t>59%</a:t>
                      </a:r>
                      <a:endParaRPr lang="en-US" sz="1500" dirty="0">
                        <a:latin typeface="Calibri" charset="0"/>
                        <a:ea typeface="Calibri" charset="0"/>
                        <a:cs typeface="Calibri" charset="0"/>
                      </a:endParaRPr>
                    </a:p>
                  </a:txBody>
                  <a:tcPr marL="101600" marR="101600" marT="50800" marB="508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indent="0" marL="0">
                        <a:buNone/>
                      </a:pPr>
                      <a:r>
                        <a:rPr lang="en-US" sz="1500" dirty="0">
                          <a:solidFill>
                            <a:srgbClr val="1D2733"/>
                          </a:solidFill>
                          <a:latin typeface="Calibri" pitchFamily="34" charset="0"/>
                          <a:ea typeface="Calibri" pitchFamily="34" charset="-122"/>
                          <a:cs typeface="Calibri" pitchFamily="34" charset="-120"/>
                        </a:rPr>
                        <a:t>0%</a:t>
                      </a:r>
                      <a:endParaRPr lang="en-US" sz="1500" dirty="0">
                        <a:latin typeface="Calibri" charset="0"/>
                        <a:ea typeface="Calibri" charset="0"/>
                        <a:cs typeface="Calibri" charset="0"/>
                      </a:endParaRPr>
                    </a:p>
                  </a:txBody>
                  <a:tcPr marL="101600" marR="101600" marT="50800" marB="508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r>
              <a:tr h="502920">
                <a:tc>
                  <a:txBody>
                    <a:bodyPr/>
                    <a:lstStyle/>
                    <a:p>
                      <a:pPr indent="0" marL="0">
                        <a:buNone/>
                      </a:pPr>
                      <a:r>
                        <a:rPr lang="en-US" sz="1500" dirty="0">
                          <a:solidFill>
                            <a:srgbClr val="1D2733"/>
                          </a:solidFill>
                          <a:latin typeface="Calibri" pitchFamily="34" charset="0"/>
                          <a:ea typeface="Calibri" pitchFamily="34" charset="-122"/>
                          <a:cs typeface="Calibri" pitchFamily="34" charset="-120"/>
                        </a:rPr>
                        <a:t>robot làm tâm + shaping</a:t>
                      </a:r>
                      <a:endParaRPr lang="en-US" sz="1500" dirty="0">
                        <a:latin typeface="Calibri" charset="0"/>
                        <a:ea typeface="Calibri" charset="0"/>
                        <a:cs typeface="Calibri" charset="0"/>
                      </a:endParaRPr>
                    </a:p>
                  </a:txBody>
                  <a:tcPr marL="101600" marR="101600" marT="50800" marB="508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indent="0" marL="0">
                        <a:buNone/>
                      </a:pPr>
                      <a:r>
                        <a:rPr lang="en-US" sz="1500" dirty="0">
                          <a:solidFill>
                            <a:srgbClr val="1D2733"/>
                          </a:solidFill>
                          <a:latin typeface="Calibri" pitchFamily="34" charset="0"/>
                          <a:ea typeface="Calibri" pitchFamily="34" charset="-122"/>
                          <a:cs typeface="Calibri" pitchFamily="34" charset="-120"/>
                        </a:rPr>
                        <a:t>89%</a:t>
                      </a:r>
                      <a:endParaRPr lang="en-US" sz="1500" dirty="0">
                        <a:latin typeface="Calibri" charset="0"/>
                        <a:ea typeface="Calibri" charset="0"/>
                        <a:cs typeface="Calibri" charset="0"/>
                      </a:endParaRPr>
                    </a:p>
                  </a:txBody>
                  <a:tcPr marL="101600" marR="101600" marT="50800" marB="508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indent="0" marL="0">
                        <a:buNone/>
                      </a:pPr>
                      <a:r>
                        <a:rPr lang="en-US" sz="1500" dirty="0">
                          <a:solidFill>
                            <a:srgbClr val="1D2733"/>
                          </a:solidFill>
                          <a:latin typeface="Calibri" pitchFamily="34" charset="0"/>
                          <a:ea typeface="Calibri" pitchFamily="34" charset="-122"/>
                          <a:cs typeface="Calibri" pitchFamily="34" charset="-120"/>
                        </a:rPr>
                        <a:t>33%</a:t>
                      </a:r>
                      <a:endParaRPr lang="en-US" sz="1500" dirty="0">
                        <a:latin typeface="Calibri" charset="0"/>
                        <a:ea typeface="Calibri" charset="0"/>
                        <a:cs typeface="Calibri" charset="0"/>
                      </a:endParaRPr>
                    </a:p>
                  </a:txBody>
                  <a:tcPr marL="101600" marR="101600" marT="50800" marB="508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878"/>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1"/>
          <p:cNvSpPr/>
          <p:nvPr>
            <p:ph idx="101" type="body" hasCustomPrompt="1"/>
          </p:nvPr>
        </p:nvSpPr>
        <p:spPr>
          <a:xfrm>
            <a:off x="768096" y="301752"/>
            <a:ext cx="8229600" cy="310896"/>
          </a:xfrm>
          <a:prstGeom prst="rect">
            <a:avLst/>
          </a:prstGeom>
          <a:noFill/>
          <a:ln/>
        </p:spPr>
        <p:txBody>
          <a:bodyPr wrap="square" lIns="0" tIns="0" rIns="0" bIns="0" rtlCol="0"/>
          <a:lstStyle/>
          <a:p>
            <a:pPr indent="0" marL="0">
              <a:buNone/>
            </a:pPr>
            <a:r>
              <a:rPr lang="en-US" sz="1200" spc="200" kern="0" dirty="0">
                <a:solidFill>
                  <a:srgbClr val="5B6878"/>
                </a:solidFill>
              </a:rPr>
              <a:t>PHỤ LỤC · D4</a:t>
            </a:r>
            <a:endParaRPr lang="en-US" sz="1200" dirty="0"/>
          </a:p>
        </p:txBody>
      </p:sp>
      <p:sp>
        <p:nvSpPr>
          <p:cNvPr id="3" name="Text 1"/>
          <p:cNvSpPr/>
          <p:nvPr>
            <p:ph idx="102" type="title" hasCustomPrompt="1"/>
          </p:nvPr>
        </p:nvSpPr>
        <p:spPr>
          <a:xfrm>
            <a:off x="548640" y="640080"/>
            <a:ext cx="11094415" cy="731520"/>
          </a:xfrm>
          <a:prstGeom prst="rect">
            <a:avLst/>
          </a:prstGeom>
          <a:noFill/>
          <a:ln/>
        </p:spPr>
        <p:txBody>
          <a:bodyPr wrap="square" lIns="0" tIns="0" rIns="0" bIns="0" rtlCol="0" anchor="t"/>
          <a:lstStyle/>
          <a:p>
            <a:pPr algn="l" indent="0" marL="0">
              <a:buNone/>
            </a:pPr>
            <a:r>
              <a:rPr lang="en-US" sz="2800" b="1" dirty="0">
                <a:solidFill>
                  <a:srgbClr val="1D2733"/>
                </a:solidFill>
                <a:latin typeface="Cambria" pitchFamily="34" charset="0"/>
                <a:ea typeface="Cambria" pitchFamily="34" charset="-122"/>
                <a:cs typeface="Cambria" pitchFamily="34" charset="-120"/>
              </a:rPr>
              <a:t>Mô hình được chọn trên tập kiểm định, đánh giá trên tập test riêng</a:t>
            </a:r>
            <a:endParaRPr lang="en-US" sz="2800" dirty="0"/>
          </a:p>
        </p:txBody>
      </p:sp>
      <p:sp>
        <p:nvSpPr>
          <p:cNvPr id="5" name="Huấn luyện"/>
          <p:cNvSpPr/>
          <p:nvPr/>
        </p:nvSpPr>
        <p:spPr>
          <a:xfrm>
            <a:off x="548640" y="2011680"/>
            <a:ext cx="3291840" cy="2377440"/>
          </a:xfrm>
          <a:prstGeom prst="roundRect">
            <a:avLst>
              <a:gd name="adj" fmla="val 3077"/>
            </a:avLst>
          </a:prstGeom>
          <a:solidFill>
            <a:srgbClr val="EEF4FA"/>
          </a:solidFill>
          <a:ln w="12700">
            <a:solidFill>
              <a:srgbClr val="EEF4FA"/>
            </a:solidFill>
            <a:prstDash val="solid"/>
          </a:ln>
        </p:spPr>
      </p:sp>
      <p:sp>
        <p:nvSpPr>
          <p:cNvPr id="6" name="Text 3"/>
          <p:cNvSpPr txBox="1"/>
          <p:nvPr/>
        </p:nvSpPr>
        <p:spPr>
          <a:xfrm>
            <a:off x="822960" y="2240280"/>
            <a:ext cx="2743200" cy="457200"/>
          </a:xfrm>
          <a:prstGeom prst="rect">
            <a:avLst/>
          </a:prstGeom>
          <a:noFill/>
          <a:ln/>
        </p:spPr>
        <p:txBody>
          <a:bodyPr wrap="square" lIns="0" tIns="0" rIns="0" bIns="0" rtlCol="0" anchor="t"/>
          <a:lstStyle/>
          <a:p>
            <a:pPr indent="0" marL="0">
              <a:buNone/>
            </a:pPr>
            <a:r>
              <a:rPr lang="en-US" sz="2100" b="1" dirty="0">
                <a:solidFill>
                  <a:srgbClr val="9E9E9E"/>
                </a:solidFill>
              </a:rPr>
              <a:t>Huấn luyện</a:t>
            </a:r>
            <a:endParaRPr lang="en-US" sz="2100" dirty="0"/>
          </a:p>
        </p:txBody>
      </p:sp>
      <p:sp>
        <p:nvSpPr>
          <p:cNvPr id="7" name="Text 4"/>
          <p:cNvSpPr txBox="1"/>
          <p:nvPr/>
        </p:nvSpPr>
        <p:spPr>
          <a:xfrm>
            <a:off x="822960" y="2834640"/>
            <a:ext cx="2743200" cy="1371600"/>
          </a:xfrm>
          <a:prstGeom prst="rect">
            <a:avLst/>
          </a:prstGeom>
          <a:noFill/>
          <a:ln/>
        </p:spPr>
        <p:txBody>
          <a:bodyPr wrap="square" lIns="0" tIns="0" rIns="0" bIns="0" rtlCol="0" anchor="t"/>
          <a:lstStyle/>
          <a:p>
            <a:pPr indent="0" marL="0">
              <a:buNone/>
            </a:pPr>
            <a:r>
              <a:rPr lang="en-US" sz="1700" dirty="0">
                <a:solidFill>
                  <a:srgbClr val="1D2733"/>
                </a:solidFill>
              </a:rPr>
              <a:t>phòng mới mỗi episode, đã loại trừ tập test</a:t>
            </a:r>
            <a:endParaRPr lang="en-US" sz="1700" dirty="0"/>
          </a:p>
        </p:txBody>
      </p:sp>
      <p:sp>
        <p:nvSpPr>
          <p:cNvPr id="8" name="Shape 5"/>
          <p:cNvSpPr/>
          <p:nvPr/>
        </p:nvSpPr>
        <p:spPr>
          <a:xfrm>
            <a:off x="3895344" y="3017520"/>
            <a:ext cx="402336" cy="329184"/>
          </a:xfrm>
          <a:prstGeom prst="rightArrow">
            <a:avLst/>
          </a:prstGeom>
          <a:solidFill>
            <a:srgbClr val="9E9E9E"/>
          </a:solidFill>
          <a:ln w="12700">
            <a:solidFill>
              <a:srgbClr val="9E9E9E"/>
            </a:solidFill>
            <a:prstDash val="solid"/>
          </a:ln>
        </p:spPr>
      </p:sp>
      <p:sp>
        <p:nvSpPr>
          <p:cNvPr id="9" name="Kiểm định"/>
          <p:cNvSpPr/>
          <p:nvPr/>
        </p:nvSpPr>
        <p:spPr>
          <a:xfrm>
            <a:off x="4343400" y="2011680"/>
            <a:ext cx="3291840" cy="2377440"/>
          </a:xfrm>
          <a:prstGeom prst="roundRect">
            <a:avLst>
              <a:gd name="adj" fmla="val 3077"/>
            </a:avLst>
          </a:prstGeom>
          <a:solidFill>
            <a:srgbClr val="EEF4FA"/>
          </a:solidFill>
          <a:ln w="12700">
            <a:solidFill>
              <a:srgbClr val="EEF4FA"/>
            </a:solidFill>
            <a:prstDash val="solid"/>
          </a:ln>
        </p:spPr>
      </p:sp>
      <p:sp>
        <p:nvSpPr>
          <p:cNvPr id="10" name="Text 7"/>
          <p:cNvSpPr txBox="1"/>
          <p:nvPr/>
        </p:nvSpPr>
        <p:spPr>
          <a:xfrm>
            <a:off x="4617720" y="2240280"/>
            <a:ext cx="2743200" cy="457200"/>
          </a:xfrm>
          <a:prstGeom prst="rect">
            <a:avLst/>
          </a:prstGeom>
          <a:noFill/>
          <a:ln/>
        </p:spPr>
        <p:txBody>
          <a:bodyPr wrap="square" lIns="0" tIns="0" rIns="0" bIns="0" rtlCol="0" anchor="t"/>
          <a:lstStyle/>
          <a:p>
            <a:pPr indent="0" marL="0">
              <a:buNone/>
            </a:pPr>
            <a:r>
              <a:rPr lang="en-US" sz="2100" b="1" dirty="0">
                <a:solidFill>
                  <a:srgbClr val="1F6FB2"/>
                </a:solidFill>
              </a:rPr>
              <a:t>Kiểm định</a:t>
            </a:r>
            <a:endParaRPr lang="en-US" sz="2100" dirty="0"/>
          </a:p>
        </p:txBody>
      </p:sp>
      <p:sp>
        <p:nvSpPr>
          <p:cNvPr id="11" name="Text 8"/>
          <p:cNvSpPr txBox="1"/>
          <p:nvPr/>
        </p:nvSpPr>
        <p:spPr>
          <a:xfrm>
            <a:off x="4617720" y="2834640"/>
            <a:ext cx="2743200" cy="1371600"/>
          </a:xfrm>
          <a:prstGeom prst="rect">
            <a:avLst/>
          </a:prstGeom>
          <a:noFill/>
          <a:ln/>
        </p:spPr>
        <p:txBody>
          <a:bodyPr wrap="square" lIns="0" tIns="0" rIns="0" bIns="0" rtlCol="0" anchor="t"/>
          <a:lstStyle/>
          <a:p>
            <a:pPr indent="0" marL="0">
              <a:buNone/>
            </a:pPr>
            <a:r>
              <a:rPr lang="en-US" sz="1700" dirty="0">
                <a:solidFill>
                  <a:srgbClr val="1D2733"/>
                </a:solidFill>
              </a:rPr>
              <a:t>đánh giá định kỳ, giữ mô hình tốt nhất (best.pt)</a:t>
            </a:r>
            <a:endParaRPr lang="en-US" sz="1700" dirty="0"/>
          </a:p>
        </p:txBody>
      </p:sp>
      <p:sp>
        <p:nvSpPr>
          <p:cNvPr id="12" name="Shape 9"/>
          <p:cNvSpPr/>
          <p:nvPr/>
        </p:nvSpPr>
        <p:spPr>
          <a:xfrm>
            <a:off x="7690104" y="3017520"/>
            <a:ext cx="402336" cy="329184"/>
          </a:xfrm>
          <a:prstGeom prst="rightArrow">
            <a:avLst/>
          </a:prstGeom>
          <a:solidFill>
            <a:srgbClr val="9E9E9E"/>
          </a:solidFill>
          <a:ln w="12700">
            <a:solidFill>
              <a:srgbClr val="9E9E9E"/>
            </a:solidFill>
            <a:prstDash val="solid"/>
          </a:ln>
        </p:spPr>
      </p:sp>
      <p:sp>
        <p:nvSpPr>
          <p:cNvPr id="13" name="Test — 50 phòng"/>
          <p:cNvSpPr/>
          <p:nvPr/>
        </p:nvSpPr>
        <p:spPr>
          <a:xfrm>
            <a:off x="8138160" y="2011680"/>
            <a:ext cx="3291840" cy="2377440"/>
          </a:xfrm>
          <a:prstGeom prst="roundRect">
            <a:avLst>
              <a:gd name="adj" fmla="val 3077"/>
            </a:avLst>
          </a:prstGeom>
          <a:solidFill>
            <a:srgbClr val="EEF4FA"/>
          </a:solidFill>
          <a:ln w="12700">
            <a:solidFill>
              <a:srgbClr val="EEF4FA"/>
            </a:solidFill>
            <a:prstDash val="solid"/>
          </a:ln>
        </p:spPr>
      </p:sp>
      <p:sp>
        <p:nvSpPr>
          <p:cNvPr id="14" name="Text 11"/>
          <p:cNvSpPr txBox="1"/>
          <p:nvPr/>
        </p:nvSpPr>
        <p:spPr>
          <a:xfrm>
            <a:off x="8412480" y="2240280"/>
            <a:ext cx="2743200" cy="457200"/>
          </a:xfrm>
          <a:prstGeom prst="rect">
            <a:avLst/>
          </a:prstGeom>
          <a:noFill/>
          <a:ln/>
        </p:spPr>
        <p:txBody>
          <a:bodyPr wrap="square" lIns="0" tIns="0" rIns="0" bIns="0" rtlCol="0" anchor="t"/>
          <a:lstStyle/>
          <a:p>
            <a:pPr indent="0" marL="0">
              <a:buNone/>
            </a:pPr>
            <a:r>
              <a:rPr lang="en-US" sz="2100" b="1" dirty="0">
                <a:solidFill>
                  <a:srgbClr val="C8322F"/>
                </a:solidFill>
              </a:rPr>
              <a:t>Test — 50 phòng</a:t>
            </a:r>
            <a:endParaRPr lang="en-US" sz="2100" dirty="0"/>
          </a:p>
        </p:txBody>
      </p:sp>
      <p:sp>
        <p:nvSpPr>
          <p:cNvPr id="15" name="Text 12"/>
          <p:cNvSpPr txBox="1"/>
          <p:nvPr/>
        </p:nvSpPr>
        <p:spPr>
          <a:xfrm>
            <a:off x="8412480" y="2834640"/>
            <a:ext cx="2743200" cy="1371600"/>
          </a:xfrm>
          <a:prstGeom prst="rect">
            <a:avLst/>
          </a:prstGeom>
          <a:noFill/>
          <a:ln/>
        </p:spPr>
        <p:txBody>
          <a:bodyPr wrap="square" lIns="0" tIns="0" rIns="0" bIns="0" rtlCol="0" anchor="t"/>
          <a:lstStyle/>
          <a:p>
            <a:pPr indent="0" marL="0">
              <a:buNone/>
            </a:pPr>
            <a:r>
              <a:rPr lang="en-US" sz="1700" dirty="0">
                <a:solidFill>
                  <a:srgbClr val="1D2733"/>
                </a:solidFill>
              </a:rPr>
              <a:t>chỉ dùng để báo cáo số liệu cuối</a:t>
            </a:r>
            <a:endParaRPr lang="en-US" sz="1700" dirty="0"/>
          </a:p>
        </p:txBody>
      </p:sp>
      <p:sp>
        <p:nvSpPr>
          <p:cNvPr id="16" name="Text 13"/>
          <p:cNvSpPr txBox="1"/>
          <p:nvPr/>
        </p:nvSpPr>
        <p:spPr>
          <a:xfrm>
            <a:off x="548640" y="4937760"/>
            <a:ext cx="11064240" cy="548640"/>
          </a:xfrm>
          <a:prstGeom prst="rect">
            <a:avLst/>
          </a:prstGeom>
          <a:noFill/>
          <a:ln/>
        </p:spPr>
        <p:txBody>
          <a:bodyPr wrap="square" lIns="0" tIns="0" rIns="0" bIns="0" rtlCol="0" anchor="t"/>
          <a:lstStyle/>
          <a:p>
            <a:pPr indent="0" marL="0">
              <a:buNone/>
            </a:pPr>
            <a:r>
              <a:rPr lang="en-US" sz="1600" dirty="0">
                <a:solidFill>
                  <a:srgbClr val="5B6878"/>
                </a:solidFill>
              </a:rPr>
              <a:t>Mô hình cuối (model.pt) = bản tốt nhất trên tập kiểm định; last.pt = trọng số ở bước cuối để đối chiếu.</a:t>
            </a:r>
            <a:endParaRPr lang="en-US" sz="16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878"/>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1"/>
          <p:cNvSpPr/>
          <p:nvPr>
            <p:ph idx="101" type="body" hasCustomPrompt="1"/>
          </p:nvPr>
        </p:nvSpPr>
        <p:spPr>
          <a:xfrm>
            <a:off x="768096" y="301752"/>
            <a:ext cx="8229600" cy="310896"/>
          </a:xfrm>
          <a:prstGeom prst="rect">
            <a:avLst/>
          </a:prstGeom>
          <a:noFill/>
          <a:ln/>
        </p:spPr>
        <p:txBody>
          <a:bodyPr wrap="square" lIns="0" tIns="0" rIns="0" bIns="0" rtlCol="0"/>
          <a:lstStyle/>
          <a:p>
            <a:pPr indent="0" marL="0">
              <a:buNone/>
            </a:pPr>
            <a:r>
              <a:rPr lang="en-US" sz="1200" spc="200" kern="0" dirty="0">
                <a:solidFill>
                  <a:srgbClr val="5B6878"/>
                </a:solidFill>
              </a:rPr>
              <a:t>PHỤ LỤC · D5</a:t>
            </a:r>
            <a:endParaRPr lang="en-US" sz="1200" dirty="0"/>
          </a:p>
        </p:txBody>
      </p:sp>
      <p:sp>
        <p:nvSpPr>
          <p:cNvPr id="3" name="Text 1"/>
          <p:cNvSpPr/>
          <p:nvPr>
            <p:ph idx="102" type="title" hasCustomPrompt="1"/>
          </p:nvPr>
        </p:nvSpPr>
        <p:spPr>
          <a:xfrm>
            <a:off x="548640" y="640080"/>
            <a:ext cx="11094415" cy="731520"/>
          </a:xfrm>
          <a:prstGeom prst="rect">
            <a:avLst/>
          </a:prstGeom>
          <a:noFill/>
          <a:ln/>
        </p:spPr>
        <p:txBody>
          <a:bodyPr wrap="square" lIns="0" tIns="0" rIns="0" bIns="0" rtlCol="0" anchor="t"/>
          <a:lstStyle/>
          <a:p>
            <a:pPr algn="l" indent="0" marL="0">
              <a:buNone/>
            </a:pPr>
            <a:r>
              <a:rPr lang="en-US" sz="2800" b="1" dirty="0">
                <a:solidFill>
                  <a:srgbClr val="1D2733"/>
                </a:solidFill>
                <a:latin typeface="Cambria" pitchFamily="34" charset="0"/>
                <a:ea typeface="Cambria" pitchFamily="34" charset="-122"/>
                <a:cs typeface="Cambria" pitchFamily="34" charset="-120"/>
              </a:rPr>
              <a:t>Bảng khoảng cách tới tối ưu (E6)</a:t>
            </a:r>
            <a:endParaRPr lang="en-US" sz="28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64240" cy="914400"/>
        </p:xfrm>
        <a:graphic>
          <a:graphicData uri="http://schemas.openxmlformats.org/drawingml/2006/table">
            <a:tbl>
              <a:tblPr/>
              <a:tblGrid>
                <a:gridCol w="1097280"/>
                <a:gridCol w="2011680"/>
                <a:gridCol w="1280160"/>
                <a:gridCol w="1737360"/>
                <a:gridCol w="1737360"/>
                <a:gridCol w="1600200"/>
                <a:gridCol w="1600200"/>
              </a:tblGrid>
              <a:tr h="457200">
                <a:tc>
                  <a:txBody>
                    <a:bodyPr/>
                    <a:lstStyle/>
                    <a:p>
                      <a:pPr indent="0" marL="0">
                        <a:buNone/>
                      </a:pPr>
                      <a:r>
                        <a:rPr lang="en-US" sz="1500" b="1" dirty="0">
                          <a:solidFill>
                            <a:srgbClr val="1D2733"/>
                          </a:solidFill>
                          <a:latin typeface="Calibri" pitchFamily="34" charset="0"/>
                          <a:ea typeface="Calibri" pitchFamily="34" charset="-122"/>
                          <a:cs typeface="Calibri" pitchFamily="34" charset="-120"/>
                        </a:rPr>
                        <a:t>Phòng</a:t>
                      </a:r>
                      <a:endParaRPr lang="en-US" sz="1500" dirty="0">
                        <a:latin typeface="Calibri" charset="0"/>
                        <a:ea typeface="Calibri" charset="0"/>
                        <a:cs typeface="Calibri" charset="0"/>
                      </a:endParaRPr>
                    </a:p>
                  </a:txBody>
                  <a:tcPr marL="101600" marR="101600" marT="50800" marB="508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rgbClr val="EEF4FA"/>
                    </a:solidFill>
                  </a:tcPr>
                </a:tc>
                <a:tc>
                  <a:txBody>
                    <a:bodyPr/>
                    <a:lstStyle/>
                    <a:p>
                      <a:pPr indent="0" marL="0">
                        <a:buNone/>
                      </a:pPr>
                      <a:r>
                        <a:rPr lang="en-US" sz="1500" b="1" dirty="0">
                          <a:solidFill>
                            <a:srgbClr val="1D2733"/>
                          </a:solidFill>
                          <a:latin typeface="Calibri" pitchFamily="34" charset="0"/>
                          <a:ea typeface="Calibri" pitchFamily="34" charset="-122"/>
                          <a:cs typeface="Calibri" pitchFamily="34" charset="-120"/>
                        </a:rPr>
                        <a:t>Xuất phát</a:t>
                      </a:r>
                      <a:endParaRPr lang="en-US" sz="1500" dirty="0">
                        <a:latin typeface="Calibri" charset="0"/>
                        <a:ea typeface="Calibri" charset="0"/>
                        <a:cs typeface="Calibri" charset="0"/>
                      </a:endParaRPr>
                    </a:p>
                  </a:txBody>
                  <a:tcPr marL="101600" marR="101600" marT="50800" marB="508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rgbClr val="EEF4FA"/>
                    </a:solidFill>
                  </a:tcPr>
                </a:tc>
                <a:tc>
                  <a:txBody>
                    <a:bodyPr/>
                    <a:lstStyle/>
                    <a:p>
                      <a:pPr indent="0" marL="0">
                        <a:buNone/>
                      </a:pPr>
                      <a:r>
                        <a:rPr lang="en-US" sz="1500" b="1" dirty="0">
                          <a:solidFill>
                            <a:srgbClr val="1D2733"/>
                          </a:solidFill>
                          <a:latin typeface="Calibri" pitchFamily="34" charset="0"/>
                          <a:ea typeface="Calibri" pitchFamily="34" charset="-122"/>
                          <a:cs typeface="Calibri" pitchFamily="34" charset="-120"/>
                        </a:rPr>
                        <a:t>Tối thiểu</a:t>
                      </a:r>
                      <a:endParaRPr lang="en-US" sz="1500" dirty="0">
                        <a:latin typeface="Calibri" charset="0"/>
                        <a:ea typeface="Calibri" charset="0"/>
                        <a:cs typeface="Calibri" charset="0"/>
                      </a:endParaRPr>
                    </a:p>
                  </a:txBody>
                  <a:tcPr marL="101600" marR="101600" marT="50800" marB="508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rgbClr val="EEF4FA"/>
                    </a:solidFill>
                  </a:tcPr>
                </a:tc>
                <a:tc>
                  <a:txBody>
                    <a:bodyPr/>
                    <a:lstStyle/>
                    <a:p>
                      <a:pPr indent="0" marL="0">
                        <a:buNone/>
                      </a:pPr>
                      <a:r>
                        <a:rPr lang="en-US" sz="1500" b="1" dirty="0">
                          <a:solidFill>
                            <a:srgbClr val="1D2733"/>
                          </a:solidFill>
                          <a:latin typeface="Calibri" pitchFamily="34" charset="0"/>
                          <a:ea typeface="Calibri" pitchFamily="34" charset="-122"/>
                          <a:cs typeface="Calibri" pitchFamily="34" charset="-120"/>
                        </a:rPr>
                        <a:t>Q-learning</a:t>
                      </a:r>
                      <a:endParaRPr lang="en-US" sz="1500" dirty="0">
                        <a:latin typeface="Calibri" charset="0"/>
                        <a:ea typeface="Calibri" charset="0"/>
                        <a:cs typeface="Calibri" charset="0"/>
                      </a:endParaRPr>
                    </a:p>
                  </a:txBody>
                  <a:tcPr marL="101600" marR="101600" marT="50800" marB="508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rgbClr val="EEF4FA"/>
                    </a:solidFill>
                  </a:tcPr>
                </a:tc>
                <a:tc>
                  <a:txBody>
                    <a:bodyPr/>
                    <a:lstStyle/>
                    <a:p>
                      <a:pPr indent="0" marL="0">
                        <a:buNone/>
                      </a:pPr>
                      <a:r>
                        <a:rPr lang="en-US" sz="1500" b="1" dirty="0">
                          <a:solidFill>
                            <a:srgbClr val="1D2733"/>
                          </a:solidFill>
                          <a:latin typeface="Calibri" pitchFamily="34" charset="0"/>
                          <a:ea typeface="Calibri" pitchFamily="34" charset="-122"/>
                          <a:cs typeface="Calibri" pitchFamily="34" charset="-120"/>
                        </a:rPr>
                        <a:t>DQN</a:t>
                      </a:r>
                      <a:endParaRPr lang="en-US" sz="1500" dirty="0">
                        <a:latin typeface="Calibri" charset="0"/>
                        <a:ea typeface="Calibri" charset="0"/>
                        <a:cs typeface="Calibri" charset="0"/>
                      </a:endParaRPr>
                    </a:p>
                  </a:txBody>
                  <a:tcPr marL="101600" marR="101600" marT="50800" marB="508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rgbClr val="EEF4FA"/>
                    </a:solidFill>
                  </a:tcPr>
                </a:tc>
                <a:tc>
                  <a:txBody>
                    <a:bodyPr/>
                    <a:lstStyle/>
                    <a:p>
                      <a:pPr indent="0" marL="0">
                        <a:buNone/>
                      </a:pPr>
                      <a:r>
                        <a:rPr lang="en-US" sz="1500" b="1" dirty="0">
                          <a:solidFill>
                            <a:srgbClr val="1D2733"/>
                          </a:solidFill>
                          <a:latin typeface="Calibri" pitchFamily="34" charset="0"/>
                          <a:ea typeface="Calibri" pitchFamily="34" charset="-122"/>
                          <a:cs typeface="Calibri" pitchFamily="34" charset="-120"/>
                        </a:rPr>
                        <a:t>greedy BFS</a:t>
                      </a:r>
                      <a:endParaRPr lang="en-US" sz="1500" dirty="0">
                        <a:latin typeface="Calibri" charset="0"/>
                        <a:ea typeface="Calibri" charset="0"/>
                        <a:cs typeface="Calibri" charset="0"/>
                      </a:endParaRPr>
                    </a:p>
                  </a:txBody>
                  <a:tcPr marL="101600" marR="101600" marT="50800" marB="508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rgbClr val="EEF4FA"/>
                    </a:solidFill>
                  </a:tcPr>
                </a:tc>
                <a:tc>
                  <a:txBody>
                    <a:bodyPr/>
                    <a:lstStyle/>
                    <a:p>
                      <a:pPr indent="0" marL="0">
                        <a:buNone/>
                      </a:pPr>
                      <a:r>
                        <a:rPr lang="en-US" sz="1500" b="1" dirty="0">
                          <a:solidFill>
                            <a:srgbClr val="1D2733"/>
                          </a:solidFill>
                          <a:latin typeface="Calibri" pitchFamily="34" charset="0"/>
                          <a:ea typeface="Calibri" pitchFamily="34" charset="-122"/>
                          <a:cs typeface="Calibri" pitchFamily="34" charset="-120"/>
                        </a:rPr>
                        <a:t>zigzag</a:t>
                      </a:r>
                      <a:endParaRPr lang="en-US" sz="1500" dirty="0">
                        <a:latin typeface="Calibri" charset="0"/>
                        <a:ea typeface="Calibri" charset="0"/>
                        <a:cs typeface="Calibri" charset="0"/>
                      </a:endParaRPr>
                    </a:p>
                  </a:txBody>
                  <a:tcPr marL="101600" marR="101600" marT="50800" marB="508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rgbClr val="EEF4FA"/>
                    </a:solidFill>
                  </a:tcPr>
                </a:tc>
              </a:tr>
              <a:tr h="457200">
                <a:tc>
                  <a:txBody>
                    <a:bodyPr/>
                    <a:lstStyle/>
                    <a:p>
                      <a:pPr indent="0" marL="0">
                        <a:buNone/>
                      </a:pPr>
                      <a:r>
                        <a:rPr lang="en-US" sz="1500" dirty="0">
                          <a:solidFill>
                            <a:srgbClr val="1D2733"/>
                          </a:solidFill>
                          <a:latin typeface="Calibri" pitchFamily="34" charset="0"/>
                          <a:ea typeface="Calibri" pitchFamily="34" charset="-122"/>
                          <a:cs typeface="Calibri" pitchFamily="34" charset="-120"/>
                        </a:rPr>
                        <a:t>3×3</a:t>
                      </a:r>
                      <a:endParaRPr lang="en-US" sz="1500" dirty="0">
                        <a:latin typeface="Calibri" charset="0"/>
                        <a:ea typeface="Calibri" charset="0"/>
                        <a:cs typeface="Calibri" charset="0"/>
                      </a:endParaRPr>
                    </a:p>
                  </a:txBody>
                  <a:tcPr marL="101600" marR="101600" marT="50800" marB="508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indent="0" marL="0">
                        <a:buNone/>
                      </a:pPr>
                      <a:r>
                        <a:rPr lang="en-US" sz="1500" dirty="0">
                          <a:solidFill>
                            <a:srgbClr val="1D2733"/>
                          </a:solidFill>
                          <a:latin typeface="Calibri" pitchFamily="34" charset="0"/>
                          <a:ea typeface="Calibri" pitchFamily="34" charset="-122"/>
                          <a:cs typeface="Calibri" pitchFamily="34" charset="-120"/>
                        </a:rPr>
                        <a:t>(0,0) góc</a:t>
                      </a:r>
                      <a:endParaRPr lang="en-US" sz="1500" dirty="0">
                        <a:latin typeface="Calibri" charset="0"/>
                        <a:ea typeface="Calibri" charset="0"/>
                        <a:cs typeface="Calibri" charset="0"/>
                      </a:endParaRPr>
                    </a:p>
                  </a:txBody>
                  <a:tcPr marL="101600" marR="101600" marT="50800" marB="508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indent="0" marL="0">
                        <a:buNone/>
                      </a:pPr>
                      <a:r>
                        <a:rPr lang="en-US" sz="1500" dirty="0">
                          <a:solidFill>
                            <a:srgbClr val="1D2733"/>
                          </a:solidFill>
                          <a:latin typeface="Calibri" pitchFamily="34" charset="0"/>
                          <a:ea typeface="Calibri" pitchFamily="34" charset="-122"/>
                          <a:cs typeface="Calibri" pitchFamily="34" charset="-120"/>
                        </a:rPr>
                        <a:t>8</a:t>
                      </a:r>
                      <a:endParaRPr lang="en-US" sz="1500" dirty="0">
                        <a:latin typeface="Calibri" charset="0"/>
                        <a:ea typeface="Calibri" charset="0"/>
                        <a:cs typeface="Calibri" charset="0"/>
                      </a:endParaRPr>
                    </a:p>
                  </a:txBody>
                  <a:tcPr marL="101600" marR="101600" marT="50800" marB="508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indent="0" marL="0">
                        <a:buNone/>
                      </a:pPr>
                      <a:r>
                        <a:rPr lang="en-US" sz="1500" b="1" dirty="0">
                          <a:solidFill>
                            <a:srgbClr val="2E7D4F"/>
                          </a:solidFill>
                          <a:latin typeface="Calibri" pitchFamily="34" charset="0"/>
                          <a:ea typeface="Calibri" pitchFamily="34" charset="-122"/>
                          <a:cs typeface="Calibri" pitchFamily="34" charset="-120"/>
                        </a:rPr>
                        <a:t>8 (+0%)</a:t>
                      </a:r>
                      <a:endParaRPr lang="en-US" sz="1500" dirty="0">
                        <a:latin typeface="Calibri" charset="0"/>
                        <a:ea typeface="Calibri" charset="0"/>
                        <a:cs typeface="Calibri" charset="0"/>
                      </a:endParaRPr>
                    </a:p>
                  </a:txBody>
                  <a:tcPr marL="101600" marR="101600" marT="50800" marB="508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rgbClr val="E3F2E9"/>
                    </a:solidFill>
                  </a:tcPr>
                </a:tc>
                <a:tc>
                  <a:txBody>
                    <a:bodyPr/>
                    <a:lstStyle/>
                    <a:p>
                      <a:pPr indent="0" marL="0">
                        <a:buNone/>
                      </a:pPr>
                      <a:r>
                        <a:rPr lang="en-US" sz="1500" b="1" dirty="0">
                          <a:solidFill>
                            <a:srgbClr val="2E7D4F"/>
                          </a:solidFill>
                          <a:latin typeface="Calibri" pitchFamily="34" charset="0"/>
                          <a:ea typeface="Calibri" pitchFamily="34" charset="-122"/>
                          <a:cs typeface="Calibri" pitchFamily="34" charset="-120"/>
                        </a:rPr>
                        <a:t>8 (+0%)</a:t>
                      </a:r>
                      <a:endParaRPr lang="en-US" sz="1500" dirty="0">
                        <a:latin typeface="Calibri" charset="0"/>
                        <a:ea typeface="Calibri" charset="0"/>
                        <a:cs typeface="Calibri" charset="0"/>
                      </a:endParaRPr>
                    </a:p>
                  </a:txBody>
                  <a:tcPr marL="101600" marR="101600" marT="50800" marB="508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rgbClr val="E3F2E9"/>
                    </a:solidFill>
                  </a:tcPr>
                </a:tc>
                <a:tc>
                  <a:txBody>
                    <a:bodyPr/>
                    <a:lstStyle/>
                    <a:p>
                      <a:pPr indent="0" marL="0">
                        <a:buNone/>
                      </a:pPr>
                      <a:r>
                        <a:rPr lang="en-US" sz="1500" dirty="0">
                          <a:solidFill>
                            <a:srgbClr val="1D2733"/>
                          </a:solidFill>
                          <a:latin typeface="Calibri" pitchFamily="34" charset="0"/>
                          <a:ea typeface="Calibri" pitchFamily="34" charset="-122"/>
                          <a:cs typeface="Calibri" pitchFamily="34" charset="-120"/>
                        </a:rPr>
                        <a:t>8 (+0%)</a:t>
                      </a:r>
                      <a:endParaRPr lang="en-US" sz="1500" dirty="0">
                        <a:latin typeface="Calibri" charset="0"/>
                        <a:ea typeface="Calibri" charset="0"/>
                        <a:cs typeface="Calibri" charset="0"/>
                      </a:endParaRPr>
                    </a:p>
                  </a:txBody>
                  <a:tcPr marL="101600" marR="101600" marT="50800" marB="508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indent="0" marL="0">
                        <a:buNone/>
                      </a:pPr>
                      <a:r>
                        <a:rPr lang="en-US" sz="1500" dirty="0">
                          <a:solidFill>
                            <a:srgbClr val="1D2733"/>
                          </a:solidFill>
                          <a:latin typeface="Calibri" pitchFamily="34" charset="0"/>
                          <a:ea typeface="Calibri" pitchFamily="34" charset="-122"/>
                          <a:cs typeface="Calibri" pitchFamily="34" charset="-120"/>
                        </a:rPr>
                        <a:t>8 (+0%)</a:t>
                      </a:r>
                      <a:endParaRPr lang="en-US" sz="1500" dirty="0">
                        <a:latin typeface="Calibri" charset="0"/>
                        <a:ea typeface="Calibri" charset="0"/>
                        <a:cs typeface="Calibri" charset="0"/>
                      </a:endParaRPr>
                    </a:p>
                  </a:txBody>
                  <a:tcPr marL="101600" marR="101600" marT="50800" marB="508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r>
              <a:tr h="457200">
                <a:tc>
                  <a:txBody>
                    <a:bodyPr/>
                    <a:lstStyle/>
                    <a:p>
                      <a:pPr indent="0" marL="0">
                        <a:buNone/>
                      </a:pPr>
                      <a:r>
                        <a:rPr lang="en-US" sz="1500" dirty="0">
                          <a:solidFill>
                            <a:srgbClr val="1D2733"/>
                          </a:solidFill>
                          <a:latin typeface="Calibri" pitchFamily="34" charset="0"/>
                          <a:ea typeface="Calibri" pitchFamily="34" charset="-122"/>
                          <a:cs typeface="Calibri" pitchFamily="34" charset="-120"/>
                        </a:rPr>
                        <a:t>3×3</a:t>
                      </a:r>
                      <a:endParaRPr lang="en-US" sz="1500" dirty="0">
                        <a:latin typeface="Calibri" charset="0"/>
                        <a:ea typeface="Calibri" charset="0"/>
                        <a:cs typeface="Calibri" charset="0"/>
                      </a:endParaRPr>
                    </a:p>
                  </a:txBody>
                  <a:tcPr marL="101600" marR="101600" marT="50800" marB="508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indent="0" marL="0">
                        <a:buNone/>
                      </a:pPr>
                      <a:r>
                        <a:rPr lang="en-US" sz="1500" dirty="0">
                          <a:solidFill>
                            <a:srgbClr val="1D2733"/>
                          </a:solidFill>
                          <a:latin typeface="Calibri" pitchFamily="34" charset="0"/>
                          <a:ea typeface="Calibri" pitchFamily="34" charset="-122"/>
                          <a:cs typeface="Calibri" pitchFamily="34" charset="-120"/>
                        </a:rPr>
                        <a:t>(0,1) giữa cạnh</a:t>
                      </a:r>
                      <a:endParaRPr lang="en-US" sz="1500" dirty="0">
                        <a:latin typeface="Calibri" charset="0"/>
                        <a:ea typeface="Calibri" charset="0"/>
                        <a:cs typeface="Calibri" charset="0"/>
                      </a:endParaRPr>
                    </a:p>
                  </a:txBody>
                  <a:tcPr marL="101600" marR="101600" marT="50800" marB="508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indent="0" marL="0">
                        <a:buNone/>
                      </a:pPr>
                      <a:r>
                        <a:rPr lang="en-US" sz="1500" dirty="0">
                          <a:solidFill>
                            <a:srgbClr val="1D2733"/>
                          </a:solidFill>
                          <a:latin typeface="Calibri" pitchFamily="34" charset="0"/>
                          <a:ea typeface="Calibri" pitchFamily="34" charset="-122"/>
                          <a:cs typeface="Calibri" pitchFamily="34" charset="-120"/>
                        </a:rPr>
                        <a:t>9</a:t>
                      </a:r>
                      <a:endParaRPr lang="en-US" sz="1500" dirty="0">
                        <a:latin typeface="Calibri" charset="0"/>
                        <a:ea typeface="Calibri" charset="0"/>
                        <a:cs typeface="Calibri" charset="0"/>
                      </a:endParaRPr>
                    </a:p>
                  </a:txBody>
                  <a:tcPr marL="101600" marR="101600" marT="50800" marB="508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indent="0" marL="0">
                        <a:buNone/>
                      </a:pPr>
                      <a:r>
                        <a:rPr lang="en-US" sz="1500" b="1" dirty="0">
                          <a:solidFill>
                            <a:srgbClr val="2E7D4F"/>
                          </a:solidFill>
                          <a:latin typeface="Calibri" pitchFamily="34" charset="0"/>
                          <a:ea typeface="Calibri" pitchFamily="34" charset="-122"/>
                          <a:cs typeface="Calibri" pitchFamily="34" charset="-120"/>
                        </a:rPr>
                        <a:t>9 (+0%)</a:t>
                      </a:r>
                      <a:endParaRPr lang="en-US" sz="1500" dirty="0">
                        <a:latin typeface="Calibri" charset="0"/>
                        <a:ea typeface="Calibri" charset="0"/>
                        <a:cs typeface="Calibri" charset="0"/>
                      </a:endParaRPr>
                    </a:p>
                  </a:txBody>
                  <a:tcPr marL="101600" marR="101600" marT="50800" marB="508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rgbClr val="E3F2E9"/>
                    </a:solidFill>
                  </a:tcPr>
                </a:tc>
                <a:tc>
                  <a:txBody>
                    <a:bodyPr/>
                    <a:lstStyle/>
                    <a:p>
                      <a:pPr indent="0" marL="0">
                        <a:buNone/>
                      </a:pPr>
                      <a:r>
                        <a:rPr lang="en-US" sz="1500" b="1" dirty="0">
                          <a:solidFill>
                            <a:srgbClr val="2E7D4F"/>
                          </a:solidFill>
                          <a:latin typeface="Calibri" pitchFamily="34" charset="0"/>
                          <a:ea typeface="Calibri" pitchFamily="34" charset="-122"/>
                          <a:cs typeface="Calibri" pitchFamily="34" charset="-120"/>
                        </a:rPr>
                        <a:t>9 (+0%)</a:t>
                      </a:r>
                      <a:endParaRPr lang="en-US" sz="1500" dirty="0">
                        <a:latin typeface="Calibri" charset="0"/>
                        <a:ea typeface="Calibri" charset="0"/>
                        <a:cs typeface="Calibri" charset="0"/>
                      </a:endParaRPr>
                    </a:p>
                  </a:txBody>
                  <a:tcPr marL="101600" marR="101600" marT="50800" marB="508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rgbClr val="E3F2E9"/>
                    </a:solidFill>
                  </a:tcPr>
                </a:tc>
                <a:tc>
                  <a:txBody>
                    <a:bodyPr/>
                    <a:lstStyle/>
                    <a:p>
                      <a:pPr indent="0" marL="0">
                        <a:buNone/>
                      </a:pPr>
                      <a:r>
                        <a:rPr lang="en-US" sz="1500" dirty="0">
                          <a:solidFill>
                            <a:srgbClr val="1D2733"/>
                          </a:solidFill>
                          <a:latin typeface="Calibri" pitchFamily="34" charset="0"/>
                          <a:ea typeface="Calibri" pitchFamily="34" charset="-122"/>
                          <a:cs typeface="Calibri" pitchFamily="34" charset="-120"/>
                        </a:rPr>
                        <a:t>9 (+0%)</a:t>
                      </a:r>
                      <a:endParaRPr lang="en-US" sz="1500" dirty="0">
                        <a:latin typeface="Calibri" charset="0"/>
                        <a:ea typeface="Calibri" charset="0"/>
                        <a:cs typeface="Calibri" charset="0"/>
                      </a:endParaRPr>
                    </a:p>
                  </a:txBody>
                  <a:tcPr marL="101600" marR="101600" marT="50800" marB="508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indent="0" marL="0">
                        <a:buNone/>
                      </a:pPr>
                      <a:r>
                        <a:rPr lang="en-US" sz="1500" dirty="0">
                          <a:solidFill>
                            <a:srgbClr val="1D2733"/>
                          </a:solidFill>
                          <a:latin typeface="Calibri" pitchFamily="34" charset="0"/>
                          <a:ea typeface="Calibri" pitchFamily="34" charset="-122"/>
                          <a:cs typeface="Calibri" pitchFamily="34" charset="-120"/>
                        </a:rPr>
                        <a:t>9 (+0%)</a:t>
                      </a:r>
                      <a:endParaRPr lang="en-US" sz="1500" dirty="0">
                        <a:latin typeface="Calibri" charset="0"/>
                        <a:ea typeface="Calibri" charset="0"/>
                        <a:cs typeface="Calibri" charset="0"/>
                      </a:endParaRPr>
                    </a:p>
                  </a:txBody>
                  <a:tcPr marL="101600" marR="101600" marT="50800" marB="508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r>
              <a:tr h="457200">
                <a:tc>
                  <a:txBody>
                    <a:bodyPr/>
                    <a:lstStyle/>
                    <a:p>
                      <a:pPr indent="0" marL="0">
                        <a:buNone/>
                      </a:pPr>
                      <a:r>
                        <a:rPr lang="en-US" sz="1500" dirty="0">
                          <a:solidFill>
                            <a:srgbClr val="1D2733"/>
                          </a:solidFill>
                          <a:latin typeface="Calibri" pitchFamily="34" charset="0"/>
                          <a:ea typeface="Calibri" pitchFamily="34" charset="-122"/>
                          <a:cs typeface="Calibri" pitchFamily="34" charset="-120"/>
                        </a:rPr>
                        <a:t>3×3</a:t>
                      </a:r>
                      <a:endParaRPr lang="en-US" sz="1500" dirty="0">
                        <a:latin typeface="Calibri" charset="0"/>
                        <a:ea typeface="Calibri" charset="0"/>
                        <a:cs typeface="Calibri" charset="0"/>
                      </a:endParaRPr>
                    </a:p>
                  </a:txBody>
                  <a:tcPr marL="101600" marR="101600" marT="50800" marB="508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indent="0" marL="0">
                        <a:buNone/>
                      </a:pPr>
                      <a:r>
                        <a:rPr lang="en-US" sz="1500" dirty="0">
                          <a:solidFill>
                            <a:srgbClr val="1D2733"/>
                          </a:solidFill>
                          <a:latin typeface="Calibri" pitchFamily="34" charset="0"/>
                          <a:ea typeface="Calibri" pitchFamily="34" charset="-122"/>
                          <a:cs typeface="Calibri" pitchFamily="34" charset="-120"/>
                        </a:rPr>
                        <a:t>(1,1) tâm</a:t>
                      </a:r>
                      <a:endParaRPr lang="en-US" sz="1500" dirty="0">
                        <a:latin typeface="Calibri" charset="0"/>
                        <a:ea typeface="Calibri" charset="0"/>
                        <a:cs typeface="Calibri" charset="0"/>
                      </a:endParaRPr>
                    </a:p>
                  </a:txBody>
                  <a:tcPr marL="101600" marR="101600" marT="50800" marB="508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indent="0" marL="0">
                        <a:buNone/>
                      </a:pPr>
                      <a:r>
                        <a:rPr lang="en-US" sz="1500" dirty="0">
                          <a:solidFill>
                            <a:srgbClr val="1D2733"/>
                          </a:solidFill>
                          <a:latin typeface="Calibri" pitchFamily="34" charset="0"/>
                          <a:ea typeface="Calibri" pitchFamily="34" charset="-122"/>
                          <a:cs typeface="Calibri" pitchFamily="34" charset="-120"/>
                        </a:rPr>
                        <a:t>8</a:t>
                      </a:r>
                      <a:endParaRPr lang="en-US" sz="1500" dirty="0">
                        <a:latin typeface="Calibri" charset="0"/>
                        <a:ea typeface="Calibri" charset="0"/>
                        <a:cs typeface="Calibri" charset="0"/>
                      </a:endParaRPr>
                    </a:p>
                  </a:txBody>
                  <a:tcPr marL="101600" marR="101600" marT="50800" marB="508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indent="0" marL="0">
                        <a:buNone/>
                      </a:pPr>
                      <a:r>
                        <a:rPr lang="en-US" sz="1500" b="1" dirty="0">
                          <a:solidFill>
                            <a:srgbClr val="2E7D4F"/>
                          </a:solidFill>
                          <a:latin typeface="Calibri" pitchFamily="34" charset="0"/>
                          <a:ea typeface="Calibri" pitchFamily="34" charset="-122"/>
                          <a:cs typeface="Calibri" pitchFamily="34" charset="-120"/>
                        </a:rPr>
                        <a:t>8 (+0%)</a:t>
                      </a:r>
                      <a:endParaRPr lang="en-US" sz="1500" dirty="0">
                        <a:latin typeface="Calibri" charset="0"/>
                        <a:ea typeface="Calibri" charset="0"/>
                        <a:cs typeface="Calibri" charset="0"/>
                      </a:endParaRPr>
                    </a:p>
                  </a:txBody>
                  <a:tcPr marL="101600" marR="101600" marT="50800" marB="508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rgbClr val="E3F2E9"/>
                    </a:solidFill>
                  </a:tcPr>
                </a:tc>
                <a:tc>
                  <a:txBody>
                    <a:bodyPr/>
                    <a:lstStyle/>
                    <a:p>
                      <a:pPr indent="0" marL="0">
                        <a:buNone/>
                      </a:pPr>
                      <a:r>
                        <a:rPr lang="en-US" sz="1500" b="1" dirty="0">
                          <a:solidFill>
                            <a:srgbClr val="2E7D4F"/>
                          </a:solidFill>
                          <a:latin typeface="Calibri" pitchFamily="34" charset="0"/>
                          <a:ea typeface="Calibri" pitchFamily="34" charset="-122"/>
                          <a:cs typeface="Calibri" pitchFamily="34" charset="-120"/>
                        </a:rPr>
                        <a:t>8 (+0%)</a:t>
                      </a:r>
                      <a:endParaRPr lang="en-US" sz="1500" dirty="0">
                        <a:latin typeface="Calibri" charset="0"/>
                        <a:ea typeface="Calibri" charset="0"/>
                        <a:cs typeface="Calibri" charset="0"/>
                      </a:endParaRPr>
                    </a:p>
                  </a:txBody>
                  <a:tcPr marL="101600" marR="101600" marT="50800" marB="508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rgbClr val="E3F2E9"/>
                    </a:solidFill>
                  </a:tcPr>
                </a:tc>
                <a:tc>
                  <a:txBody>
                    <a:bodyPr/>
                    <a:lstStyle/>
                    <a:p>
                      <a:pPr indent="0" marL="0">
                        <a:buNone/>
                      </a:pPr>
                      <a:r>
                        <a:rPr lang="en-US" sz="1500" dirty="0">
                          <a:solidFill>
                            <a:srgbClr val="1D2733"/>
                          </a:solidFill>
                          <a:latin typeface="Calibri" pitchFamily="34" charset="0"/>
                          <a:ea typeface="Calibri" pitchFamily="34" charset="-122"/>
                          <a:cs typeface="Calibri" pitchFamily="34" charset="-120"/>
                        </a:rPr>
                        <a:t>8 (+0%)</a:t>
                      </a:r>
                      <a:endParaRPr lang="en-US" sz="1500" dirty="0">
                        <a:latin typeface="Calibri" charset="0"/>
                        <a:ea typeface="Calibri" charset="0"/>
                        <a:cs typeface="Calibri" charset="0"/>
                      </a:endParaRPr>
                    </a:p>
                  </a:txBody>
                  <a:tcPr marL="101600" marR="101600" marT="50800" marB="508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indent="0" marL="0">
                        <a:buNone/>
                      </a:pPr>
                      <a:r>
                        <a:rPr lang="en-US" sz="1500" dirty="0">
                          <a:solidFill>
                            <a:srgbClr val="1D2733"/>
                          </a:solidFill>
                          <a:latin typeface="Calibri" pitchFamily="34" charset="0"/>
                          <a:ea typeface="Calibri" pitchFamily="34" charset="-122"/>
                          <a:cs typeface="Calibri" pitchFamily="34" charset="-120"/>
                        </a:rPr>
                        <a:t>10 (+25%)</a:t>
                      </a:r>
                      <a:endParaRPr lang="en-US" sz="1500" dirty="0">
                        <a:latin typeface="Calibri" charset="0"/>
                        <a:ea typeface="Calibri" charset="0"/>
                        <a:cs typeface="Calibri" charset="0"/>
                      </a:endParaRPr>
                    </a:p>
                  </a:txBody>
                  <a:tcPr marL="101600" marR="101600" marT="50800" marB="508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r>
              <a:tr h="457200">
                <a:tc>
                  <a:txBody>
                    <a:bodyPr/>
                    <a:lstStyle/>
                    <a:p>
                      <a:pPr indent="0" marL="0">
                        <a:buNone/>
                      </a:pPr>
                      <a:r>
                        <a:rPr lang="en-US" sz="1500" dirty="0">
                          <a:solidFill>
                            <a:srgbClr val="1D2733"/>
                          </a:solidFill>
                          <a:latin typeface="Calibri" pitchFamily="34" charset="0"/>
                          <a:ea typeface="Calibri" pitchFamily="34" charset="-122"/>
                          <a:cs typeface="Calibri" pitchFamily="34" charset="-120"/>
                        </a:rPr>
                        <a:t>4×4</a:t>
                      </a:r>
                      <a:endParaRPr lang="en-US" sz="1500" dirty="0">
                        <a:latin typeface="Calibri" charset="0"/>
                        <a:ea typeface="Calibri" charset="0"/>
                        <a:cs typeface="Calibri" charset="0"/>
                      </a:endParaRPr>
                    </a:p>
                  </a:txBody>
                  <a:tcPr marL="101600" marR="101600" marT="50800" marB="508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indent="0" marL="0">
                        <a:buNone/>
                      </a:pPr>
                      <a:r>
                        <a:rPr lang="en-US" sz="1500" dirty="0">
                          <a:solidFill>
                            <a:srgbClr val="1D2733"/>
                          </a:solidFill>
                          <a:latin typeface="Calibri" pitchFamily="34" charset="0"/>
                          <a:ea typeface="Calibri" pitchFamily="34" charset="-122"/>
                          <a:cs typeface="Calibri" pitchFamily="34" charset="-120"/>
                        </a:rPr>
                        <a:t>(0,0)</a:t>
                      </a:r>
                      <a:endParaRPr lang="en-US" sz="1500" dirty="0">
                        <a:latin typeface="Calibri" charset="0"/>
                        <a:ea typeface="Calibri" charset="0"/>
                        <a:cs typeface="Calibri" charset="0"/>
                      </a:endParaRPr>
                    </a:p>
                  </a:txBody>
                  <a:tcPr marL="101600" marR="101600" marT="50800" marB="508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indent="0" marL="0">
                        <a:buNone/>
                      </a:pPr>
                      <a:r>
                        <a:rPr lang="en-US" sz="1500" dirty="0">
                          <a:solidFill>
                            <a:srgbClr val="1D2733"/>
                          </a:solidFill>
                          <a:latin typeface="Calibri" pitchFamily="34" charset="0"/>
                          <a:ea typeface="Calibri" pitchFamily="34" charset="-122"/>
                          <a:cs typeface="Calibri" pitchFamily="34" charset="-120"/>
                        </a:rPr>
                        <a:t>13</a:t>
                      </a:r>
                      <a:endParaRPr lang="en-US" sz="1500" dirty="0">
                        <a:latin typeface="Calibri" charset="0"/>
                        <a:ea typeface="Calibri" charset="0"/>
                        <a:cs typeface="Calibri" charset="0"/>
                      </a:endParaRPr>
                    </a:p>
                  </a:txBody>
                  <a:tcPr marL="101600" marR="101600" marT="50800" marB="508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indent="0" marL="0">
                        <a:buNone/>
                      </a:pPr>
                      <a:r>
                        <a:rPr lang="en-US" sz="1500" b="1" dirty="0">
                          <a:solidFill>
                            <a:srgbClr val="2E7D4F"/>
                          </a:solidFill>
                          <a:latin typeface="Calibri" pitchFamily="34" charset="0"/>
                          <a:ea typeface="Calibri" pitchFamily="34" charset="-122"/>
                          <a:cs typeface="Calibri" pitchFamily="34" charset="-120"/>
                        </a:rPr>
                        <a:t>13 (+0%)</a:t>
                      </a:r>
                      <a:endParaRPr lang="en-US" sz="1500" dirty="0">
                        <a:latin typeface="Calibri" charset="0"/>
                        <a:ea typeface="Calibri" charset="0"/>
                        <a:cs typeface="Calibri" charset="0"/>
                      </a:endParaRPr>
                    </a:p>
                  </a:txBody>
                  <a:tcPr marL="101600" marR="101600" marT="50800" marB="508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rgbClr val="E3F2E9"/>
                    </a:solidFill>
                  </a:tcPr>
                </a:tc>
                <a:tc>
                  <a:txBody>
                    <a:bodyPr/>
                    <a:lstStyle/>
                    <a:p>
                      <a:pPr indent="0" marL="0">
                        <a:buNone/>
                      </a:pPr>
                      <a:r>
                        <a:rPr lang="en-US" sz="1500" b="1" dirty="0">
                          <a:solidFill>
                            <a:srgbClr val="2E7D4F"/>
                          </a:solidFill>
                          <a:latin typeface="Calibri" pitchFamily="34" charset="0"/>
                          <a:ea typeface="Calibri" pitchFamily="34" charset="-122"/>
                          <a:cs typeface="Calibri" pitchFamily="34" charset="-120"/>
                        </a:rPr>
                        <a:t>13 (+0%)</a:t>
                      </a:r>
                      <a:endParaRPr lang="en-US" sz="1500" dirty="0">
                        <a:latin typeface="Calibri" charset="0"/>
                        <a:ea typeface="Calibri" charset="0"/>
                        <a:cs typeface="Calibri" charset="0"/>
                      </a:endParaRPr>
                    </a:p>
                  </a:txBody>
                  <a:tcPr marL="101600" marR="101600" marT="50800" marB="508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rgbClr val="E3F2E9"/>
                    </a:solidFill>
                  </a:tcPr>
                </a:tc>
                <a:tc>
                  <a:txBody>
                    <a:bodyPr/>
                    <a:lstStyle/>
                    <a:p>
                      <a:pPr indent="0" marL="0">
                        <a:buNone/>
                      </a:pPr>
                      <a:r>
                        <a:rPr lang="en-US" sz="1500" dirty="0">
                          <a:solidFill>
                            <a:srgbClr val="1D2733"/>
                          </a:solidFill>
                          <a:latin typeface="Calibri" pitchFamily="34" charset="0"/>
                          <a:ea typeface="Calibri" pitchFamily="34" charset="-122"/>
                          <a:cs typeface="Calibri" pitchFamily="34" charset="-120"/>
                        </a:rPr>
                        <a:t>16 (+23%)</a:t>
                      </a:r>
                      <a:endParaRPr lang="en-US" sz="1500" dirty="0">
                        <a:latin typeface="Calibri" charset="0"/>
                        <a:ea typeface="Calibri" charset="0"/>
                        <a:cs typeface="Calibri" charset="0"/>
                      </a:endParaRPr>
                    </a:p>
                  </a:txBody>
                  <a:tcPr marL="101600" marR="101600" marT="50800" marB="508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indent="0" marL="0">
                        <a:buNone/>
                      </a:pPr>
                      <a:r>
                        <a:rPr lang="en-US" sz="1500" dirty="0">
                          <a:solidFill>
                            <a:srgbClr val="1D2733"/>
                          </a:solidFill>
                          <a:latin typeface="Calibri" pitchFamily="34" charset="0"/>
                          <a:ea typeface="Calibri" pitchFamily="34" charset="-122"/>
                          <a:cs typeface="Calibri" pitchFamily="34" charset="-120"/>
                        </a:rPr>
                        <a:t>16 (+23%)</a:t>
                      </a:r>
                      <a:endParaRPr lang="en-US" sz="1500" dirty="0">
                        <a:latin typeface="Calibri" charset="0"/>
                        <a:ea typeface="Calibri" charset="0"/>
                        <a:cs typeface="Calibri" charset="0"/>
                      </a:endParaRPr>
                    </a:p>
                  </a:txBody>
                  <a:tcPr marL="101600" marR="101600" marT="50800" marB="508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r>
              <a:tr h="457200">
                <a:tc>
                  <a:txBody>
                    <a:bodyPr/>
                    <a:lstStyle/>
                    <a:p>
                      <a:pPr indent="0" marL="0">
                        <a:buNone/>
                      </a:pPr>
                      <a:r>
                        <a:rPr lang="en-US" sz="1500" dirty="0">
                          <a:solidFill>
                            <a:srgbClr val="1D2733"/>
                          </a:solidFill>
                          <a:latin typeface="Calibri" pitchFamily="34" charset="0"/>
                          <a:ea typeface="Calibri" pitchFamily="34" charset="-122"/>
                          <a:cs typeface="Calibri" pitchFamily="34" charset="-120"/>
                        </a:rPr>
                        <a:t>4×4</a:t>
                      </a:r>
                      <a:endParaRPr lang="en-US" sz="1500" dirty="0">
                        <a:latin typeface="Calibri" charset="0"/>
                        <a:ea typeface="Calibri" charset="0"/>
                        <a:cs typeface="Calibri" charset="0"/>
                      </a:endParaRPr>
                    </a:p>
                  </a:txBody>
                  <a:tcPr marL="101600" marR="101600" marT="50800" marB="508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indent="0" marL="0">
                        <a:buNone/>
                      </a:pPr>
                      <a:r>
                        <a:rPr lang="en-US" sz="1500" dirty="0">
                          <a:solidFill>
                            <a:srgbClr val="1D2733"/>
                          </a:solidFill>
                          <a:latin typeface="Calibri" pitchFamily="34" charset="0"/>
                          <a:ea typeface="Calibri" pitchFamily="34" charset="-122"/>
                          <a:cs typeface="Calibri" pitchFamily="34" charset="-120"/>
                        </a:rPr>
                        <a:t>(0,3)</a:t>
                      </a:r>
                      <a:endParaRPr lang="en-US" sz="1500" dirty="0">
                        <a:latin typeface="Calibri" charset="0"/>
                        <a:ea typeface="Calibri" charset="0"/>
                        <a:cs typeface="Calibri" charset="0"/>
                      </a:endParaRPr>
                    </a:p>
                  </a:txBody>
                  <a:tcPr marL="101600" marR="101600" marT="50800" marB="508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indent="0" marL="0">
                        <a:buNone/>
                      </a:pPr>
                      <a:r>
                        <a:rPr lang="en-US" sz="1500" dirty="0">
                          <a:solidFill>
                            <a:srgbClr val="1D2733"/>
                          </a:solidFill>
                          <a:latin typeface="Calibri" pitchFamily="34" charset="0"/>
                          <a:ea typeface="Calibri" pitchFamily="34" charset="-122"/>
                          <a:cs typeface="Calibri" pitchFamily="34" charset="-120"/>
                        </a:rPr>
                        <a:t>13</a:t>
                      </a:r>
                      <a:endParaRPr lang="en-US" sz="1500" dirty="0">
                        <a:latin typeface="Calibri" charset="0"/>
                        <a:ea typeface="Calibri" charset="0"/>
                        <a:cs typeface="Calibri" charset="0"/>
                      </a:endParaRPr>
                    </a:p>
                  </a:txBody>
                  <a:tcPr marL="101600" marR="101600" marT="50800" marB="508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indent="0" marL="0">
                        <a:buNone/>
                      </a:pPr>
                      <a:r>
                        <a:rPr lang="en-US" sz="1500" b="1" dirty="0">
                          <a:solidFill>
                            <a:srgbClr val="2E7D4F"/>
                          </a:solidFill>
                          <a:latin typeface="Calibri" pitchFamily="34" charset="0"/>
                          <a:ea typeface="Calibri" pitchFamily="34" charset="-122"/>
                          <a:cs typeface="Calibri" pitchFamily="34" charset="-120"/>
                        </a:rPr>
                        <a:t>13 (+0%)</a:t>
                      </a:r>
                      <a:endParaRPr lang="en-US" sz="1500" dirty="0">
                        <a:latin typeface="Calibri" charset="0"/>
                        <a:ea typeface="Calibri" charset="0"/>
                        <a:cs typeface="Calibri" charset="0"/>
                      </a:endParaRPr>
                    </a:p>
                  </a:txBody>
                  <a:tcPr marL="101600" marR="101600" marT="50800" marB="508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rgbClr val="E3F2E9"/>
                    </a:solidFill>
                  </a:tcPr>
                </a:tc>
                <a:tc>
                  <a:txBody>
                    <a:bodyPr/>
                    <a:lstStyle/>
                    <a:p>
                      <a:pPr indent="0" marL="0">
                        <a:buNone/>
                      </a:pPr>
                      <a:r>
                        <a:rPr lang="en-US" sz="1500" b="1" dirty="0">
                          <a:solidFill>
                            <a:srgbClr val="2E7D4F"/>
                          </a:solidFill>
                          <a:latin typeface="Calibri" pitchFamily="34" charset="0"/>
                          <a:ea typeface="Calibri" pitchFamily="34" charset="-122"/>
                          <a:cs typeface="Calibri" pitchFamily="34" charset="-120"/>
                        </a:rPr>
                        <a:t>13 (+0%)</a:t>
                      </a:r>
                      <a:endParaRPr lang="en-US" sz="1500" dirty="0">
                        <a:latin typeface="Calibri" charset="0"/>
                        <a:ea typeface="Calibri" charset="0"/>
                        <a:cs typeface="Calibri" charset="0"/>
                      </a:endParaRPr>
                    </a:p>
                  </a:txBody>
                  <a:tcPr marL="101600" marR="101600" marT="50800" marB="508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rgbClr val="E3F2E9"/>
                    </a:solidFill>
                  </a:tcPr>
                </a:tc>
                <a:tc>
                  <a:txBody>
                    <a:bodyPr/>
                    <a:lstStyle/>
                    <a:p>
                      <a:pPr indent="0" marL="0">
                        <a:buNone/>
                      </a:pPr>
                      <a:r>
                        <a:rPr lang="en-US" sz="1500" dirty="0">
                          <a:solidFill>
                            <a:srgbClr val="1D2733"/>
                          </a:solidFill>
                          <a:latin typeface="Calibri" pitchFamily="34" charset="0"/>
                          <a:ea typeface="Calibri" pitchFamily="34" charset="-122"/>
                          <a:cs typeface="Calibri" pitchFamily="34" charset="-120"/>
                        </a:rPr>
                        <a:t>13 (+0%)</a:t>
                      </a:r>
                      <a:endParaRPr lang="en-US" sz="1500" dirty="0">
                        <a:latin typeface="Calibri" charset="0"/>
                        <a:ea typeface="Calibri" charset="0"/>
                        <a:cs typeface="Calibri" charset="0"/>
                      </a:endParaRPr>
                    </a:p>
                  </a:txBody>
                  <a:tcPr marL="101600" marR="101600" marT="50800" marB="508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indent="0" marL="0">
                        <a:buNone/>
                      </a:pPr>
                      <a:r>
                        <a:rPr lang="en-US" sz="1500" dirty="0">
                          <a:solidFill>
                            <a:srgbClr val="1D2733"/>
                          </a:solidFill>
                          <a:latin typeface="Calibri" pitchFamily="34" charset="0"/>
                          <a:ea typeface="Calibri" pitchFamily="34" charset="-122"/>
                          <a:cs typeface="Calibri" pitchFamily="34" charset="-120"/>
                        </a:rPr>
                        <a:t>19 (+46%)</a:t>
                      </a:r>
                      <a:endParaRPr lang="en-US" sz="1500" dirty="0">
                        <a:latin typeface="Calibri" charset="0"/>
                        <a:ea typeface="Calibri" charset="0"/>
                        <a:cs typeface="Calibri" charset="0"/>
                      </a:endParaRPr>
                    </a:p>
                  </a:txBody>
                  <a:tcPr marL="101600" marR="101600" marT="50800" marB="508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r>
              <a:tr h="457200">
                <a:tc>
                  <a:txBody>
                    <a:bodyPr/>
                    <a:lstStyle/>
                    <a:p>
                      <a:pPr indent="0" marL="0">
                        <a:buNone/>
                      </a:pPr>
                      <a:r>
                        <a:rPr lang="en-US" sz="1500" dirty="0">
                          <a:solidFill>
                            <a:srgbClr val="1D2733"/>
                          </a:solidFill>
                          <a:latin typeface="Calibri" pitchFamily="34" charset="0"/>
                          <a:ea typeface="Calibri" pitchFamily="34" charset="-122"/>
                          <a:cs typeface="Calibri" pitchFamily="34" charset="-120"/>
                        </a:rPr>
                        <a:t>4×4</a:t>
                      </a:r>
                      <a:endParaRPr lang="en-US" sz="1500" dirty="0">
                        <a:latin typeface="Calibri" charset="0"/>
                        <a:ea typeface="Calibri" charset="0"/>
                        <a:cs typeface="Calibri" charset="0"/>
                      </a:endParaRPr>
                    </a:p>
                  </a:txBody>
                  <a:tcPr marL="101600" marR="101600" marT="50800" marB="508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indent="0" marL="0">
                        <a:buNone/>
                      </a:pPr>
                      <a:r>
                        <a:rPr lang="en-US" sz="1500" dirty="0">
                          <a:solidFill>
                            <a:srgbClr val="1D2733"/>
                          </a:solidFill>
                          <a:latin typeface="Calibri" pitchFamily="34" charset="0"/>
                          <a:ea typeface="Calibri" pitchFamily="34" charset="-122"/>
                          <a:cs typeface="Calibri" pitchFamily="34" charset="-120"/>
                        </a:rPr>
                        <a:t>(1,2)</a:t>
                      </a:r>
                      <a:endParaRPr lang="en-US" sz="1500" dirty="0">
                        <a:latin typeface="Calibri" charset="0"/>
                        <a:ea typeface="Calibri" charset="0"/>
                        <a:cs typeface="Calibri" charset="0"/>
                      </a:endParaRPr>
                    </a:p>
                  </a:txBody>
                  <a:tcPr marL="101600" marR="101600" marT="50800" marB="508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indent="0" marL="0">
                        <a:buNone/>
                      </a:pPr>
                      <a:r>
                        <a:rPr lang="en-US" sz="1500" dirty="0">
                          <a:solidFill>
                            <a:srgbClr val="1D2733"/>
                          </a:solidFill>
                          <a:latin typeface="Calibri" pitchFamily="34" charset="0"/>
                          <a:ea typeface="Calibri" pitchFamily="34" charset="-122"/>
                          <a:cs typeface="Calibri" pitchFamily="34" charset="-120"/>
                        </a:rPr>
                        <a:t>13</a:t>
                      </a:r>
                      <a:endParaRPr lang="en-US" sz="1500" dirty="0">
                        <a:latin typeface="Calibri" charset="0"/>
                        <a:ea typeface="Calibri" charset="0"/>
                        <a:cs typeface="Calibri" charset="0"/>
                      </a:endParaRPr>
                    </a:p>
                  </a:txBody>
                  <a:tcPr marL="101600" marR="101600" marT="50800" marB="508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indent="0" marL="0">
                        <a:buNone/>
                      </a:pPr>
                      <a:r>
                        <a:rPr lang="en-US" sz="1500" b="1" dirty="0">
                          <a:solidFill>
                            <a:srgbClr val="2E7D4F"/>
                          </a:solidFill>
                          <a:latin typeface="Calibri" pitchFamily="34" charset="0"/>
                          <a:ea typeface="Calibri" pitchFamily="34" charset="-122"/>
                          <a:cs typeface="Calibri" pitchFamily="34" charset="-120"/>
                        </a:rPr>
                        <a:t>13 (+0%)</a:t>
                      </a:r>
                      <a:endParaRPr lang="en-US" sz="1500" dirty="0">
                        <a:latin typeface="Calibri" charset="0"/>
                        <a:ea typeface="Calibri" charset="0"/>
                        <a:cs typeface="Calibri" charset="0"/>
                      </a:endParaRPr>
                    </a:p>
                  </a:txBody>
                  <a:tcPr marL="101600" marR="101600" marT="50800" marB="508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rgbClr val="E3F2E9"/>
                    </a:solidFill>
                  </a:tcPr>
                </a:tc>
                <a:tc>
                  <a:txBody>
                    <a:bodyPr/>
                    <a:lstStyle/>
                    <a:p>
                      <a:pPr indent="0" marL="0">
                        <a:buNone/>
                      </a:pPr>
                      <a:r>
                        <a:rPr lang="en-US" sz="1500" b="1" dirty="0">
                          <a:solidFill>
                            <a:srgbClr val="2E7D4F"/>
                          </a:solidFill>
                          <a:latin typeface="Calibri" pitchFamily="34" charset="0"/>
                          <a:ea typeface="Calibri" pitchFamily="34" charset="-122"/>
                          <a:cs typeface="Calibri" pitchFamily="34" charset="-120"/>
                        </a:rPr>
                        <a:t>13 (+0%)</a:t>
                      </a:r>
                      <a:endParaRPr lang="en-US" sz="1500" dirty="0">
                        <a:latin typeface="Calibri" charset="0"/>
                        <a:ea typeface="Calibri" charset="0"/>
                        <a:cs typeface="Calibri" charset="0"/>
                      </a:endParaRPr>
                    </a:p>
                  </a:txBody>
                  <a:tcPr marL="101600" marR="101600" marT="50800" marB="508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rgbClr val="E3F2E9"/>
                    </a:solidFill>
                  </a:tcPr>
                </a:tc>
                <a:tc>
                  <a:txBody>
                    <a:bodyPr/>
                    <a:lstStyle/>
                    <a:p>
                      <a:pPr indent="0" marL="0">
                        <a:buNone/>
                      </a:pPr>
                      <a:r>
                        <a:rPr lang="en-US" sz="1500" dirty="0">
                          <a:solidFill>
                            <a:srgbClr val="1D2733"/>
                          </a:solidFill>
                          <a:latin typeface="Calibri" pitchFamily="34" charset="0"/>
                          <a:ea typeface="Calibri" pitchFamily="34" charset="-122"/>
                          <a:cs typeface="Calibri" pitchFamily="34" charset="-120"/>
                        </a:rPr>
                        <a:t>17 (+31%)</a:t>
                      </a:r>
                      <a:endParaRPr lang="en-US" sz="1500" dirty="0">
                        <a:latin typeface="Calibri" charset="0"/>
                        <a:ea typeface="Calibri" charset="0"/>
                        <a:cs typeface="Calibri" charset="0"/>
                      </a:endParaRPr>
                    </a:p>
                  </a:txBody>
                  <a:tcPr marL="101600" marR="101600" marT="50800" marB="508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indent="0" marL="0">
                        <a:buNone/>
                      </a:pPr>
                      <a:r>
                        <a:rPr lang="en-US" sz="1500" dirty="0">
                          <a:solidFill>
                            <a:srgbClr val="1D2733"/>
                          </a:solidFill>
                          <a:latin typeface="Calibri" pitchFamily="34" charset="0"/>
                          <a:ea typeface="Calibri" pitchFamily="34" charset="-122"/>
                          <a:cs typeface="Calibri" pitchFamily="34" charset="-120"/>
                        </a:rPr>
                        <a:t>19 (+46%)</a:t>
                      </a:r>
                      <a:endParaRPr lang="en-US" sz="1500" dirty="0">
                        <a:latin typeface="Calibri" charset="0"/>
                        <a:ea typeface="Calibri" charset="0"/>
                        <a:cs typeface="Calibri" charset="0"/>
                      </a:endParaRPr>
                    </a:p>
                  </a:txBody>
                  <a:tcPr marL="101600" marR="101600" marT="50800" marB="508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r>
              <a:tr h="457200">
                <a:tc>
                  <a:txBody>
                    <a:bodyPr/>
                    <a:lstStyle/>
                    <a:p>
                      <a:pPr indent="0" marL="0">
                        <a:buNone/>
                      </a:pPr>
                      <a:r>
                        <a:rPr lang="en-US" sz="1500" dirty="0">
                          <a:solidFill>
                            <a:srgbClr val="1D2733"/>
                          </a:solidFill>
                          <a:latin typeface="Calibri" pitchFamily="34" charset="0"/>
                          <a:ea typeface="Calibri" pitchFamily="34" charset="-122"/>
                          <a:cs typeface="Calibri" pitchFamily="34" charset="-120"/>
                        </a:rPr>
                        <a:t>4×4</a:t>
                      </a:r>
                      <a:endParaRPr lang="en-US" sz="1500" dirty="0">
                        <a:latin typeface="Calibri" charset="0"/>
                        <a:ea typeface="Calibri" charset="0"/>
                        <a:cs typeface="Calibri" charset="0"/>
                      </a:endParaRPr>
                    </a:p>
                  </a:txBody>
                  <a:tcPr marL="101600" marR="101600" marT="50800" marB="508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indent="0" marL="0">
                        <a:buNone/>
                      </a:pPr>
                      <a:r>
                        <a:rPr lang="en-US" sz="1500" dirty="0">
                          <a:solidFill>
                            <a:srgbClr val="1D2733"/>
                          </a:solidFill>
                          <a:latin typeface="Calibri" pitchFamily="34" charset="0"/>
                          <a:ea typeface="Calibri" pitchFamily="34" charset="-122"/>
                          <a:cs typeface="Calibri" pitchFamily="34" charset="-120"/>
                        </a:rPr>
                        <a:t>(2,0)</a:t>
                      </a:r>
                      <a:endParaRPr lang="en-US" sz="1500" dirty="0">
                        <a:latin typeface="Calibri" charset="0"/>
                        <a:ea typeface="Calibri" charset="0"/>
                        <a:cs typeface="Calibri" charset="0"/>
                      </a:endParaRPr>
                    </a:p>
                  </a:txBody>
                  <a:tcPr marL="101600" marR="101600" marT="50800" marB="508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indent="0" marL="0">
                        <a:buNone/>
                      </a:pPr>
                      <a:r>
                        <a:rPr lang="en-US" sz="1500" dirty="0">
                          <a:solidFill>
                            <a:srgbClr val="1D2733"/>
                          </a:solidFill>
                          <a:latin typeface="Calibri" pitchFamily="34" charset="0"/>
                          <a:ea typeface="Calibri" pitchFamily="34" charset="-122"/>
                          <a:cs typeface="Calibri" pitchFamily="34" charset="-120"/>
                        </a:rPr>
                        <a:t>12</a:t>
                      </a:r>
                      <a:endParaRPr lang="en-US" sz="1500" dirty="0">
                        <a:latin typeface="Calibri" charset="0"/>
                        <a:ea typeface="Calibri" charset="0"/>
                        <a:cs typeface="Calibri" charset="0"/>
                      </a:endParaRPr>
                    </a:p>
                  </a:txBody>
                  <a:tcPr marL="101600" marR="101600" marT="50800" marB="508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indent="0" marL="0">
                        <a:buNone/>
                      </a:pPr>
                      <a:r>
                        <a:rPr lang="en-US" sz="1500" b="1" dirty="0">
                          <a:solidFill>
                            <a:srgbClr val="2E7D4F"/>
                          </a:solidFill>
                          <a:latin typeface="Calibri" pitchFamily="34" charset="0"/>
                          <a:ea typeface="Calibri" pitchFamily="34" charset="-122"/>
                          <a:cs typeface="Calibri" pitchFamily="34" charset="-120"/>
                        </a:rPr>
                        <a:t>12 (+0%)</a:t>
                      </a:r>
                      <a:endParaRPr lang="en-US" sz="1500" dirty="0">
                        <a:latin typeface="Calibri" charset="0"/>
                        <a:ea typeface="Calibri" charset="0"/>
                        <a:cs typeface="Calibri" charset="0"/>
                      </a:endParaRPr>
                    </a:p>
                  </a:txBody>
                  <a:tcPr marL="101600" marR="101600" marT="50800" marB="508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rgbClr val="E3F2E9"/>
                    </a:solidFill>
                  </a:tcPr>
                </a:tc>
                <a:tc>
                  <a:txBody>
                    <a:bodyPr/>
                    <a:lstStyle/>
                    <a:p>
                      <a:pPr indent="0" marL="0">
                        <a:buNone/>
                      </a:pPr>
                      <a:r>
                        <a:rPr lang="en-US" sz="1500" b="1" dirty="0">
                          <a:solidFill>
                            <a:srgbClr val="2E7D4F"/>
                          </a:solidFill>
                          <a:latin typeface="Calibri" pitchFamily="34" charset="0"/>
                          <a:ea typeface="Calibri" pitchFamily="34" charset="-122"/>
                          <a:cs typeface="Calibri" pitchFamily="34" charset="-120"/>
                        </a:rPr>
                        <a:t>12 (+0%)</a:t>
                      </a:r>
                      <a:endParaRPr lang="en-US" sz="1500" dirty="0">
                        <a:latin typeface="Calibri" charset="0"/>
                        <a:ea typeface="Calibri" charset="0"/>
                        <a:cs typeface="Calibri" charset="0"/>
                      </a:endParaRPr>
                    </a:p>
                  </a:txBody>
                  <a:tcPr marL="101600" marR="101600" marT="50800" marB="508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rgbClr val="E3F2E9"/>
                    </a:solidFill>
                  </a:tcPr>
                </a:tc>
                <a:tc>
                  <a:txBody>
                    <a:bodyPr/>
                    <a:lstStyle/>
                    <a:p>
                      <a:pPr indent="0" marL="0">
                        <a:buNone/>
                      </a:pPr>
                      <a:r>
                        <a:rPr lang="en-US" sz="1500" dirty="0">
                          <a:solidFill>
                            <a:srgbClr val="1D2733"/>
                          </a:solidFill>
                          <a:latin typeface="Calibri" pitchFamily="34" charset="0"/>
                          <a:ea typeface="Calibri" pitchFamily="34" charset="-122"/>
                          <a:cs typeface="Calibri" pitchFamily="34" charset="-120"/>
                        </a:rPr>
                        <a:t>17 (+42%)</a:t>
                      </a:r>
                      <a:endParaRPr lang="en-US" sz="1500" dirty="0">
                        <a:latin typeface="Calibri" charset="0"/>
                        <a:ea typeface="Calibri" charset="0"/>
                        <a:cs typeface="Calibri" charset="0"/>
                      </a:endParaRPr>
                    </a:p>
                  </a:txBody>
                  <a:tcPr marL="101600" marR="101600" marT="50800" marB="508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indent="0" marL="0">
                        <a:buNone/>
                      </a:pPr>
                      <a:r>
                        <a:rPr lang="en-US" sz="1500" dirty="0">
                          <a:solidFill>
                            <a:srgbClr val="1D2733"/>
                          </a:solidFill>
                          <a:latin typeface="Calibri" pitchFamily="34" charset="0"/>
                          <a:ea typeface="Calibri" pitchFamily="34" charset="-122"/>
                          <a:cs typeface="Calibri" pitchFamily="34" charset="-120"/>
                        </a:rPr>
                        <a:t>12 (+0%)</a:t>
                      </a:r>
                      <a:endParaRPr lang="en-US" sz="1500" dirty="0">
                        <a:latin typeface="Calibri" charset="0"/>
                        <a:ea typeface="Calibri" charset="0"/>
                        <a:cs typeface="Calibri" charset="0"/>
                      </a:endParaRPr>
                    </a:p>
                  </a:txBody>
                  <a:tcPr marL="101600" marR="101600" marT="50800" marB="508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r>
              <a:tr h="457200">
                <a:tc>
                  <a:txBody>
                    <a:bodyPr/>
                    <a:lstStyle/>
                    <a:p>
                      <a:pPr indent="0" marL="0">
                        <a:buNone/>
                      </a:pPr>
                      <a:r>
                        <a:rPr lang="en-US" sz="1500" dirty="0">
                          <a:solidFill>
                            <a:srgbClr val="1D2733"/>
                          </a:solidFill>
                          <a:latin typeface="Calibri" pitchFamily="34" charset="0"/>
                          <a:ea typeface="Calibri" pitchFamily="34" charset="-122"/>
                          <a:cs typeface="Calibri" pitchFamily="34" charset="-120"/>
                        </a:rPr>
                        <a:t>4×4</a:t>
                      </a:r>
                      <a:endParaRPr lang="en-US" sz="1500" dirty="0">
                        <a:latin typeface="Calibri" charset="0"/>
                        <a:ea typeface="Calibri" charset="0"/>
                        <a:cs typeface="Calibri" charset="0"/>
                      </a:endParaRPr>
                    </a:p>
                  </a:txBody>
                  <a:tcPr marL="101600" marR="101600" marT="50800" marB="508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indent="0" marL="0">
                        <a:buNone/>
                      </a:pPr>
                      <a:r>
                        <a:rPr lang="en-US" sz="1500" dirty="0">
                          <a:solidFill>
                            <a:srgbClr val="1D2733"/>
                          </a:solidFill>
                          <a:latin typeface="Calibri" pitchFamily="34" charset="0"/>
                          <a:ea typeface="Calibri" pitchFamily="34" charset="-122"/>
                          <a:cs typeface="Calibri" pitchFamily="34" charset="-120"/>
                        </a:rPr>
                        <a:t>(3,3)</a:t>
                      </a:r>
                      <a:endParaRPr lang="en-US" sz="1500" dirty="0">
                        <a:latin typeface="Calibri" charset="0"/>
                        <a:ea typeface="Calibri" charset="0"/>
                        <a:cs typeface="Calibri" charset="0"/>
                      </a:endParaRPr>
                    </a:p>
                  </a:txBody>
                  <a:tcPr marL="101600" marR="101600" marT="50800" marB="508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indent="0" marL="0">
                        <a:buNone/>
                      </a:pPr>
                      <a:r>
                        <a:rPr lang="en-US" sz="1500" dirty="0">
                          <a:solidFill>
                            <a:srgbClr val="1D2733"/>
                          </a:solidFill>
                          <a:latin typeface="Calibri" pitchFamily="34" charset="0"/>
                          <a:ea typeface="Calibri" pitchFamily="34" charset="-122"/>
                          <a:cs typeface="Calibri" pitchFamily="34" charset="-120"/>
                        </a:rPr>
                        <a:t>12</a:t>
                      </a:r>
                      <a:endParaRPr lang="en-US" sz="1500" dirty="0">
                        <a:latin typeface="Calibri" charset="0"/>
                        <a:ea typeface="Calibri" charset="0"/>
                        <a:cs typeface="Calibri" charset="0"/>
                      </a:endParaRPr>
                    </a:p>
                  </a:txBody>
                  <a:tcPr marL="101600" marR="101600" marT="50800" marB="508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indent="0" marL="0">
                        <a:buNone/>
                      </a:pPr>
                      <a:r>
                        <a:rPr lang="en-US" sz="1500" b="1" dirty="0">
                          <a:solidFill>
                            <a:srgbClr val="2E7D4F"/>
                          </a:solidFill>
                          <a:latin typeface="Calibri" pitchFamily="34" charset="0"/>
                          <a:ea typeface="Calibri" pitchFamily="34" charset="-122"/>
                          <a:cs typeface="Calibri" pitchFamily="34" charset="-120"/>
                        </a:rPr>
                        <a:t>12 (+0%)</a:t>
                      </a:r>
                      <a:endParaRPr lang="en-US" sz="1500" dirty="0">
                        <a:latin typeface="Calibri" charset="0"/>
                        <a:ea typeface="Calibri" charset="0"/>
                        <a:cs typeface="Calibri" charset="0"/>
                      </a:endParaRPr>
                    </a:p>
                  </a:txBody>
                  <a:tcPr marL="101600" marR="101600" marT="50800" marB="508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rgbClr val="E3F2E9"/>
                    </a:solidFill>
                  </a:tcPr>
                </a:tc>
                <a:tc>
                  <a:txBody>
                    <a:bodyPr/>
                    <a:lstStyle/>
                    <a:p>
                      <a:pPr indent="0" marL="0">
                        <a:buNone/>
                      </a:pPr>
                      <a:r>
                        <a:rPr lang="en-US" sz="1500" b="1" dirty="0">
                          <a:solidFill>
                            <a:srgbClr val="2E7D4F"/>
                          </a:solidFill>
                          <a:latin typeface="Calibri" pitchFamily="34" charset="0"/>
                          <a:ea typeface="Calibri" pitchFamily="34" charset="-122"/>
                          <a:cs typeface="Calibri" pitchFamily="34" charset="-120"/>
                        </a:rPr>
                        <a:t>12 (+0%)</a:t>
                      </a:r>
                      <a:endParaRPr lang="en-US" sz="1500" dirty="0">
                        <a:latin typeface="Calibri" charset="0"/>
                        <a:ea typeface="Calibri" charset="0"/>
                        <a:cs typeface="Calibri" charset="0"/>
                      </a:endParaRPr>
                    </a:p>
                  </a:txBody>
                  <a:tcPr marL="101600" marR="101600" marT="50800" marB="508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rgbClr val="E3F2E9"/>
                    </a:solidFill>
                  </a:tcPr>
                </a:tc>
                <a:tc>
                  <a:txBody>
                    <a:bodyPr/>
                    <a:lstStyle/>
                    <a:p>
                      <a:pPr indent="0" marL="0">
                        <a:buNone/>
                      </a:pPr>
                      <a:r>
                        <a:rPr lang="en-US" sz="1500" dirty="0">
                          <a:solidFill>
                            <a:srgbClr val="1D2733"/>
                          </a:solidFill>
                          <a:latin typeface="Calibri" pitchFamily="34" charset="0"/>
                          <a:ea typeface="Calibri" pitchFamily="34" charset="-122"/>
                          <a:cs typeface="Calibri" pitchFamily="34" charset="-120"/>
                        </a:rPr>
                        <a:t>15 (+25%)</a:t>
                      </a:r>
                      <a:endParaRPr lang="en-US" sz="1500" dirty="0">
                        <a:latin typeface="Calibri" charset="0"/>
                        <a:ea typeface="Calibri" charset="0"/>
                        <a:cs typeface="Calibri" charset="0"/>
                      </a:endParaRPr>
                    </a:p>
                  </a:txBody>
                  <a:tcPr marL="101600" marR="101600" marT="50800" marB="508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indent="0" marL="0">
                        <a:buNone/>
                      </a:pPr>
                      <a:r>
                        <a:rPr lang="en-US" sz="1500" dirty="0">
                          <a:solidFill>
                            <a:srgbClr val="1D2733"/>
                          </a:solidFill>
                          <a:latin typeface="Calibri" pitchFamily="34" charset="0"/>
                          <a:ea typeface="Calibri" pitchFamily="34" charset="-122"/>
                          <a:cs typeface="Calibri" pitchFamily="34" charset="-120"/>
                        </a:rPr>
                        <a:t>18 (+50%)</a:t>
                      </a:r>
                      <a:endParaRPr lang="en-US" sz="1500" dirty="0">
                        <a:latin typeface="Calibri" charset="0"/>
                        <a:ea typeface="Calibri" charset="0"/>
                        <a:cs typeface="Calibri" charset="0"/>
                      </a:endParaRPr>
                    </a:p>
                  </a:txBody>
                  <a:tcPr marL="101600" marR="101600" marT="50800" marB="508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r>
            </a:tbl>
          </a:graphicData>
        </a:graphic>
      </p:graphicFrame>
      <p:sp>
        <p:nvSpPr>
          <p:cNvPr id="6" name="Text 2"/>
          <p:cNvSpPr txBox="1"/>
          <p:nvPr/>
        </p:nvSpPr>
        <p:spPr>
          <a:xfrm>
            <a:off x="548640" y="5989320"/>
            <a:ext cx="11064240" cy="274320"/>
          </a:xfrm>
          <a:prstGeom prst="rect">
            <a:avLst/>
          </a:prstGeom>
          <a:noFill/>
          <a:ln/>
        </p:spPr>
        <p:txBody>
          <a:bodyPr wrap="square" lIns="0" tIns="0" rIns="0" bIns="0" rtlCol="0" anchor="t"/>
          <a:lstStyle/>
          <a:p>
            <a:pPr indent="0" marL="0">
              <a:buNone/>
            </a:pPr>
            <a:r>
              <a:rPr lang="en-US" sz="1200" i="1" dirty="0">
                <a:solidFill>
                  <a:srgbClr val="5B6878"/>
                </a:solidFill>
              </a:rPr>
              <a:t>Q-learning và DQN: 5 seed, độ lệch chuẩn bằng 0</a:t>
            </a:r>
            <a:endParaRPr lang="en-US" sz="12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878"/>
                </a:solidFill>
              </a:defRPr>
            </a:lvl1pPr>
          </a:lstStyle>
          <a:p>
            <a:pPr algn="r"/>
            <a:fld id="{F7021451-1387-4CA6-816F-3879F97B5CBC}" type="slidenum">
              <a:rPr b="0" lang="en-US"/>
              <a:t>24</a:t>
            </a:fld>
            <a:endParaRPr lang="en-US"/>
          </a:p>
        </p:txBody>
      </p:sp>
    </p:spTree>
  </p:cSld>
  <p:clrMapOvr>
    <a:masterClrMapping/>
  </p:clrMapOvr>
</p:sld>
</file>

<file path=ppt/theme/theme1.xml><?xml version="1.0" encoding="utf-8"?>
<a:theme xmlns:a="http://schemas.openxmlformats.org/drawingml/2006/main" name="REL301 Robot Hut Bui">
  <a:themeElements>
    <a:clrScheme name="REL301 Robot Hut Bui">
      <a:dk1>
        <a:srgbClr val="1D2733"/>
      </a:dk1>
      <a:lt1>
        <a:srgbClr val="FFFFFF"/>
      </a:lt1>
      <a:dk2>
        <a:srgbClr val="5B6878"/>
      </a:dk2>
      <a:lt2>
        <a:srgbClr val="EEF4FA"/>
      </a:lt2>
      <a:accent1>
        <a:srgbClr val="1F6FB2"/>
      </a:accent1>
      <a:accent2>
        <a:srgbClr val="C8322F"/>
      </a:accent2>
      <a:accent3>
        <a:srgbClr val="2E7D4F"/>
      </a:accent3>
      <a:accent4>
        <a:srgbClr val="FF9800"/>
      </a:accent4>
      <a:accent5>
        <a:srgbClr val="4CAF50"/>
      </a:accent5>
      <a:accent6>
        <a:srgbClr val="9E9E9E"/>
      </a:accent6>
      <a:hlink>
        <a:srgbClr val="1F6FB2"/>
      </a:hlink>
      <a:folHlink>
        <a:srgbClr val="5B6878"/>
      </a:folHlink>
    </a:clrScheme>
    <a:fontScheme name="REL301 Robot Hut Bui">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Robot hút bụi tự học cách dọn kín căn phòng</dc:title>
  <dc:subject>REL301 FA26 — Q-learning và Deep Q-learning</dc:subject>
  <dc:creator>Nhóm REL301</dc:creator>
  <cp:lastModifiedBy>Nhóm REL301</cp:lastModifiedBy>
  <cp:revision>1</cp:revision>
  <dcterms:created xsi:type="dcterms:W3CDTF">2026-10-17T14:53:57Z</dcterms:created>
  <dcterms:modified xsi:type="dcterms:W3CDTF">2026-10-17T14:53:57Z</dcterms:modified>
</cp:coreProperties>
</file>